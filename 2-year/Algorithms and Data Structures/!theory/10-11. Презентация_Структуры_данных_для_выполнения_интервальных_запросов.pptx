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5"/>
  </p:notesMasterIdLst>
  <p:sldIdLst>
    <p:sldId id="256" r:id="rId2"/>
    <p:sldId id="290" r:id="rId3"/>
    <p:sldId id="257" r:id="rId4"/>
    <p:sldId id="291" r:id="rId5"/>
    <p:sldId id="292" r:id="rId6"/>
    <p:sldId id="288" r:id="rId7"/>
    <p:sldId id="293" r:id="rId8"/>
    <p:sldId id="258" r:id="rId9"/>
    <p:sldId id="260" r:id="rId10"/>
    <p:sldId id="261" r:id="rId11"/>
    <p:sldId id="294" r:id="rId12"/>
    <p:sldId id="297" r:id="rId13"/>
    <p:sldId id="295" r:id="rId14"/>
    <p:sldId id="262" r:id="rId15"/>
    <p:sldId id="263" r:id="rId16"/>
    <p:sldId id="264" r:id="rId17"/>
    <p:sldId id="309" r:id="rId18"/>
    <p:sldId id="287" r:id="rId19"/>
    <p:sldId id="310" r:id="rId20"/>
    <p:sldId id="311" r:id="rId21"/>
    <p:sldId id="312" r:id="rId22"/>
    <p:sldId id="266" r:id="rId23"/>
    <p:sldId id="265" r:id="rId24"/>
    <p:sldId id="298" r:id="rId25"/>
    <p:sldId id="277" r:id="rId26"/>
    <p:sldId id="278" r:id="rId27"/>
    <p:sldId id="279" r:id="rId28"/>
    <p:sldId id="280" r:id="rId29"/>
    <p:sldId id="282" r:id="rId30"/>
    <p:sldId id="313" r:id="rId31"/>
    <p:sldId id="299" r:id="rId32"/>
    <p:sldId id="281" r:id="rId33"/>
    <p:sldId id="314" r:id="rId34"/>
    <p:sldId id="283" r:id="rId35"/>
    <p:sldId id="315" r:id="rId36"/>
    <p:sldId id="284" r:id="rId37"/>
    <p:sldId id="317" r:id="rId38"/>
    <p:sldId id="285" r:id="rId39"/>
    <p:sldId id="286" r:id="rId40"/>
    <p:sldId id="267" r:id="rId41"/>
    <p:sldId id="318" r:id="rId42"/>
    <p:sldId id="300" r:id="rId43"/>
    <p:sldId id="270" r:id="rId44"/>
    <p:sldId id="306" r:id="rId45"/>
    <p:sldId id="322" r:id="rId46"/>
    <p:sldId id="320" r:id="rId47"/>
    <p:sldId id="321" r:id="rId48"/>
    <p:sldId id="271" r:id="rId49"/>
    <p:sldId id="303" r:id="rId50"/>
    <p:sldId id="273" r:id="rId51"/>
    <p:sldId id="272" r:id="rId52"/>
    <p:sldId id="274" r:id="rId53"/>
    <p:sldId id="319" r:id="rId54"/>
    <p:sldId id="276" r:id="rId55"/>
    <p:sldId id="304" r:id="rId56"/>
    <p:sldId id="301" r:id="rId57"/>
    <p:sldId id="302" r:id="rId58"/>
    <p:sldId id="305" r:id="rId59"/>
    <p:sldId id="275" r:id="rId60"/>
    <p:sldId id="316" r:id="rId61"/>
    <p:sldId id="289" r:id="rId62"/>
    <p:sldId id="307" r:id="rId63"/>
    <p:sldId id="308" r:id="rId6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37C08D9-9D88-45F4-AE61-FE51FAE3DEE5}">
          <p14:sldIdLst>
            <p14:sldId id="256"/>
          </p14:sldIdLst>
        </p14:section>
        <p14:section name="Постановка задачи" id="{79ADEF48-C0C9-416B-B681-0D437123DE21}">
          <p14:sldIdLst>
            <p14:sldId id="290"/>
            <p14:sldId id="257"/>
            <p14:sldId id="291"/>
            <p14:sldId id="292"/>
            <p14:sldId id="288"/>
            <p14:sldId id="293"/>
            <p14:sldId id="258"/>
          </p14:sldIdLst>
        </p14:section>
        <p14:section name="Наивный подход" id="{A8BE4ED7-9B68-4E5D-9875-BEE14C8A3B61}">
          <p14:sldIdLst>
            <p14:sldId id="260"/>
            <p14:sldId id="261"/>
            <p14:sldId id="294"/>
            <p14:sldId id="297"/>
            <p14:sldId id="295"/>
            <p14:sldId id="262"/>
            <p14:sldId id="263"/>
          </p14:sldIdLst>
        </p14:section>
        <p14:section name="Sqrt-декомпозиция" id="{7DAEB460-C690-4625-96AC-1AFAE00D5B64}">
          <p14:sldIdLst>
            <p14:sldId id="264"/>
            <p14:sldId id="309"/>
            <p14:sldId id="287"/>
            <p14:sldId id="310"/>
            <p14:sldId id="311"/>
            <p14:sldId id="312"/>
            <p14:sldId id="266"/>
            <p14:sldId id="265"/>
            <p14:sldId id="298"/>
          </p14:sldIdLst>
        </p14:section>
        <p14:section name="Дерево отрезков" id="{4CECA1FC-57C7-4980-90DC-8B035487A5B5}">
          <p14:sldIdLst>
            <p14:sldId id="277"/>
            <p14:sldId id="278"/>
            <p14:sldId id="279"/>
            <p14:sldId id="280"/>
            <p14:sldId id="282"/>
            <p14:sldId id="313"/>
            <p14:sldId id="299"/>
            <p14:sldId id="281"/>
            <p14:sldId id="314"/>
            <p14:sldId id="283"/>
            <p14:sldId id="315"/>
            <p14:sldId id="284"/>
            <p14:sldId id="317"/>
            <p14:sldId id="285"/>
            <p14:sldId id="286"/>
            <p14:sldId id="267"/>
            <p14:sldId id="318"/>
            <p14:sldId id="300"/>
          </p14:sldIdLst>
        </p14:section>
        <p14:section name="Разреженная таблица" id="{0B7B5463-85D7-46AB-AA67-72FE67AD9647}">
          <p14:sldIdLst>
            <p14:sldId id="270"/>
            <p14:sldId id="306"/>
            <p14:sldId id="322"/>
            <p14:sldId id="320"/>
            <p14:sldId id="321"/>
            <p14:sldId id="271"/>
            <p14:sldId id="303"/>
            <p14:sldId id="273"/>
            <p14:sldId id="272"/>
            <p14:sldId id="274"/>
            <p14:sldId id="319"/>
            <p14:sldId id="276"/>
            <p14:sldId id="304"/>
            <p14:sldId id="301"/>
            <p14:sldId id="302"/>
            <p14:sldId id="305"/>
            <p14:sldId id="275"/>
            <p14:sldId id="316"/>
            <p14:sldId id="289"/>
            <p14:sldId id="307"/>
            <p14:sldId id="3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74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0A0C"/>
    <a:srgbClr val="154E9D"/>
    <a:srgbClr val="81AE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579" autoAdjust="0"/>
  </p:normalViewPr>
  <p:slideViewPr>
    <p:cSldViewPr>
      <p:cViewPr varScale="1">
        <p:scale>
          <a:sx n="113" d="100"/>
          <a:sy n="113" d="100"/>
        </p:scale>
        <p:origin x="456" y="114"/>
      </p:cViewPr>
      <p:guideLst>
        <p:guide orient="horz" pos="3748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27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1050;&#1085;&#1080;&#1075;&#1072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Память, занимаемая деревом</a:t>
            </a:r>
            <a:r>
              <a:rPr lang="ru-RU" baseline="0"/>
              <a:t> отрезков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BY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Реальное число вершин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Лист1!$B$1:$B$99</c:f>
              <c:numCache>
                <c:formatCode>General</c:formatCode>
                <c:ptCount val="99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11</c:v>
                </c:pt>
                <c:pt idx="6">
                  <c:v>13</c:v>
                </c:pt>
                <c:pt idx="7">
                  <c:v>15</c:v>
                </c:pt>
                <c:pt idx="8">
                  <c:v>17</c:v>
                </c:pt>
                <c:pt idx="9">
                  <c:v>19</c:v>
                </c:pt>
                <c:pt idx="10">
                  <c:v>21</c:v>
                </c:pt>
                <c:pt idx="11">
                  <c:v>23</c:v>
                </c:pt>
                <c:pt idx="12">
                  <c:v>25</c:v>
                </c:pt>
                <c:pt idx="13">
                  <c:v>27</c:v>
                </c:pt>
                <c:pt idx="14">
                  <c:v>29</c:v>
                </c:pt>
                <c:pt idx="15">
                  <c:v>31</c:v>
                </c:pt>
                <c:pt idx="16">
                  <c:v>33</c:v>
                </c:pt>
                <c:pt idx="17">
                  <c:v>35</c:v>
                </c:pt>
                <c:pt idx="18">
                  <c:v>37</c:v>
                </c:pt>
                <c:pt idx="19">
                  <c:v>39</c:v>
                </c:pt>
                <c:pt idx="20">
                  <c:v>41</c:v>
                </c:pt>
                <c:pt idx="21">
                  <c:v>43</c:v>
                </c:pt>
                <c:pt idx="22">
                  <c:v>45</c:v>
                </c:pt>
                <c:pt idx="23">
                  <c:v>47</c:v>
                </c:pt>
                <c:pt idx="24">
                  <c:v>49</c:v>
                </c:pt>
                <c:pt idx="25">
                  <c:v>51</c:v>
                </c:pt>
                <c:pt idx="26">
                  <c:v>53</c:v>
                </c:pt>
                <c:pt idx="27">
                  <c:v>55</c:v>
                </c:pt>
                <c:pt idx="28">
                  <c:v>57</c:v>
                </c:pt>
                <c:pt idx="29">
                  <c:v>59</c:v>
                </c:pt>
                <c:pt idx="30">
                  <c:v>61</c:v>
                </c:pt>
                <c:pt idx="31">
                  <c:v>63</c:v>
                </c:pt>
                <c:pt idx="32">
                  <c:v>65</c:v>
                </c:pt>
                <c:pt idx="33">
                  <c:v>67</c:v>
                </c:pt>
                <c:pt idx="34">
                  <c:v>69</c:v>
                </c:pt>
                <c:pt idx="35">
                  <c:v>71</c:v>
                </c:pt>
                <c:pt idx="36">
                  <c:v>73</c:v>
                </c:pt>
                <c:pt idx="37">
                  <c:v>75</c:v>
                </c:pt>
                <c:pt idx="38">
                  <c:v>77</c:v>
                </c:pt>
                <c:pt idx="39">
                  <c:v>79</c:v>
                </c:pt>
                <c:pt idx="40">
                  <c:v>81</c:v>
                </c:pt>
                <c:pt idx="41">
                  <c:v>83</c:v>
                </c:pt>
                <c:pt idx="42">
                  <c:v>85</c:v>
                </c:pt>
                <c:pt idx="43">
                  <c:v>87</c:v>
                </c:pt>
                <c:pt idx="44">
                  <c:v>89</c:v>
                </c:pt>
                <c:pt idx="45">
                  <c:v>91</c:v>
                </c:pt>
                <c:pt idx="46">
                  <c:v>93</c:v>
                </c:pt>
                <c:pt idx="47">
                  <c:v>95</c:v>
                </c:pt>
                <c:pt idx="48">
                  <c:v>97</c:v>
                </c:pt>
                <c:pt idx="49">
                  <c:v>99</c:v>
                </c:pt>
                <c:pt idx="50">
                  <c:v>101</c:v>
                </c:pt>
                <c:pt idx="51">
                  <c:v>103</c:v>
                </c:pt>
                <c:pt idx="52">
                  <c:v>105</c:v>
                </c:pt>
                <c:pt idx="53">
                  <c:v>107</c:v>
                </c:pt>
                <c:pt idx="54">
                  <c:v>109</c:v>
                </c:pt>
                <c:pt idx="55">
                  <c:v>111</c:v>
                </c:pt>
                <c:pt idx="56">
                  <c:v>113</c:v>
                </c:pt>
                <c:pt idx="57">
                  <c:v>115</c:v>
                </c:pt>
                <c:pt idx="58">
                  <c:v>117</c:v>
                </c:pt>
                <c:pt idx="59">
                  <c:v>119</c:v>
                </c:pt>
                <c:pt idx="60">
                  <c:v>121</c:v>
                </c:pt>
                <c:pt idx="61">
                  <c:v>123</c:v>
                </c:pt>
                <c:pt idx="62">
                  <c:v>125</c:v>
                </c:pt>
                <c:pt idx="63">
                  <c:v>127</c:v>
                </c:pt>
                <c:pt idx="64">
                  <c:v>129</c:v>
                </c:pt>
                <c:pt idx="65">
                  <c:v>131</c:v>
                </c:pt>
                <c:pt idx="66">
                  <c:v>133</c:v>
                </c:pt>
                <c:pt idx="67">
                  <c:v>135</c:v>
                </c:pt>
                <c:pt idx="68">
                  <c:v>137</c:v>
                </c:pt>
                <c:pt idx="69">
                  <c:v>139</c:v>
                </c:pt>
                <c:pt idx="70">
                  <c:v>141</c:v>
                </c:pt>
                <c:pt idx="71">
                  <c:v>143</c:v>
                </c:pt>
                <c:pt idx="72">
                  <c:v>145</c:v>
                </c:pt>
                <c:pt idx="73">
                  <c:v>147</c:v>
                </c:pt>
                <c:pt idx="74">
                  <c:v>149</c:v>
                </c:pt>
                <c:pt idx="75">
                  <c:v>151</c:v>
                </c:pt>
                <c:pt idx="76">
                  <c:v>153</c:v>
                </c:pt>
                <c:pt idx="77">
                  <c:v>155</c:v>
                </c:pt>
                <c:pt idx="78">
                  <c:v>157</c:v>
                </c:pt>
                <c:pt idx="79">
                  <c:v>159</c:v>
                </c:pt>
                <c:pt idx="80">
                  <c:v>161</c:v>
                </c:pt>
                <c:pt idx="81">
                  <c:v>163</c:v>
                </c:pt>
                <c:pt idx="82">
                  <c:v>165</c:v>
                </c:pt>
                <c:pt idx="83">
                  <c:v>167</c:v>
                </c:pt>
                <c:pt idx="84">
                  <c:v>169</c:v>
                </c:pt>
                <c:pt idx="85">
                  <c:v>171</c:v>
                </c:pt>
                <c:pt idx="86">
                  <c:v>173</c:v>
                </c:pt>
                <c:pt idx="87">
                  <c:v>175</c:v>
                </c:pt>
                <c:pt idx="88">
                  <c:v>177</c:v>
                </c:pt>
                <c:pt idx="89">
                  <c:v>179</c:v>
                </c:pt>
                <c:pt idx="90">
                  <c:v>181</c:v>
                </c:pt>
                <c:pt idx="91">
                  <c:v>183</c:v>
                </c:pt>
                <c:pt idx="92">
                  <c:v>185</c:v>
                </c:pt>
                <c:pt idx="93">
                  <c:v>187</c:v>
                </c:pt>
                <c:pt idx="94">
                  <c:v>189</c:v>
                </c:pt>
                <c:pt idx="95">
                  <c:v>191</c:v>
                </c:pt>
                <c:pt idx="96">
                  <c:v>193</c:v>
                </c:pt>
                <c:pt idx="97">
                  <c:v>195</c:v>
                </c:pt>
                <c:pt idx="98">
                  <c:v>197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3FF-4A8C-AE5A-22D1DFF1C520}"/>
            </c:ext>
          </c:extLst>
        </c:ser>
        <c:ser>
          <c:idx val="1"/>
          <c:order val="1"/>
          <c:tx>
            <c:v>Макс. индекс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Лист1!$C$1:$C$99</c:f>
              <c:numCache>
                <c:formatCode>General</c:formatCode>
                <c:ptCount val="99"/>
                <c:pt idx="0">
                  <c:v>1</c:v>
                </c:pt>
                <c:pt idx="1">
                  <c:v>3</c:v>
                </c:pt>
                <c:pt idx="2">
                  <c:v>7</c:v>
                </c:pt>
                <c:pt idx="3">
                  <c:v>7</c:v>
                </c:pt>
                <c:pt idx="4">
                  <c:v>15</c:v>
                </c:pt>
                <c:pt idx="5">
                  <c:v>15</c:v>
                </c:pt>
                <c:pt idx="6">
                  <c:v>15</c:v>
                </c:pt>
                <c:pt idx="7">
                  <c:v>15</c:v>
                </c:pt>
                <c:pt idx="8">
                  <c:v>31</c:v>
                </c:pt>
                <c:pt idx="9">
                  <c:v>31</c:v>
                </c:pt>
                <c:pt idx="10">
                  <c:v>31</c:v>
                </c:pt>
                <c:pt idx="11">
                  <c:v>31</c:v>
                </c:pt>
                <c:pt idx="12">
                  <c:v>31</c:v>
                </c:pt>
                <c:pt idx="13">
                  <c:v>31</c:v>
                </c:pt>
                <c:pt idx="14">
                  <c:v>31</c:v>
                </c:pt>
                <c:pt idx="15">
                  <c:v>31</c:v>
                </c:pt>
                <c:pt idx="16">
                  <c:v>63</c:v>
                </c:pt>
                <c:pt idx="17">
                  <c:v>63</c:v>
                </c:pt>
                <c:pt idx="18">
                  <c:v>63</c:v>
                </c:pt>
                <c:pt idx="19">
                  <c:v>63</c:v>
                </c:pt>
                <c:pt idx="20">
                  <c:v>63</c:v>
                </c:pt>
                <c:pt idx="21">
                  <c:v>63</c:v>
                </c:pt>
                <c:pt idx="22">
                  <c:v>63</c:v>
                </c:pt>
                <c:pt idx="23">
                  <c:v>63</c:v>
                </c:pt>
                <c:pt idx="24">
                  <c:v>63</c:v>
                </c:pt>
                <c:pt idx="25">
                  <c:v>63</c:v>
                </c:pt>
                <c:pt idx="26">
                  <c:v>63</c:v>
                </c:pt>
                <c:pt idx="27">
                  <c:v>63</c:v>
                </c:pt>
                <c:pt idx="28">
                  <c:v>63</c:v>
                </c:pt>
                <c:pt idx="29">
                  <c:v>63</c:v>
                </c:pt>
                <c:pt idx="30">
                  <c:v>63</c:v>
                </c:pt>
                <c:pt idx="31">
                  <c:v>63</c:v>
                </c:pt>
                <c:pt idx="32">
                  <c:v>127</c:v>
                </c:pt>
                <c:pt idx="33">
                  <c:v>127</c:v>
                </c:pt>
                <c:pt idx="34">
                  <c:v>127</c:v>
                </c:pt>
                <c:pt idx="35">
                  <c:v>127</c:v>
                </c:pt>
                <c:pt idx="36">
                  <c:v>127</c:v>
                </c:pt>
                <c:pt idx="37">
                  <c:v>127</c:v>
                </c:pt>
                <c:pt idx="38">
                  <c:v>127</c:v>
                </c:pt>
                <c:pt idx="39">
                  <c:v>127</c:v>
                </c:pt>
                <c:pt idx="40">
                  <c:v>127</c:v>
                </c:pt>
                <c:pt idx="41">
                  <c:v>127</c:v>
                </c:pt>
                <c:pt idx="42">
                  <c:v>127</c:v>
                </c:pt>
                <c:pt idx="43">
                  <c:v>127</c:v>
                </c:pt>
                <c:pt idx="44">
                  <c:v>127</c:v>
                </c:pt>
                <c:pt idx="45">
                  <c:v>127</c:v>
                </c:pt>
                <c:pt idx="46">
                  <c:v>127</c:v>
                </c:pt>
                <c:pt idx="47">
                  <c:v>127</c:v>
                </c:pt>
                <c:pt idx="48">
                  <c:v>127</c:v>
                </c:pt>
                <c:pt idx="49">
                  <c:v>127</c:v>
                </c:pt>
                <c:pt idx="50">
                  <c:v>127</c:v>
                </c:pt>
                <c:pt idx="51">
                  <c:v>127</c:v>
                </c:pt>
                <c:pt idx="52">
                  <c:v>127</c:v>
                </c:pt>
                <c:pt idx="53">
                  <c:v>127</c:v>
                </c:pt>
                <c:pt idx="54">
                  <c:v>127</c:v>
                </c:pt>
                <c:pt idx="55">
                  <c:v>127</c:v>
                </c:pt>
                <c:pt idx="56">
                  <c:v>127</c:v>
                </c:pt>
                <c:pt idx="57">
                  <c:v>127</c:v>
                </c:pt>
                <c:pt idx="58">
                  <c:v>127</c:v>
                </c:pt>
                <c:pt idx="59">
                  <c:v>127</c:v>
                </c:pt>
                <c:pt idx="60">
                  <c:v>127</c:v>
                </c:pt>
                <c:pt idx="61">
                  <c:v>127</c:v>
                </c:pt>
                <c:pt idx="62">
                  <c:v>127</c:v>
                </c:pt>
                <c:pt idx="63">
                  <c:v>127</c:v>
                </c:pt>
                <c:pt idx="64">
                  <c:v>255</c:v>
                </c:pt>
                <c:pt idx="65">
                  <c:v>255</c:v>
                </c:pt>
                <c:pt idx="66">
                  <c:v>255</c:v>
                </c:pt>
                <c:pt idx="67">
                  <c:v>255</c:v>
                </c:pt>
                <c:pt idx="68">
                  <c:v>255</c:v>
                </c:pt>
                <c:pt idx="69">
                  <c:v>255</c:v>
                </c:pt>
                <c:pt idx="70">
                  <c:v>255</c:v>
                </c:pt>
                <c:pt idx="71">
                  <c:v>255</c:v>
                </c:pt>
                <c:pt idx="72">
                  <c:v>255</c:v>
                </c:pt>
                <c:pt idx="73">
                  <c:v>255</c:v>
                </c:pt>
                <c:pt idx="74">
                  <c:v>255</c:v>
                </c:pt>
                <c:pt idx="75">
                  <c:v>255</c:v>
                </c:pt>
                <c:pt idx="76">
                  <c:v>255</c:v>
                </c:pt>
                <c:pt idx="77">
                  <c:v>255</c:v>
                </c:pt>
                <c:pt idx="78">
                  <c:v>255</c:v>
                </c:pt>
                <c:pt idx="79">
                  <c:v>255</c:v>
                </c:pt>
                <c:pt idx="80">
                  <c:v>255</c:v>
                </c:pt>
                <c:pt idx="81">
                  <c:v>255</c:v>
                </c:pt>
                <c:pt idx="82">
                  <c:v>255</c:v>
                </c:pt>
                <c:pt idx="83">
                  <c:v>255</c:v>
                </c:pt>
                <c:pt idx="84">
                  <c:v>255</c:v>
                </c:pt>
                <c:pt idx="85">
                  <c:v>255</c:v>
                </c:pt>
                <c:pt idx="86">
                  <c:v>255</c:v>
                </c:pt>
                <c:pt idx="87">
                  <c:v>255</c:v>
                </c:pt>
                <c:pt idx="88">
                  <c:v>255</c:v>
                </c:pt>
                <c:pt idx="89">
                  <c:v>255</c:v>
                </c:pt>
                <c:pt idx="90">
                  <c:v>255</c:v>
                </c:pt>
                <c:pt idx="91">
                  <c:v>255</c:v>
                </c:pt>
                <c:pt idx="92">
                  <c:v>255</c:v>
                </c:pt>
                <c:pt idx="93">
                  <c:v>255</c:v>
                </c:pt>
                <c:pt idx="94">
                  <c:v>255</c:v>
                </c:pt>
                <c:pt idx="95">
                  <c:v>255</c:v>
                </c:pt>
                <c:pt idx="96">
                  <c:v>255</c:v>
                </c:pt>
                <c:pt idx="97">
                  <c:v>255</c:v>
                </c:pt>
                <c:pt idx="98">
                  <c:v>255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3FF-4A8C-AE5A-22D1DFF1C5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894241552"/>
        <c:axId val="-894254064"/>
      </c:lineChart>
      <c:catAx>
        <c:axId val="-89424155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BY"/>
          </a:p>
        </c:txPr>
        <c:crossAx val="-894254064"/>
        <c:crosses val="autoZero"/>
        <c:auto val="1"/>
        <c:lblAlgn val="ctr"/>
        <c:lblOffset val="100"/>
        <c:tickLblSkip val="5"/>
        <c:tickMarkSkip val="1"/>
        <c:noMultiLvlLbl val="0"/>
      </c:catAx>
      <c:valAx>
        <c:axId val="-894254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BY"/>
          </a:p>
        </c:txPr>
        <c:crossAx val="-8942415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BY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BY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BB930-C2DA-4C2A-98BB-D236FD8BE608}" type="datetimeFigureOut">
              <a:rPr lang="ru-RU" smtClean="0"/>
              <a:t>17.03.2024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8E7AD-9CF6-4AD7-A07E-9D15F335B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5602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48E7AD-9CF6-4AD7-A07E-9D15F335B002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1357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BY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8E7AD-9CF6-4AD7-A07E-9D15F335B002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1432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 userDrawn="1"/>
        </p:nvSpPr>
        <p:spPr>
          <a:xfrm>
            <a:off x="0" y="0"/>
            <a:ext cx="972280" cy="6858000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1055440" y="0"/>
            <a:ext cx="11136560" cy="6858000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914400" y="2130428"/>
            <a:ext cx="10363200" cy="1470025"/>
          </a:xfrm>
        </p:spPr>
        <p:txBody>
          <a:bodyPr>
            <a:normAutofit/>
          </a:bodyPr>
          <a:lstStyle>
            <a:lvl1pPr>
              <a:defRPr sz="4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Образец подзаголовка</a:t>
            </a: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1824" y="188640"/>
            <a:ext cx="3178011" cy="80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863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 userDrawn="1"/>
        </p:nvSpPr>
        <p:spPr>
          <a:xfrm>
            <a:off x="1055440" y="0"/>
            <a:ext cx="1113656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 userDrawn="1"/>
        </p:nvSpPr>
        <p:spPr>
          <a:xfrm>
            <a:off x="0" y="0"/>
            <a:ext cx="97228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0" y="6669360"/>
            <a:ext cx="972280" cy="188640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1055440" y="6669360"/>
            <a:ext cx="11136560" cy="188640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751852" y="143722"/>
            <a:ext cx="7022571" cy="95436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2" name="Объект 2"/>
          <p:cNvSpPr>
            <a:spLocks noGrp="1"/>
          </p:cNvSpPr>
          <p:nvPr>
            <p:ph sz="half" idx="1"/>
          </p:nvPr>
        </p:nvSpPr>
        <p:spPr>
          <a:xfrm>
            <a:off x="586901" y="1600203"/>
            <a:ext cx="1098170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488" y="236597"/>
            <a:ext cx="3024336" cy="76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605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 userDrawn="1"/>
        </p:nvSpPr>
        <p:spPr>
          <a:xfrm>
            <a:off x="1055440" y="0"/>
            <a:ext cx="1113656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 userDrawn="1"/>
        </p:nvSpPr>
        <p:spPr>
          <a:xfrm>
            <a:off x="0" y="0"/>
            <a:ext cx="97228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0" y="6371662"/>
            <a:ext cx="972280" cy="486338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1055440" y="6371662"/>
            <a:ext cx="11136560" cy="486338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751852" y="143722"/>
            <a:ext cx="7022571" cy="95436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Объект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" name="Объект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488" y="236597"/>
            <a:ext cx="3024336" cy="76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587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B0679-9827-4807-A19C-428D6F1FBB16}" type="datetimeFigureOut">
              <a:rPr lang="ru-RU" smtClean="0"/>
              <a:t>17.03.2024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BD58-9668-4F82-A9ED-3975D48EFB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8178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B0679-9827-4807-A19C-428D6F1FBB16}" type="datetimeFigureOut">
              <a:rPr lang="ru-RU" smtClean="0"/>
              <a:t>17.03.2024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BD58-9668-4F82-A9ED-3975D48EFB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1391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B0679-9827-4807-A19C-428D6F1FBB16}" type="datetimeFigureOut">
              <a:rPr lang="ru-RU" smtClean="0"/>
              <a:t>17.03.2024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BD58-9668-4F82-A9ED-3975D48EFB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421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B0679-9827-4807-A19C-428D6F1FBB16}" type="datetimeFigureOut">
              <a:rPr lang="ru-RU" smtClean="0"/>
              <a:t>17.03.2024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BD58-9668-4F82-A9ED-3975D48EFB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009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B0679-9827-4807-A19C-428D6F1FBB16}" type="datetimeFigureOut">
              <a:rPr lang="ru-RU" smtClean="0"/>
              <a:t>17.03.2024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BD58-9668-4F82-A9ED-3975D48EFB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407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B0679-9827-4807-A19C-428D6F1FBB16}" type="datetimeFigureOut">
              <a:rPr lang="ru-RU" smtClean="0"/>
              <a:t>17.03.2024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BD58-9668-4F82-A9ED-3975D48EFB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4225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B0679-9827-4807-A19C-428D6F1FBB16}" type="datetimeFigureOut">
              <a:rPr lang="ru-RU" smtClean="0"/>
              <a:t>17.03.2024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BD58-9668-4F82-A9ED-3975D48EFB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224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B0679-9827-4807-A19C-428D6F1FBB16}" type="datetimeFigureOut">
              <a:rPr lang="ru-RU" smtClean="0"/>
              <a:t>17.03.2024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BD58-9668-4F82-A9ED-3975D48EFB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2730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B0679-9827-4807-A19C-428D6F1FBB16}" type="datetimeFigureOut">
              <a:rPr lang="ru-RU" smtClean="0"/>
              <a:t>17.03.2024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FBD58-9668-4F82-A9ED-3975D48EFB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2444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B0679-9827-4807-A19C-428D6F1FBB16}" type="datetimeFigureOut">
              <a:rPr lang="ru-RU" smtClean="0"/>
              <a:t>17.03.2024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FBD58-9668-4F82-A9ED-3975D48EFB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7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7" Type="http://schemas.openxmlformats.org/officeDocument/2006/relationships/oleObject" Target="../embeddings/oleObject2.bin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image" Target="../media/image15.png"/><Relationship Id="rId7" Type="http://schemas.openxmlformats.org/officeDocument/2006/relationships/oleObject" Target="../embeddings/oleObject3.bin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50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image" Target="../media/image18.png"/><Relationship Id="rId7" Type="http://schemas.openxmlformats.org/officeDocument/2006/relationships/oleObject" Target="../embeddings/oleObject4.bin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23.png"/><Relationship Id="rId7" Type="http://schemas.openxmlformats.org/officeDocument/2006/relationships/image" Target="../media/image7.w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8.wmf"/><Relationship Id="rId5" Type="http://schemas.openxmlformats.org/officeDocument/2006/relationships/image" Target="../media/image25.png"/><Relationship Id="rId10" Type="http://schemas.openxmlformats.org/officeDocument/2006/relationships/oleObject" Target="../embeddings/oleObject8.bin"/><Relationship Id="rId9" Type="http://schemas.openxmlformats.org/officeDocument/2006/relationships/oleObject" Target="../embeddings/oleObject7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14.wmf"/><Relationship Id="rId3" Type="http://schemas.openxmlformats.org/officeDocument/2006/relationships/image" Target="../media/image9.wmf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14.bin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3.wmf"/><Relationship Id="rId5" Type="http://schemas.openxmlformats.org/officeDocument/2006/relationships/image" Target="../media/image10.w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2.wmf"/><Relationship Id="rId14" Type="http://schemas.openxmlformats.org/officeDocument/2006/relationships/image" Target="../media/image1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18" Type="http://schemas.openxmlformats.org/officeDocument/2006/relationships/image" Target="../media/image45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43.png"/><Relationship Id="rId2" Type="http://schemas.openxmlformats.org/officeDocument/2006/relationships/image" Target="../media/image33.png"/><Relationship Id="rId16" Type="http://schemas.openxmlformats.org/officeDocument/2006/relationships/image" Target="../media/image4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320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30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1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image" Target="../media/image51.png"/><Relationship Id="rId7" Type="http://schemas.openxmlformats.org/officeDocument/2006/relationships/oleObject" Target="../embeddings/oleObject16.bin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52.png"/><Relationship Id="rId9" Type="http://schemas.openxmlformats.org/officeDocument/2006/relationships/image" Target="../media/image5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7.png"/><Relationship Id="rId7" Type="http://schemas.openxmlformats.org/officeDocument/2006/relationships/image" Target="../media/image17.wmf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7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60.png"/><Relationship Id="rId7" Type="http://schemas.openxmlformats.org/officeDocument/2006/relationships/image" Target="../media/image17.wmf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16.wmf"/><Relationship Id="rId10" Type="http://schemas.openxmlformats.org/officeDocument/2006/relationships/image" Target="../media/image62.png"/><Relationship Id="rId4" Type="http://schemas.openxmlformats.org/officeDocument/2006/relationships/oleObject" Target="../embeddings/oleObject19.bin"/><Relationship Id="rId9" Type="http://schemas.openxmlformats.org/officeDocument/2006/relationships/image" Target="../media/image38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7" Type="http://schemas.openxmlformats.org/officeDocument/2006/relationships/image" Target="../media/image65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2.png"/><Relationship Id="rId5" Type="http://schemas.openxmlformats.org/officeDocument/2006/relationships/image" Target="../media/image403.png"/><Relationship Id="rId4" Type="http://schemas.openxmlformats.org/officeDocument/2006/relationships/image" Target="../media/image39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oleObject" Target="../embeddings/oleObject27.bin"/><Relationship Id="rId18" Type="http://schemas.openxmlformats.org/officeDocument/2006/relationships/oleObject" Target="../embeddings/oleObject30.bin"/><Relationship Id="rId3" Type="http://schemas.openxmlformats.org/officeDocument/2006/relationships/image" Target="../media/image19.wmf"/><Relationship Id="rId7" Type="http://schemas.openxmlformats.org/officeDocument/2006/relationships/image" Target="../media/image21.wmf"/><Relationship Id="rId12" Type="http://schemas.openxmlformats.org/officeDocument/2006/relationships/image" Target="../media/image23.wmf"/><Relationship Id="rId17" Type="http://schemas.openxmlformats.org/officeDocument/2006/relationships/oleObject" Target="../embeddings/oleObject29.bin"/><Relationship Id="rId2" Type="http://schemas.openxmlformats.org/officeDocument/2006/relationships/oleObject" Target="../embeddings/oleObject21.bin"/><Relationship Id="rId16" Type="http://schemas.openxmlformats.org/officeDocument/2006/relationships/image" Target="../media/image25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.bin"/><Relationship Id="rId11" Type="http://schemas.openxmlformats.org/officeDocument/2006/relationships/oleObject" Target="../embeddings/oleObject26.bin"/><Relationship Id="rId5" Type="http://schemas.openxmlformats.org/officeDocument/2006/relationships/image" Target="../media/image20.wmf"/><Relationship Id="rId15" Type="http://schemas.openxmlformats.org/officeDocument/2006/relationships/oleObject" Target="../embeddings/oleObject28.bin"/><Relationship Id="rId10" Type="http://schemas.openxmlformats.org/officeDocument/2006/relationships/image" Target="../media/image22.wmf"/><Relationship Id="rId19" Type="http://schemas.openxmlformats.org/officeDocument/2006/relationships/image" Target="../media/image26.emf"/><Relationship Id="rId4" Type="http://schemas.openxmlformats.org/officeDocument/2006/relationships/oleObject" Target="../embeddings/oleObject22.bin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24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4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78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5" Type="http://schemas.openxmlformats.org/officeDocument/2006/relationships/image" Target="../media/image9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77.png"/><Relationship Id="rId14" Type="http://schemas.openxmlformats.org/officeDocument/2006/relationships/image" Target="../media/image9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1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79.png"/><Relationship Id="rId18" Type="http://schemas.openxmlformats.org/officeDocument/2006/relationships/image" Target="../media/image402.png"/><Relationship Id="rId3" Type="http://schemas.openxmlformats.org/officeDocument/2006/relationships/image" Target="../media/image82.png"/><Relationship Id="rId7" Type="http://schemas.openxmlformats.org/officeDocument/2006/relationships/image" Target="../media/image99.png"/><Relationship Id="rId12" Type="http://schemas.openxmlformats.org/officeDocument/2006/relationships/image" Target="../media/image102.png"/><Relationship Id="rId17" Type="http://schemas.openxmlformats.org/officeDocument/2006/relationships/image" Target="../media/image106.png"/><Relationship Id="rId2" Type="http://schemas.openxmlformats.org/officeDocument/2006/relationships/image" Target="../media/image95.png"/><Relationship Id="rId16" Type="http://schemas.openxmlformats.org/officeDocument/2006/relationships/image" Target="../media/image10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8.png"/><Relationship Id="rId11" Type="http://schemas.openxmlformats.org/officeDocument/2006/relationships/image" Target="../media/image90.png"/><Relationship Id="rId5" Type="http://schemas.openxmlformats.org/officeDocument/2006/relationships/image" Target="../media/image97.png"/><Relationship Id="rId15" Type="http://schemas.openxmlformats.org/officeDocument/2006/relationships/image" Target="../media/image104.png"/><Relationship Id="rId10" Type="http://schemas.openxmlformats.org/officeDocument/2006/relationships/image" Target="../media/image101.png"/><Relationship Id="rId4" Type="http://schemas.openxmlformats.org/officeDocument/2006/relationships/image" Target="../media/image96.png"/><Relationship Id="rId9" Type="http://schemas.openxmlformats.org/officeDocument/2006/relationships/image" Target="../media/image89.png"/><Relationship Id="rId14" Type="http://schemas.openxmlformats.org/officeDocument/2006/relationships/image" Target="../media/image10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3" Type="http://schemas.openxmlformats.org/officeDocument/2006/relationships/image" Target="../media/image27.emf"/><Relationship Id="rId7" Type="http://schemas.openxmlformats.org/officeDocument/2006/relationships/image" Target="../media/image29.w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28.emf"/><Relationship Id="rId4" Type="http://schemas.openxmlformats.org/officeDocument/2006/relationships/oleObject" Target="../embeddings/oleObject32.bin"/><Relationship Id="rId9" Type="http://schemas.openxmlformats.org/officeDocument/2006/relationships/image" Target="../media/image30.e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13" Type="http://schemas.openxmlformats.org/officeDocument/2006/relationships/image" Target="../media/image36.emf"/><Relationship Id="rId18" Type="http://schemas.openxmlformats.org/officeDocument/2006/relationships/oleObject" Target="../embeddings/oleObject43.bin"/><Relationship Id="rId26" Type="http://schemas.openxmlformats.org/officeDocument/2006/relationships/oleObject" Target="../embeddings/oleObject47.bin"/><Relationship Id="rId3" Type="http://schemas.openxmlformats.org/officeDocument/2006/relationships/image" Target="../media/image31.wmf"/><Relationship Id="rId21" Type="http://schemas.openxmlformats.org/officeDocument/2006/relationships/image" Target="../media/image40.emf"/><Relationship Id="rId7" Type="http://schemas.openxmlformats.org/officeDocument/2006/relationships/image" Target="../media/image33.emf"/><Relationship Id="rId12" Type="http://schemas.openxmlformats.org/officeDocument/2006/relationships/oleObject" Target="../embeddings/oleObject40.bin"/><Relationship Id="rId17" Type="http://schemas.openxmlformats.org/officeDocument/2006/relationships/image" Target="../media/image38.emf"/><Relationship Id="rId25" Type="http://schemas.openxmlformats.org/officeDocument/2006/relationships/image" Target="../media/image42.emf"/><Relationship Id="rId2" Type="http://schemas.openxmlformats.org/officeDocument/2006/relationships/oleObject" Target="../embeddings/oleObject35.bin"/><Relationship Id="rId16" Type="http://schemas.openxmlformats.org/officeDocument/2006/relationships/oleObject" Target="../embeddings/oleObject42.bin"/><Relationship Id="rId20" Type="http://schemas.openxmlformats.org/officeDocument/2006/relationships/oleObject" Target="../embeddings/oleObject44.bin"/><Relationship Id="rId29" Type="http://schemas.openxmlformats.org/officeDocument/2006/relationships/image" Target="../media/image44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35.emf"/><Relationship Id="rId24" Type="http://schemas.openxmlformats.org/officeDocument/2006/relationships/oleObject" Target="../embeddings/oleObject46.bin"/><Relationship Id="rId5" Type="http://schemas.openxmlformats.org/officeDocument/2006/relationships/image" Target="../media/image32.emf"/><Relationship Id="rId15" Type="http://schemas.openxmlformats.org/officeDocument/2006/relationships/image" Target="../media/image37.wmf"/><Relationship Id="rId23" Type="http://schemas.openxmlformats.org/officeDocument/2006/relationships/image" Target="../media/image41.emf"/><Relationship Id="rId28" Type="http://schemas.openxmlformats.org/officeDocument/2006/relationships/oleObject" Target="../embeddings/oleObject48.bin"/><Relationship Id="rId10" Type="http://schemas.openxmlformats.org/officeDocument/2006/relationships/oleObject" Target="../embeddings/oleObject39.bin"/><Relationship Id="rId19" Type="http://schemas.openxmlformats.org/officeDocument/2006/relationships/image" Target="../media/image39.emf"/><Relationship Id="rId4" Type="http://schemas.openxmlformats.org/officeDocument/2006/relationships/oleObject" Target="../embeddings/oleObject36.bin"/><Relationship Id="rId9" Type="http://schemas.openxmlformats.org/officeDocument/2006/relationships/image" Target="../media/image34.emf"/><Relationship Id="rId14" Type="http://schemas.openxmlformats.org/officeDocument/2006/relationships/oleObject" Target="../embeddings/oleObject41.bin"/><Relationship Id="rId22" Type="http://schemas.openxmlformats.org/officeDocument/2006/relationships/oleObject" Target="../embeddings/oleObject45.bin"/><Relationship Id="rId27" Type="http://schemas.openxmlformats.org/officeDocument/2006/relationships/image" Target="../media/image43.w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image" Target="../media/image124.png"/><Relationship Id="rId7" Type="http://schemas.openxmlformats.org/officeDocument/2006/relationships/image" Target="../media/image128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361.png"/><Relationship Id="rId7" Type="http://schemas.openxmlformats.org/officeDocument/2006/relationships/image" Target="../media/image110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1.png"/><Relationship Id="rId5" Type="http://schemas.openxmlformats.org/officeDocument/2006/relationships/image" Target="../media/image109.png"/><Relationship Id="rId4" Type="http://schemas.openxmlformats.org/officeDocument/2006/relationships/image" Target="../media/image133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0.png"/><Relationship Id="rId13" Type="http://schemas.openxmlformats.org/officeDocument/2006/relationships/image" Target="../media/image450.png"/><Relationship Id="rId18" Type="http://schemas.openxmlformats.org/officeDocument/2006/relationships/image" Target="../media/image640.png"/><Relationship Id="rId3" Type="http://schemas.openxmlformats.org/officeDocument/2006/relationships/image" Target="../media/image350.png"/><Relationship Id="rId7" Type="http://schemas.openxmlformats.org/officeDocument/2006/relationships/image" Target="../media/image390.png"/><Relationship Id="rId12" Type="http://schemas.openxmlformats.org/officeDocument/2006/relationships/image" Target="../media/image440.png"/><Relationship Id="rId17" Type="http://schemas.openxmlformats.org/officeDocument/2006/relationships/image" Target="../media/image550.png"/><Relationship Id="rId2" Type="http://schemas.openxmlformats.org/officeDocument/2006/relationships/image" Target="../media/image340.png"/><Relationship Id="rId16" Type="http://schemas.openxmlformats.org/officeDocument/2006/relationships/image" Target="../media/image4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0.png"/><Relationship Id="rId11" Type="http://schemas.openxmlformats.org/officeDocument/2006/relationships/image" Target="../media/image430.png"/><Relationship Id="rId5" Type="http://schemas.openxmlformats.org/officeDocument/2006/relationships/image" Target="../media/image370.png"/><Relationship Id="rId15" Type="http://schemas.openxmlformats.org/officeDocument/2006/relationships/image" Target="../media/image470.png"/><Relationship Id="rId10" Type="http://schemas.openxmlformats.org/officeDocument/2006/relationships/image" Target="../media/image420.png"/><Relationship Id="rId4" Type="http://schemas.openxmlformats.org/officeDocument/2006/relationships/image" Target="../media/image360.png"/><Relationship Id="rId9" Type="http://schemas.openxmlformats.org/officeDocument/2006/relationships/image" Target="../media/image410.png"/><Relationship Id="rId14" Type="http://schemas.openxmlformats.org/officeDocument/2006/relationships/image" Target="../media/image46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0.png"/><Relationship Id="rId2" Type="http://schemas.openxmlformats.org/officeDocument/2006/relationships/image" Target="../media/image6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0.png"/><Relationship Id="rId2" Type="http://schemas.openxmlformats.org/officeDocument/2006/relationships/image" Target="../media/image6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1.png"/><Relationship Id="rId5" Type="http://schemas.openxmlformats.org/officeDocument/2006/relationships/image" Target="../media/image700.png"/><Relationship Id="rId4" Type="http://schemas.openxmlformats.org/officeDocument/2006/relationships/image" Target="../media/image69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0.png"/><Relationship Id="rId2" Type="http://schemas.openxmlformats.org/officeDocument/2006/relationships/image" Target="../media/image7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8.png"/><Relationship Id="rId4" Type="http://schemas.openxmlformats.org/officeDocument/2006/relationships/image" Target="../media/image75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0.png"/><Relationship Id="rId2" Type="http://schemas.openxmlformats.org/officeDocument/2006/relationships/image" Target="../media/image7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0.png"/><Relationship Id="rId5" Type="http://schemas.openxmlformats.org/officeDocument/2006/relationships/image" Target="../media/image601.png"/><Relationship Id="rId4" Type="http://schemas.openxmlformats.org/officeDocument/2006/relationships/image" Target="../media/image59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wmf"/><Relationship Id="rId7" Type="http://schemas.openxmlformats.org/officeDocument/2006/relationships/image" Target="../media/image115.w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2.bin"/><Relationship Id="rId5" Type="http://schemas.openxmlformats.org/officeDocument/2006/relationships/image" Target="../media/image114.wmf"/><Relationship Id="rId4" Type="http://schemas.openxmlformats.org/officeDocument/2006/relationships/oleObject" Target="../embeddings/oleObject51.bin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0.png"/><Relationship Id="rId13" Type="http://schemas.openxmlformats.org/officeDocument/2006/relationships/image" Target="../media/image119.png"/><Relationship Id="rId3" Type="http://schemas.openxmlformats.org/officeDocument/2006/relationships/image" Target="../media/image116.png"/><Relationship Id="rId7" Type="http://schemas.openxmlformats.org/officeDocument/2006/relationships/image" Target="../media/image790.png"/><Relationship Id="rId12" Type="http://schemas.openxmlformats.org/officeDocument/2006/relationships/image" Target="../media/image118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.png"/><Relationship Id="rId11" Type="http://schemas.openxmlformats.org/officeDocument/2006/relationships/image" Target="../media/image117.png"/><Relationship Id="rId5" Type="http://schemas.openxmlformats.org/officeDocument/2006/relationships/image" Target="../media/image770.png"/><Relationship Id="rId10" Type="http://schemas.openxmlformats.org/officeDocument/2006/relationships/image" Target="../media/image820.png"/><Relationship Id="rId4" Type="http://schemas.openxmlformats.org/officeDocument/2006/relationships/image" Target="../media/image144.png"/><Relationship Id="rId9" Type="http://schemas.openxmlformats.org/officeDocument/2006/relationships/image" Target="../media/image811.png"/><Relationship Id="rId14" Type="http://schemas.openxmlformats.org/officeDocument/2006/relationships/image" Target="../media/image120.png"/></Relationships>
</file>

<file path=ppt/slides/_rels/slide5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30.png"/><Relationship Id="rId3" Type="http://schemas.openxmlformats.org/officeDocument/2006/relationships/image" Target="../media/image830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7.png"/><Relationship Id="rId14" Type="http://schemas.openxmlformats.org/officeDocument/2006/relationships/image" Target="../media/image840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0.png"/><Relationship Id="rId2" Type="http://schemas.openxmlformats.org/officeDocument/2006/relationships/image" Target="../media/image7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.png"/><Relationship Id="rId5" Type="http://schemas.openxmlformats.org/officeDocument/2006/relationships/image" Target="../media/image870.png"/><Relationship Id="rId4" Type="http://schemas.openxmlformats.org/officeDocument/2006/relationships/image" Target="../media/image860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rAxI7ITDHS_YnQCNnBazMPJ1jpj668I9/view?usp=sharing" TargetMode="Externa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924022"/>
            <a:ext cx="10363200" cy="2592288"/>
          </a:xfrm>
        </p:spPr>
        <p:txBody>
          <a:bodyPr>
            <a:noAutofit/>
          </a:bodyPr>
          <a:lstStyle/>
          <a:p>
            <a:r>
              <a:rPr lang="ru-RU" sz="3200" dirty="0"/>
              <a:t>Структуры данных для выполнения</a:t>
            </a:r>
            <a:br>
              <a:rPr lang="en-US" sz="3200" dirty="0"/>
            </a:br>
            <a:r>
              <a:rPr lang="ru-RU" sz="3200" dirty="0"/>
              <a:t>интервальных запросов</a:t>
            </a:r>
          </a:p>
        </p:txBody>
      </p:sp>
      <p:sp>
        <p:nvSpPr>
          <p:cNvPr id="5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042712" y="5630667"/>
            <a:ext cx="8961040" cy="585022"/>
          </a:xfrm>
        </p:spPr>
        <p:txBody>
          <a:bodyPr>
            <a:normAutofit lnSpcReduction="10000"/>
          </a:bodyPr>
          <a:lstStyle/>
          <a:p>
            <a:pPr algn="l"/>
            <a:r>
              <a:rPr lang="ru-RU" sz="1600" i="1" dirty="0">
                <a:latin typeface="+mj-lt"/>
              </a:rPr>
              <a:t>С. А. Соболь — магистр математики и информационных технологий</a:t>
            </a:r>
            <a:endParaRPr lang="en-US" sz="1600" i="1" dirty="0">
              <a:latin typeface="+mj-lt"/>
            </a:endParaRPr>
          </a:p>
          <a:p>
            <a:pPr algn="l"/>
            <a:r>
              <a:rPr lang="ru-RU" sz="1600" dirty="0">
                <a:latin typeface="+mj-lt"/>
              </a:rPr>
              <a:t>Е.П. Соболевская </a:t>
            </a:r>
            <a:r>
              <a:rPr lang="ru-RU" sz="1600" i="1" dirty="0"/>
              <a:t>—</a:t>
            </a:r>
            <a:r>
              <a:rPr lang="ru-RU" sz="1600" i="1" dirty="0">
                <a:latin typeface="+mj-lt"/>
              </a:rPr>
              <a:t> доцент кафедры ДМА ФПМИ БГУ</a:t>
            </a:r>
            <a:endParaRPr lang="en-US" sz="1600" i="1" dirty="0">
              <a:latin typeface="+mj-lt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013692"/>
              </p:ext>
            </p:extLst>
          </p:nvPr>
        </p:nvGraphicFramePr>
        <p:xfrm>
          <a:off x="2032000" y="3330890"/>
          <a:ext cx="8128000" cy="370840"/>
        </p:xfrm>
        <a:graphic>
          <a:graphicData uri="http://schemas.openxmlformats.org/drawingml/2006/table">
            <a:tbl>
              <a:tblPr firstRow="1" bandRow="1">
                <a:effectLst>
                  <a:reflection blurRad="6350" stA="52000" endA="300" endPos="35000" dir="5400000" sy="-100000" algn="bl" rotWithShape="0"/>
                </a:effectLst>
                <a:tableStyleId>{2D5ABB26-0587-4C30-8999-92F81FD0307C}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Левая фигурная скобка 3"/>
          <p:cNvSpPr/>
          <p:nvPr/>
        </p:nvSpPr>
        <p:spPr>
          <a:xfrm rot="16200000">
            <a:off x="6319675" y="2341229"/>
            <a:ext cx="344738" cy="3240360"/>
          </a:xfrm>
          <a:prstGeom prst="leftBrace">
            <a:avLst/>
          </a:prstGeom>
          <a:noFill/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306577" y="4168198"/>
                <a:ext cx="370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ru-RU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6577" y="4168198"/>
                <a:ext cx="370934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5393724" y="6381328"/>
            <a:ext cx="14045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i="1" dirty="0">
                <a:solidFill>
                  <a:schemeClr val="bg1"/>
                </a:solidFill>
              </a:rPr>
              <a:t>Минск, 2023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1475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2"/>
              <p:cNvSpPr txBox="1">
                <a:spLocks/>
              </p:cNvSpPr>
              <p:nvPr/>
            </p:nvSpPr>
            <p:spPr>
              <a:xfrm>
                <a:off x="551384" y="1600203"/>
                <a:ext cx="11194765" cy="53265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dirty="0"/>
                  <a:t>Пусть в памяти хранится последовательность из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элементов.</a:t>
                </a:r>
              </a:p>
            </p:txBody>
          </p:sp>
        </mc:Choice>
        <mc:Fallback xmlns="">
          <p:sp>
            <p:nvSpPr>
              <p:cNvPr id="7" name="Объект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84" y="1600203"/>
                <a:ext cx="11194765" cy="532653"/>
              </a:xfrm>
              <a:prstGeom prst="rect">
                <a:avLst/>
              </a:prstGeom>
              <a:blipFill>
                <a:blip r:embed="rId2"/>
                <a:stretch>
                  <a:fillRect l="-1089" t="-11494" b="-2988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Прямоугольник 7"/>
              <p:cNvSpPr/>
              <p:nvPr/>
            </p:nvSpPr>
            <p:spPr>
              <a:xfrm>
                <a:off x="551384" y="2485418"/>
                <a:ext cx="11377264" cy="1384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800" dirty="0"/>
                  <a:t>Нужно уметь выполнять какую-либо операцию над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2800" b="1" dirty="0"/>
                  <a:t> </a:t>
                </a:r>
                <a:r>
                  <a:rPr lang="ru-RU" sz="2800" b="1" dirty="0"/>
                  <a:t>последовательными элементами сразу</a:t>
                </a:r>
                <a:r>
                  <a:rPr lang="ru-RU" sz="2800" dirty="0"/>
                  <a:t> (например, суммировать, находить минимум</a:t>
                </a:r>
                <a:r>
                  <a:rPr lang="en-US" sz="2800" dirty="0"/>
                  <a:t>/</a:t>
                </a:r>
                <a:r>
                  <a:rPr lang="ru-RU" sz="2800" dirty="0"/>
                  <a:t>максимум). </a:t>
                </a:r>
              </a:p>
            </p:txBody>
          </p:sp>
        </mc:Choice>
        <mc:Fallback xmlns="">
          <p:sp>
            <p:nvSpPr>
              <p:cNvPr id="8" name="Прямоугольник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84" y="2485418"/>
                <a:ext cx="11377264" cy="1384995"/>
              </a:xfrm>
              <a:prstGeom prst="rect">
                <a:avLst/>
              </a:prstGeom>
              <a:blipFill>
                <a:blip r:embed="rId3"/>
                <a:stretch>
                  <a:fillRect l="-1071" t="-4405" r="-1071" b="-11894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Прямоугольник 8"/>
          <p:cNvSpPr/>
          <p:nvPr/>
        </p:nvSpPr>
        <p:spPr>
          <a:xfrm>
            <a:off x="551384" y="4149080"/>
            <a:ext cx="117373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/>
            <a:r>
              <a:rPr lang="ru-RU" sz="2800" dirty="0"/>
              <a:t>Такие запросы называют </a:t>
            </a:r>
            <a:r>
              <a:rPr lang="ru-RU" sz="2800" b="1" i="1" dirty="0"/>
              <a:t>интервальными</a:t>
            </a:r>
            <a:r>
              <a:rPr lang="ru-RU" sz="2800" dirty="0"/>
              <a:t>, потому что они затрагивают целый интервал значений.</a:t>
            </a:r>
            <a:endParaRPr lang="ru-RU" sz="2800" i="1" dirty="0"/>
          </a:p>
        </p:txBody>
      </p:sp>
    </p:spTree>
    <p:extLst>
      <p:ext uri="{BB962C8B-B14F-4D97-AF65-F5344CB8AC3E}">
        <p14:creationId xmlns:p14="http://schemas.microsoft.com/office/powerpoint/2010/main" val="4057124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Терминология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dirty="0"/>
                  <a:t>Путаница</a:t>
                </a:r>
              </a:p>
              <a:p>
                <a:pPr lvl="1"/>
                <a:r>
                  <a:rPr lang="ru-RU" dirty="0"/>
                  <a:t>Промежуток</a:t>
                </a:r>
              </a:p>
              <a:p>
                <a:pPr lvl="1"/>
                <a:r>
                  <a:rPr lang="ru-RU" dirty="0"/>
                  <a:t>Интервал</a:t>
                </a:r>
              </a:p>
              <a:p>
                <a:pPr lvl="1"/>
                <a:r>
                  <a:rPr lang="ru-RU" dirty="0"/>
                  <a:t>Отрезок (сегмент)</a:t>
                </a:r>
              </a:p>
              <a:p>
                <a:r>
                  <a:rPr lang="ru-RU" dirty="0"/>
                  <a:t>Будем использовать в основном целочисленные полуинтервалы (левый конец включён, правый не включён):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+2, …,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ru-RU" b="0" dirty="0"/>
              </a:p>
              <a:p>
                <a:r>
                  <a:rPr lang="ru-RU" dirty="0"/>
                  <a:t>В языках программирования часто правый конец диапазона не включается (</a:t>
                </a:r>
                <a:r>
                  <a:rPr lang="en-US" dirty="0"/>
                  <a:t>C++, Python)</a:t>
                </a:r>
                <a:endParaRPr lang="ru-RU" b="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0">
                <a:blip r:embed="rId2"/>
                <a:stretch>
                  <a:fillRect l="-999" t="-1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1190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Классификация задач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1364" y="1844824"/>
            <a:ext cx="1144927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200" dirty="0"/>
              <a:t>Если элементы последовательности не изменяются (не предусмотрено выполнение операции модификации элемента), то в названии задачи фигурирует слово </a:t>
            </a:r>
            <a:r>
              <a:rPr lang="ru-RU" sz="3200" b="1" dirty="0"/>
              <a:t>статическая</a:t>
            </a:r>
            <a:r>
              <a:rPr lang="ru-RU" sz="3200" dirty="0"/>
              <a:t> (англ. </a:t>
            </a:r>
            <a:r>
              <a:rPr lang="en-US" sz="3200" b="1" dirty="0"/>
              <a:t>static</a:t>
            </a:r>
            <a:r>
              <a:rPr lang="en-US" sz="3200" dirty="0"/>
              <a:t>)</a:t>
            </a:r>
            <a:r>
              <a:rPr lang="ru-RU" sz="3200" dirty="0"/>
              <a:t>, иначе– </a:t>
            </a:r>
            <a:r>
              <a:rPr lang="ru-RU" sz="3200" b="1" dirty="0"/>
              <a:t>динамическая</a:t>
            </a:r>
            <a:r>
              <a:rPr lang="ru-RU" sz="3200" dirty="0"/>
              <a:t> (англ. </a:t>
            </a:r>
            <a:r>
              <a:rPr lang="en-US" sz="3200" b="1" dirty="0"/>
              <a:t>dynamic</a:t>
            </a:r>
            <a:r>
              <a:rPr lang="en-US" sz="3200" dirty="0"/>
              <a:t>).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861198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Классификация задач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4029" y="1657546"/>
            <a:ext cx="909620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dirty="0"/>
              <a:t>Если сначала все интервальные запросы поступили (после чего они все могли быть проанализированы), а только потом формируются ответы на них, то говорят про </a:t>
            </a:r>
            <a:r>
              <a:rPr lang="ru-RU" sz="2800" b="1" dirty="0"/>
              <a:t>офлайн</a:t>
            </a:r>
            <a:r>
              <a:rPr lang="ru-RU" sz="2800" dirty="0"/>
              <a:t> (англ.</a:t>
            </a:r>
            <a:r>
              <a:rPr lang="en-US" sz="2800" b="1" dirty="0"/>
              <a:t>off line</a:t>
            </a:r>
            <a:r>
              <a:rPr lang="ru-RU" sz="2800" b="1" dirty="0"/>
              <a:t>)</a:t>
            </a:r>
            <a:r>
              <a:rPr lang="en-US" sz="2800" dirty="0"/>
              <a:t> </a:t>
            </a:r>
            <a:r>
              <a:rPr lang="ru-RU" sz="2800" dirty="0"/>
              <a:t>версию задачи.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0256894" y="1488751"/>
                <a:ext cx="106631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запрос</a:t>
                </a:r>
                <a:r>
                  <a:rPr lang="en-US" dirty="0"/>
                  <a:t>-</a:t>
                </a:r>
                <a:r>
                  <a:rPr lang="ru-RU" dirty="0"/>
                  <a:t>1</a:t>
                </a:r>
              </a:p>
              <a:p>
                <a:r>
                  <a:rPr lang="ru-RU" dirty="0"/>
                  <a:t>запрос</a:t>
                </a:r>
                <a:r>
                  <a:rPr lang="en-US" dirty="0"/>
                  <a:t>-</a:t>
                </a:r>
                <a:r>
                  <a:rPr lang="ru-RU" dirty="0"/>
                  <a:t>2</a:t>
                </a:r>
              </a:p>
              <a:p>
                <a:r>
                  <a:rPr lang="ru-RU" dirty="0"/>
                  <a:t>…</a:t>
                </a:r>
              </a:p>
              <a:p>
                <a:r>
                  <a:rPr lang="ru-RU" dirty="0"/>
                  <a:t>запрос-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6894" y="1488751"/>
                <a:ext cx="1066318" cy="1200329"/>
              </a:xfrm>
              <a:prstGeom prst="rect">
                <a:avLst/>
              </a:prstGeom>
              <a:blipFill>
                <a:blip r:embed="rId2"/>
                <a:stretch>
                  <a:fillRect l="-5172" t="-2538" r="-2874" b="-710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0256894" y="2720499"/>
                <a:ext cx="144016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ru-RU" b="1" dirty="0">
                    <a:solidFill>
                      <a:srgbClr val="0A0A0C"/>
                    </a:solidFill>
                  </a:rPr>
                  <a:t>ответ-1</a:t>
                </a:r>
              </a:p>
              <a:p>
                <a:pPr lvl="1"/>
                <a:r>
                  <a:rPr lang="ru-RU" b="1" dirty="0">
                    <a:solidFill>
                      <a:srgbClr val="0A0A0C"/>
                    </a:solidFill>
                  </a:rPr>
                  <a:t>ответ-2</a:t>
                </a:r>
              </a:p>
              <a:p>
                <a:pPr lvl="1"/>
                <a:r>
                  <a:rPr lang="ru-RU" b="1" dirty="0">
                    <a:solidFill>
                      <a:srgbClr val="0A0A0C"/>
                    </a:solidFill>
                  </a:rPr>
                  <a:t>…</a:t>
                </a:r>
              </a:p>
              <a:p>
                <a:pPr lvl="1"/>
                <a:r>
                  <a:rPr lang="ru-RU" b="1" dirty="0">
                    <a:solidFill>
                      <a:srgbClr val="0A0A0C"/>
                    </a:solidFill>
                  </a:rPr>
                  <a:t>ответ-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A0A0C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ru-RU" b="1" dirty="0">
                  <a:solidFill>
                    <a:srgbClr val="0A0A0C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6894" y="2720499"/>
                <a:ext cx="1440161" cy="1200329"/>
              </a:xfrm>
              <a:prstGeom prst="rect">
                <a:avLst/>
              </a:prstGeom>
              <a:blipFill>
                <a:blip r:embed="rId3"/>
                <a:stretch>
                  <a:fillRect t="-2538" b="-710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Прямая соединительная линия 8"/>
          <p:cNvCxnSpPr>
            <a:stCxn id="13" idx="1"/>
          </p:cNvCxnSpPr>
          <p:nvPr/>
        </p:nvCxnSpPr>
        <p:spPr>
          <a:xfrm>
            <a:off x="10227790" y="2671944"/>
            <a:ext cx="1469265" cy="11013"/>
          </a:xfrm>
          <a:prstGeom prst="line">
            <a:avLst/>
          </a:prstGeom>
          <a:ln w="28575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4801" y="3887982"/>
            <a:ext cx="909620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dirty="0"/>
              <a:t>Если же поступает запрос, сразу даётся на него ответ и только после ответа на предыдущий запрос идёт следующий запрос, то говорят про </a:t>
            </a:r>
            <a:r>
              <a:rPr lang="ru-RU" sz="2800" b="1" dirty="0"/>
              <a:t>онлайн</a:t>
            </a:r>
            <a:r>
              <a:rPr lang="ru-RU" sz="2800" dirty="0"/>
              <a:t> (англ. </a:t>
            </a:r>
            <a:r>
              <a:rPr lang="ru-RU" sz="2800" b="1" dirty="0"/>
              <a:t>о</a:t>
            </a:r>
            <a:r>
              <a:rPr lang="en-US" sz="2800" b="1" dirty="0" err="1"/>
              <a:t>nline</a:t>
            </a:r>
            <a:r>
              <a:rPr lang="ru-RU" sz="2800" b="1" dirty="0"/>
              <a:t>)</a:t>
            </a:r>
            <a:r>
              <a:rPr lang="en-US" sz="2800" dirty="0"/>
              <a:t> </a:t>
            </a:r>
            <a:r>
              <a:rPr lang="ru-RU" sz="2800" dirty="0"/>
              <a:t>версию задачи.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248630" y="4277404"/>
                <a:ext cx="1388522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запрос</a:t>
                </a:r>
                <a:r>
                  <a:rPr lang="en-US" dirty="0"/>
                  <a:t>-</a:t>
                </a:r>
                <a:r>
                  <a:rPr lang="ru-RU" dirty="0"/>
                  <a:t>1</a:t>
                </a:r>
              </a:p>
              <a:p>
                <a:pPr lvl="1"/>
                <a:r>
                  <a:rPr lang="ru-RU" b="1" dirty="0"/>
                  <a:t>ответ-1</a:t>
                </a:r>
              </a:p>
              <a:p>
                <a:r>
                  <a:rPr lang="ru-RU" dirty="0"/>
                  <a:t>запрос</a:t>
                </a:r>
                <a:r>
                  <a:rPr lang="en-US" dirty="0"/>
                  <a:t>-</a:t>
                </a:r>
                <a:r>
                  <a:rPr lang="ru-RU" dirty="0"/>
                  <a:t>2</a:t>
                </a:r>
              </a:p>
              <a:p>
                <a:pPr lvl="1"/>
                <a:r>
                  <a:rPr lang="ru-RU" b="1" dirty="0"/>
                  <a:t>ответ-2</a:t>
                </a:r>
              </a:p>
              <a:p>
                <a:r>
                  <a:rPr lang="ru-RU" dirty="0"/>
                  <a:t>…</a:t>
                </a:r>
              </a:p>
              <a:p>
                <a:r>
                  <a:rPr lang="ru-RU" dirty="0"/>
                  <a:t>запрос-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ru-RU" dirty="0"/>
              </a:p>
              <a:p>
                <a:pPr lvl="1"/>
                <a:r>
                  <a:rPr lang="ru-RU" b="1" dirty="0"/>
                  <a:t>ответ-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ru-RU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8630" y="4277404"/>
                <a:ext cx="1388522" cy="2031325"/>
              </a:xfrm>
              <a:prstGeom prst="rect">
                <a:avLst/>
              </a:prstGeom>
              <a:blipFill>
                <a:blip r:embed="rId4"/>
                <a:stretch>
                  <a:fillRect l="-3509" t="-1802" r="-2193" b="-3904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Прямоугольник 12"/>
          <p:cNvSpPr/>
          <p:nvPr/>
        </p:nvSpPr>
        <p:spPr>
          <a:xfrm>
            <a:off x="10227790" y="1455905"/>
            <a:ext cx="1498367" cy="24320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10227790" y="3984853"/>
            <a:ext cx="1469266" cy="23191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/>
        </p:nvSpPr>
        <p:spPr>
          <a:xfrm>
            <a:off x="10266511" y="570386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14029" y="5850331"/>
            <a:ext cx="88926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solidFill>
                  <a:srgbClr val="0070C0"/>
                </a:solidFill>
              </a:rPr>
              <a:t>Мы будем в нашей лекции рассматривать</a:t>
            </a:r>
            <a:r>
              <a:rPr lang="en-US" sz="2400" b="1" dirty="0">
                <a:solidFill>
                  <a:srgbClr val="0070C0"/>
                </a:solidFill>
              </a:rPr>
              <a:t> online </a:t>
            </a:r>
            <a:r>
              <a:rPr lang="ru-RU" sz="2400" b="1" dirty="0">
                <a:solidFill>
                  <a:srgbClr val="0070C0"/>
                </a:solidFill>
              </a:rPr>
              <a:t>версию задачи.</a:t>
            </a:r>
          </a:p>
        </p:txBody>
      </p:sp>
    </p:spTree>
    <p:extLst>
      <p:ext uri="{BB962C8B-B14F-4D97-AF65-F5344CB8AC3E}">
        <p14:creationId xmlns:p14="http://schemas.microsoft.com/office/powerpoint/2010/main" val="1365837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13" grpId="0" animBg="1"/>
      <p:bldP spid="14" grpId="0" animBg="1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702836" y="2348880"/>
                <a:ext cx="10145692" cy="892693"/>
              </a:xfrm>
            </p:spPr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ru-RU" dirty="0"/>
                  <a:t>Выполнить один любой интервальный запрос можно, конечно,  «в лоб» циклом по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элементам интервала — это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02836" y="2348880"/>
                <a:ext cx="10145692" cy="892693"/>
              </a:xfrm>
              <a:blipFill>
                <a:blip r:embed="rId2"/>
                <a:stretch>
                  <a:fillRect l="-1201" t="-10884" r="-1201" b="-15646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767408" y="3914385"/>
            <a:ext cx="58088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Можно ли это сделать быстрее?</a:t>
            </a:r>
          </a:p>
        </p:txBody>
      </p:sp>
    </p:spTree>
    <p:extLst>
      <p:ext uri="{BB962C8B-B14F-4D97-AF65-F5344CB8AC3E}">
        <p14:creationId xmlns:p14="http://schemas.microsoft.com/office/powerpoint/2010/main" val="2620177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Постановка задачи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97745" y="1436637"/>
            <a:ext cx="1112684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/>
              <a:t>Покажем (на примере задач о сумме и минимуме на интервале), что с помощью специальных структур:</a:t>
            </a:r>
          </a:p>
          <a:p>
            <a:pPr marL="914400" lvl="1" indent="-457200" algn="just">
              <a:buFont typeface="Wingdings" panose="05000000000000000000" pitchFamily="2" charset="2"/>
              <a:buChar char="q"/>
            </a:pPr>
            <a:r>
              <a:rPr lang="ru-RU" sz="2800" b="1" dirty="0">
                <a:solidFill>
                  <a:srgbClr val="FF0000"/>
                </a:solidFill>
              </a:rPr>
              <a:t>корневая эвристика</a:t>
            </a:r>
            <a:r>
              <a:rPr lang="en-US" sz="2800" b="1" dirty="0">
                <a:solidFill>
                  <a:srgbClr val="FF0000"/>
                </a:solidFill>
              </a:rPr>
              <a:t>;</a:t>
            </a:r>
            <a:r>
              <a:rPr lang="ru-RU" sz="2800" b="1" dirty="0">
                <a:solidFill>
                  <a:srgbClr val="FF0000"/>
                </a:solidFill>
              </a:rPr>
              <a:t> </a:t>
            </a:r>
          </a:p>
          <a:p>
            <a:pPr marL="914400" lvl="1" indent="-457200" algn="just">
              <a:buFont typeface="Wingdings" panose="05000000000000000000" pitchFamily="2" charset="2"/>
              <a:buChar char="q"/>
            </a:pPr>
            <a:r>
              <a:rPr lang="ru-RU" sz="2800" b="1" dirty="0">
                <a:solidFill>
                  <a:srgbClr val="FF0000"/>
                </a:solidFill>
              </a:rPr>
              <a:t>дерево отрезков</a:t>
            </a:r>
            <a:r>
              <a:rPr lang="en-US" sz="2800" b="1" dirty="0">
                <a:solidFill>
                  <a:srgbClr val="FF0000"/>
                </a:solidFill>
              </a:rPr>
              <a:t>;</a:t>
            </a:r>
            <a:r>
              <a:rPr lang="ru-RU" sz="2800" b="1" dirty="0">
                <a:solidFill>
                  <a:srgbClr val="FF0000"/>
                </a:solidFill>
              </a:rPr>
              <a:t> </a:t>
            </a:r>
          </a:p>
          <a:p>
            <a:pPr marL="914400" lvl="1" indent="-457200" algn="just">
              <a:buFont typeface="Wingdings" panose="05000000000000000000" pitchFamily="2" charset="2"/>
              <a:buChar char="q"/>
            </a:pPr>
            <a:r>
              <a:rPr lang="ru-RU" sz="2800" b="1" dirty="0">
                <a:solidFill>
                  <a:srgbClr val="FF0000"/>
                </a:solidFill>
              </a:rPr>
              <a:t>разрежённая таблица</a:t>
            </a:r>
            <a:r>
              <a:rPr lang="en-US" sz="2800" b="1" dirty="0">
                <a:solidFill>
                  <a:srgbClr val="FF0000"/>
                </a:solidFill>
              </a:rPr>
              <a:t>;</a:t>
            </a:r>
            <a:endParaRPr lang="ru-RU" sz="2800" b="1" dirty="0">
              <a:solidFill>
                <a:srgbClr val="FF0000"/>
              </a:solidFill>
            </a:endParaRPr>
          </a:p>
          <a:p>
            <a:pPr algn="just"/>
            <a:r>
              <a:rPr lang="ru-RU" sz="2800" dirty="0"/>
              <a:t>выполнить интервальный запрос  можно быстрее.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30518" y="4723062"/>
            <a:ext cx="111540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ru-RU" sz="28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65177" y="4221088"/>
            <a:ext cx="1115941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/>
            <a:r>
              <a:rPr lang="ru-RU" sz="2800" dirty="0"/>
              <a:t>При этом сначала над данными выполняют </a:t>
            </a:r>
            <a:r>
              <a:rPr lang="ru-RU" sz="2800" b="1" dirty="0" err="1"/>
              <a:t>препроцессинг</a:t>
            </a:r>
            <a:r>
              <a:rPr lang="ru-RU" sz="2800" b="1" dirty="0"/>
              <a:t> (</a:t>
            </a:r>
            <a:r>
              <a:rPr lang="ru-RU" sz="2800" b="1" dirty="0" err="1"/>
              <a:t>предподсчёт</a:t>
            </a:r>
            <a:r>
              <a:rPr lang="ru-RU" sz="2800" b="1" dirty="0"/>
              <a:t>) </a:t>
            </a:r>
            <a:r>
              <a:rPr lang="ru-RU" sz="2800" dirty="0"/>
              <a:t>−</a:t>
            </a:r>
            <a:r>
              <a:rPr lang="ru-RU" sz="2800" b="1" dirty="0"/>
              <a:t> </a:t>
            </a:r>
            <a:r>
              <a:rPr lang="ru-RU" sz="2800" dirty="0"/>
              <a:t>предварительная подготовка, которая в последующем позволит эффективно обрабатывать запросы. Очевидно, что время </a:t>
            </a:r>
            <a:r>
              <a:rPr lang="ru-RU" sz="2800" dirty="0" err="1"/>
              <a:t>предподсчёта</a:t>
            </a:r>
            <a:r>
              <a:rPr lang="ru-RU" sz="2800" dirty="0"/>
              <a:t> должно быть не больше, чем суммарное время ответа на все запросы.</a:t>
            </a: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297745" y="4293096"/>
            <a:ext cx="0" cy="217476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0277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Задача </a:t>
            </a:r>
            <a:r>
              <a:rPr lang="en-US" sz="3200" dirty="0"/>
              <a:t>RSQ</a:t>
            </a: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586901" y="1600203"/>
                <a:ext cx="10981708" cy="4565101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400" b="1" dirty="0"/>
                  <a:t>RSQ — Range Sum Query</a:t>
                </a:r>
                <a:r>
                  <a:rPr lang="ru-RU" sz="2400" b="1" dirty="0"/>
                  <a:t> (запрос суммы на отрезке)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r>
                  <a:rPr lang="ru-RU" sz="2400" dirty="0"/>
                  <a:t>Задана последовательность из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2400" dirty="0"/>
                  <a:t> чисел: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i="1" dirty="0"/>
              </a:p>
              <a:p>
                <a:r>
                  <a:rPr lang="ru-RU" sz="2400" dirty="0"/>
                  <a:t>Поступают запросы двух типов</a:t>
                </a:r>
                <a:r>
                  <a:rPr lang="en-US" sz="2400" dirty="0"/>
                  <a:t>:</a:t>
                </a:r>
                <a:endParaRPr lang="ru-RU" sz="2400" dirty="0"/>
              </a:p>
              <a:p>
                <a:pPr lvl="2"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ru-RU" sz="2400" dirty="0"/>
                  <a:t>запрос модификации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𝐀𝐝𝐝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2400" dirty="0"/>
                  <a:t>— </a:t>
                </a:r>
                <a:r>
                  <a:rPr lang="ru-RU" sz="2400" dirty="0"/>
                  <a:t>прибавить к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-</a:t>
                </a:r>
                <a:r>
                  <a:rPr lang="ru-RU" sz="2400" dirty="0" err="1"/>
                  <a:t>му</a:t>
                </a:r>
                <a:r>
                  <a:rPr lang="ru-RU" sz="2400" dirty="0"/>
                  <a:t> элементу число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i="1" dirty="0">
                    <a:latin typeface="Consolas" panose="020B0609020204030204" pitchFamily="49" charset="0"/>
                  </a:rPr>
                  <a:t>;</a:t>
                </a:r>
              </a:p>
              <a:p>
                <a:pPr lvl="2">
                  <a:spcAft>
                    <a:spcPts val="800"/>
                  </a:spcAft>
                  <a:buFont typeface="Wingdings" panose="05000000000000000000" pitchFamily="2" charset="2"/>
                  <a:buChar char="ü"/>
                </a:pPr>
                <a:r>
                  <a:rPr lang="ru-RU" sz="2400" dirty="0"/>
                  <a:t>запрос суммы</a:t>
                </a:r>
                <a:r>
                  <a:rPr lang="en-US" sz="2400" i="1" dirty="0"/>
                  <a:t>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𝐅𝐢𝐧𝐝𝐒𝐮𝐦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𝒍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US" sz="2400" dirty="0"/>
                  <a:t>— </a:t>
                </a:r>
                <a:r>
                  <a:rPr lang="ru-RU" sz="2400" dirty="0"/>
                  <a:t>вычислить сумму на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en-US" sz="24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86901" y="1600203"/>
                <a:ext cx="10981708" cy="4565101"/>
              </a:xfrm>
              <a:blipFill>
                <a:blip r:embed="rId2"/>
                <a:stretch>
                  <a:fillRect l="-832" t="-1070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7072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Задача </a:t>
            </a:r>
            <a:r>
              <a:rPr lang="en-US" sz="2800" dirty="0"/>
              <a:t>RSQ</a:t>
            </a:r>
            <a:r>
              <a:rPr lang="ru-RU" sz="2800" dirty="0"/>
              <a:t>. Обычный массив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3"/>
              <p:cNvSpPr>
                <a:spLocks noGrp="1"/>
              </p:cNvSpPr>
              <p:nvPr>
                <p:ph sz="half" idx="1"/>
              </p:nvPr>
            </p:nvSpPr>
            <p:spPr>
              <a:xfrm>
                <a:off x="179600" y="1340768"/>
                <a:ext cx="5040560" cy="2804337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ru-RU" dirty="0"/>
                  <a:t>Используем </a:t>
                </a:r>
                <a:r>
                  <a:rPr lang="ru-RU" b="1" dirty="0"/>
                  <a:t>обычный массив</a:t>
                </a:r>
                <a:r>
                  <a:rPr lang="ru-RU" dirty="0"/>
                  <a:t>, в котором размещены элементы:</a:t>
                </a:r>
                <a:endParaRPr lang="ru-RU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Add(3, 2)</a:t>
                </a:r>
              </a:p>
              <a:p>
                <a:pPr marL="457200" lvl="1" indent="0">
                  <a:buNone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Add(2, </a:t>
                </a:r>
                <a:r>
                  <a:rPr lang="ru-R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5)</a:t>
                </a:r>
              </a:p>
              <a:p>
                <a:pPr marL="457200" lvl="1" indent="0">
                  <a:buNone/>
                </a:pPr>
                <a:r>
                  <a:rPr lang="en-US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FindSum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(1, 5)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11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+5=1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" name="Объект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79600" y="1340768"/>
                <a:ext cx="5040560" cy="2804337"/>
              </a:xfrm>
              <a:blipFill rotWithShape="0">
                <a:blip r:embed="rId2"/>
                <a:stretch>
                  <a:fillRect l="-2177" t="-173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0753189"/>
              </p:ext>
            </p:extLst>
          </p:nvPr>
        </p:nvGraphicFramePr>
        <p:xfrm>
          <a:off x="5554002" y="1566704"/>
          <a:ext cx="5384799" cy="111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9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92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92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92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92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92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48680">
                <a:tc>
                  <a:txBody>
                    <a:bodyPr/>
                    <a:lstStyle/>
                    <a:p>
                      <a:pPr algn="ctr"/>
                      <a:r>
                        <a:rPr lang="ru-RU" sz="2800" b="1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800" b="1" i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1" i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ru-RU" sz="2800" b="1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i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i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i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i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i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i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i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i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845905"/>
              </p:ext>
            </p:extLst>
          </p:nvPr>
        </p:nvGraphicFramePr>
        <p:xfrm>
          <a:off x="4127745" y="4669745"/>
          <a:ext cx="3048925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0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</a:rPr>
                        <a:t>модификация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r>
                        <a:rPr lang="ru-RU" sz="1800" b="0" dirty="0">
                          <a:solidFill>
                            <a:schemeClr val="tx1"/>
                          </a:solidFill>
                        </a:rPr>
                        <a:t>сумма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798466" y="4896112"/>
            <a:ext cx="21848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Время работы: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7896634" y="4896112"/>
            <a:ext cx="3042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хотелось бы быстрее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6290" y="1725494"/>
            <a:ext cx="495649" cy="461665"/>
          </a:xfrm>
          <a:prstGeom prst="rect">
            <a:avLst/>
          </a:prstGeom>
          <a:solidFill>
            <a:srgbClr val="0A0A0C"/>
          </a:solidFill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33107" y="1707895"/>
            <a:ext cx="360040" cy="461665"/>
          </a:xfrm>
          <a:prstGeom prst="rect">
            <a:avLst/>
          </a:prstGeom>
          <a:solidFill>
            <a:srgbClr val="0A0A0C"/>
          </a:solidFill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7" name="Левая фигурная скобка 16"/>
          <p:cNvSpPr/>
          <p:nvPr/>
        </p:nvSpPr>
        <p:spPr>
          <a:xfrm rot="16200000">
            <a:off x="7642234" y="1388371"/>
            <a:ext cx="432048" cy="3024336"/>
          </a:xfrm>
          <a:prstGeom prst="leftBrace">
            <a:avLst/>
          </a:prstGeom>
          <a:ln w="28575"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Прямоугольник 17"/>
              <p:cNvSpPr/>
              <p:nvPr/>
            </p:nvSpPr>
            <p:spPr>
              <a:xfrm>
                <a:off x="10938801" y="2315182"/>
                <a:ext cx="1308429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Прямоугольник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8801" y="2315182"/>
                <a:ext cx="130842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Прямая соединительная линия 19"/>
          <p:cNvCxnSpPr/>
          <p:nvPr/>
        </p:nvCxnSpPr>
        <p:spPr>
          <a:xfrm>
            <a:off x="7138178" y="1725494"/>
            <a:ext cx="216024" cy="444066"/>
          </a:xfrm>
          <a:prstGeom prst="line">
            <a:avLst/>
          </a:prstGeom>
          <a:ln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7930266" y="1725494"/>
            <a:ext cx="216024" cy="444066"/>
          </a:xfrm>
          <a:prstGeom prst="line">
            <a:avLst/>
          </a:prstGeom>
          <a:ln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 стрелкой 5"/>
          <p:cNvCxnSpPr/>
          <p:nvPr/>
        </p:nvCxnSpPr>
        <p:spPr>
          <a:xfrm flipH="1">
            <a:off x="7320136" y="5262916"/>
            <a:ext cx="432048" cy="18230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F6ECBF80-97FC-9499-1019-CCD3EF0563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2119481"/>
              </p:ext>
            </p:extLst>
          </p:nvPr>
        </p:nvGraphicFramePr>
        <p:xfrm>
          <a:off x="6256338" y="4705351"/>
          <a:ext cx="564921" cy="386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61760" imgH="520560" progId="Equation.DSMT4">
                  <p:embed/>
                </p:oleObj>
              </mc:Choice>
              <mc:Fallback>
                <p:oleObj name="Equation" r:id="rId5" imgW="76176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56338" y="4705351"/>
                        <a:ext cx="564921" cy="3867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0E61BB69-F1BC-7428-1C76-D4637CE4D9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3047245"/>
              </p:ext>
            </p:extLst>
          </p:nvPr>
        </p:nvGraphicFramePr>
        <p:xfrm>
          <a:off x="6258697" y="5181211"/>
          <a:ext cx="629391" cy="3909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38080" imgH="520560" progId="Equation.DSMT4">
                  <p:embed/>
                </p:oleObj>
              </mc:Choice>
              <mc:Fallback>
                <p:oleObj name="Equation" r:id="rId7" imgW="83808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58697" y="5181211"/>
                        <a:ext cx="629391" cy="3909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747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 animBg="1"/>
      <p:bldP spid="16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79925" y="116632"/>
            <a:ext cx="7440148" cy="954360"/>
          </a:xfrm>
        </p:spPr>
        <p:txBody>
          <a:bodyPr>
            <a:noAutofit/>
          </a:bodyPr>
          <a:lstStyle/>
          <a:p>
            <a:r>
              <a:rPr lang="ru-RU" sz="2800" dirty="0"/>
              <a:t>Задача </a:t>
            </a:r>
            <a:r>
              <a:rPr lang="en-US" sz="2800" dirty="0"/>
              <a:t>RSQ</a:t>
            </a:r>
            <a:r>
              <a:rPr lang="ru-RU" sz="2800" dirty="0"/>
              <a:t>. Префиксные суммы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248349" y="2051873"/>
                <a:ext cx="9376043" cy="4525963"/>
              </a:xfrm>
            </p:spPr>
            <p:txBody>
              <a:bodyPr>
                <a:normAutofit/>
              </a:bodyPr>
              <a:lstStyle/>
              <a:p>
                <a:pPr marL="400050" lvl="1" indent="0">
                  <a:buNone/>
                </a:pPr>
                <a:r>
                  <a:rPr lang="ru-RU" dirty="0"/>
                  <a:t>Введём понятие частичной суммы, или суммы на префиксе:</a:t>
                </a:r>
                <a:br>
                  <a:rPr lang="ru-RU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ru-RU" dirty="0"/>
              </a:p>
              <a:p>
                <a:pPr marL="400050" lvl="1" indent="0">
                  <a:buNone/>
                </a:pPr>
                <a:r>
                  <a:rPr lang="ru-RU" dirty="0"/>
                  <a:t>По исходной последовательности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</a:t>
                </a:r>
                <a:r>
                  <a:rPr lang="ru-RU" b="1" dirty="0">
                    <a:solidFill>
                      <a:schemeClr val="tx1"/>
                    </a:solidFill>
                  </a:rPr>
                  <a:t>массив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</a:rPr>
                  <a:t> </a:t>
                </a:r>
                <a:r>
                  <a:rPr lang="ru-RU" b="1" dirty="0">
                    <a:solidFill>
                      <a:schemeClr val="tx1"/>
                    </a:solidFill>
                  </a:rPr>
                  <a:t>строится за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d>
                      <m:d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ru-RU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используя следующее рекуррентное соотношение</m:t>
                    </m:r>
                  </m:oMath>
                </a14:m>
                <a:r>
                  <a:rPr lang="ru-RU" b="0" dirty="0"/>
                  <a:t>:</a:t>
                </a:r>
                <a:br>
                  <a:rPr lang="en-US" b="0" dirty="0"/>
                </a:br>
                <a:endParaRPr lang="ru-RU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≔0,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=1,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48349" y="2051873"/>
                <a:ext cx="9376043" cy="4525963"/>
              </a:xfrm>
              <a:blipFill>
                <a:blip r:embed="rId2"/>
                <a:stretch>
                  <a:fillRect t="-107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2344082" y="5229200"/>
            <a:ext cx="5184576" cy="9361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63352" y="1528653"/>
            <a:ext cx="39383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/>
              <a:t>Выполним </a:t>
            </a:r>
            <a:r>
              <a:rPr lang="ru-RU" sz="2800" b="1" dirty="0" err="1"/>
              <a:t>предподсчёт</a:t>
            </a:r>
            <a:endParaRPr lang="ru-RU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Таблица 8">
                <a:extLst>
                  <a:ext uri="{FF2B5EF4-FFF2-40B4-BE49-F238E27FC236}">
                    <a16:creationId xmlns:a16="http://schemas.microsoft.com/office/drawing/2014/main" id="{C711765B-88BC-7C53-EC04-7818E9E380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4922339"/>
                  </p:ext>
                </p:extLst>
              </p:nvPr>
            </p:nvGraphicFramePr>
            <p:xfrm>
              <a:off x="7528658" y="2916916"/>
              <a:ext cx="3997152" cy="10881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66192">
                      <a:extLst>
                        <a:ext uri="{9D8B030D-6E8A-4147-A177-3AD203B41FA5}">
                          <a16:colId xmlns:a16="http://schemas.microsoft.com/office/drawing/2014/main" val="2125462147"/>
                        </a:ext>
                      </a:extLst>
                    </a:gridCol>
                    <a:gridCol w="666192">
                      <a:extLst>
                        <a:ext uri="{9D8B030D-6E8A-4147-A177-3AD203B41FA5}">
                          <a16:colId xmlns:a16="http://schemas.microsoft.com/office/drawing/2014/main" val="3622576698"/>
                        </a:ext>
                      </a:extLst>
                    </a:gridCol>
                    <a:gridCol w="666192">
                      <a:extLst>
                        <a:ext uri="{9D8B030D-6E8A-4147-A177-3AD203B41FA5}">
                          <a16:colId xmlns:a16="http://schemas.microsoft.com/office/drawing/2014/main" val="4021397687"/>
                        </a:ext>
                      </a:extLst>
                    </a:gridCol>
                    <a:gridCol w="666192">
                      <a:extLst>
                        <a:ext uri="{9D8B030D-6E8A-4147-A177-3AD203B41FA5}">
                          <a16:colId xmlns:a16="http://schemas.microsoft.com/office/drawing/2014/main" val="1889695701"/>
                        </a:ext>
                      </a:extLst>
                    </a:gridCol>
                    <a:gridCol w="666192">
                      <a:extLst>
                        <a:ext uri="{9D8B030D-6E8A-4147-A177-3AD203B41FA5}">
                          <a16:colId xmlns:a16="http://schemas.microsoft.com/office/drawing/2014/main" val="4219784810"/>
                        </a:ext>
                      </a:extLst>
                    </a:gridCol>
                    <a:gridCol w="666192">
                      <a:extLst>
                        <a:ext uri="{9D8B030D-6E8A-4147-A177-3AD203B41FA5}">
                          <a16:colId xmlns:a16="http://schemas.microsoft.com/office/drawing/2014/main" val="2250349259"/>
                        </a:ext>
                      </a:extLst>
                    </a:gridCol>
                  </a:tblGrid>
                  <a:tr h="432979">
                    <a:tc>
                      <a:txBody>
                        <a:bodyPr/>
                        <a:lstStyle/>
                        <a:p>
                          <a:endParaRPr lang="ru-BY" sz="160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60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60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60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60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33690168"/>
                      </a:ext>
                    </a:extLst>
                  </a:tr>
                  <a:tr h="655169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0</a:t>
                          </a:r>
                          <a:endParaRPr lang="ru-BY" sz="16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1</a:t>
                          </a:r>
                          <a:endParaRPr lang="ru-BY" sz="16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2</a:t>
                          </a:r>
                          <a:endParaRPr lang="ru-BY" sz="16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…</a:t>
                          </a:r>
                          <a:endParaRPr lang="ru-BY" sz="16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ru-BY" sz="1600" dirty="0"/>
                        </a:p>
                        <a:p>
                          <a:endParaRPr lang="ru-BY" sz="16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ru-BY" sz="16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01560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Таблица 8">
                <a:extLst>
                  <a:ext uri="{FF2B5EF4-FFF2-40B4-BE49-F238E27FC236}">
                    <a16:creationId xmlns:a16="http://schemas.microsoft.com/office/drawing/2014/main" id="{C711765B-88BC-7C53-EC04-7818E9E380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4922339"/>
                  </p:ext>
                </p:extLst>
              </p:nvPr>
            </p:nvGraphicFramePr>
            <p:xfrm>
              <a:off x="7528658" y="2916916"/>
              <a:ext cx="3997152" cy="10881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66192">
                      <a:extLst>
                        <a:ext uri="{9D8B030D-6E8A-4147-A177-3AD203B41FA5}">
                          <a16:colId xmlns:a16="http://schemas.microsoft.com/office/drawing/2014/main" val="2125462147"/>
                        </a:ext>
                      </a:extLst>
                    </a:gridCol>
                    <a:gridCol w="666192">
                      <a:extLst>
                        <a:ext uri="{9D8B030D-6E8A-4147-A177-3AD203B41FA5}">
                          <a16:colId xmlns:a16="http://schemas.microsoft.com/office/drawing/2014/main" val="3622576698"/>
                        </a:ext>
                      </a:extLst>
                    </a:gridCol>
                    <a:gridCol w="666192">
                      <a:extLst>
                        <a:ext uri="{9D8B030D-6E8A-4147-A177-3AD203B41FA5}">
                          <a16:colId xmlns:a16="http://schemas.microsoft.com/office/drawing/2014/main" val="4021397687"/>
                        </a:ext>
                      </a:extLst>
                    </a:gridCol>
                    <a:gridCol w="666192">
                      <a:extLst>
                        <a:ext uri="{9D8B030D-6E8A-4147-A177-3AD203B41FA5}">
                          <a16:colId xmlns:a16="http://schemas.microsoft.com/office/drawing/2014/main" val="1889695701"/>
                        </a:ext>
                      </a:extLst>
                    </a:gridCol>
                    <a:gridCol w="666192">
                      <a:extLst>
                        <a:ext uri="{9D8B030D-6E8A-4147-A177-3AD203B41FA5}">
                          <a16:colId xmlns:a16="http://schemas.microsoft.com/office/drawing/2014/main" val="4219784810"/>
                        </a:ext>
                      </a:extLst>
                    </a:gridCol>
                    <a:gridCol w="666192">
                      <a:extLst>
                        <a:ext uri="{9D8B030D-6E8A-4147-A177-3AD203B41FA5}">
                          <a16:colId xmlns:a16="http://schemas.microsoft.com/office/drawing/2014/main" val="2250349259"/>
                        </a:ext>
                      </a:extLst>
                    </a:gridCol>
                  </a:tblGrid>
                  <a:tr h="432979">
                    <a:tc>
                      <a:txBody>
                        <a:bodyPr/>
                        <a:lstStyle/>
                        <a:p>
                          <a:endParaRPr lang="ru-BY" sz="160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60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60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60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60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33690168"/>
                      </a:ext>
                    </a:extLst>
                  </a:tr>
                  <a:tr h="655169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0</a:t>
                          </a:r>
                          <a:endParaRPr lang="ru-BY" sz="16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1</a:t>
                          </a:r>
                          <a:endParaRPr lang="ru-BY" sz="16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2</a:t>
                          </a:r>
                          <a:endParaRPr lang="ru-BY" sz="16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…</a:t>
                          </a:r>
                          <a:endParaRPr lang="ru-BY" sz="16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99091" t="-66667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03670" t="-66667" r="-9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56000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Левая фигурная скобка 8">
            <a:extLst>
              <a:ext uri="{FF2B5EF4-FFF2-40B4-BE49-F238E27FC236}">
                <a16:creationId xmlns:a16="http://schemas.microsoft.com/office/drawing/2014/main" id="{DD818793-2CA7-8A62-2109-12FBAC1A1A42}"/>
              </a:ext>
            </a:extLst>
          </p:cNvPr>
          <p:cNvSpPr/>
          <p:nvPr/>
        </p:nvSpPr>
        <p:spPr>
          <a:xfrm rot="16200000">
            <a:off x="8966681" y="1968026"/>
            <a:ext cx="443824" cy="3319870"/>
          </a:xfrm>
          <a:prstGeom prst="leftBrace">
            <a:avLst/>
          </a:prstGeom>
          <a:ln w="28575"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4439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79925" y="116632"/>
            <a:ext cx="7440148" cy="954360"/>
          </a:xfrm>
        </p:spPr>
        <p:txBody>
          <a:bodyPr>
            <a:noAutofit/>
          </a:bodyPr>
          <a:lstStyle/>
          <a:p>
            <a:r>
              <a:rPr lang="ru-RU" sz="2800" dirty="0"/>
              <a:t>Задача </a:t>
            </a:r>
            <a:r>
              <a:rPr lang="en-US" sz="2800" dirty="0"/>
              <a:t>RSQ</a:t>
            </a:r>
            <a:r>
              <a:rPr lang="ru-RU" sz="2800" dirty="0"/>
              <a:t>.  Префиксные суммы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73104" y="2971143"/>
                <a:ext cx="23560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104" y="2971143"/>
                <a:ext cx="235602" cy="369332"/>
              </a:xfrm>
              <a:prstGeom prst="rect">
                <a:avLst/>
              </a:prstGeom>
              <a:blipFill>
                <a:blip r:embed="rId2"/>
                <a:stretch>
                  <a:fillRect l="-39474" r="-36842" b="-655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73104" y="4091342"/>
                <a:ext cx="21002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104" y="4091342"/>
                <a:ext cx="210021" cy="369332"/>
              </a:xfrm>
              <a:prstGeom prst="rect">
                <a:avLst/>
              </a:prstGeom>
              <a:blipFill>
                <a:blip r:embed="rId3"/>
                <a:stretch>
                  <a:fillRect l="-44118" r="-35294" b="-655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Объект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962697865"/>
                  </p:ext>
                </p:extLst>
              </p:nvPr>
            </p:nvGraphicFramePr>
            <p:xfrm>
              <a:off x="695400" y="2759621"/>
              <a:ext cx="7317542" cy="17693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333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2202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2202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2202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2202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2202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922029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922029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6881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25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R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R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𝒍</m:t>
                                </m:r>
                                <m:r>
                                  <a:rPr lang="en-US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ru-RU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  <a:endParaRPr lang="ru-RU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ru-RU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rgbClr val="FF0000"/>
                              </a:solidFill>
                            </a:rPr>
                            <a:t>5</a:t>
                          </a:r>
                          <a:endParaRPr lang="ru-RU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  <m:r>
                                  <a:rPr lang="en-US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ru-RU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7</a:t>
                          </a:r>
                          <a:endParaRPr lang="ru-R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15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u="sng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  <a:endParaRPr lang="ru-RU" sz="2800" b="1" u="sng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19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24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u="sng" dirty="0">
                              <a:solidFill>
                                <a:srgbClr val="FF0000"/>
                              </a:solidFill>
                            </a:rPr>
                            <a:t>26</a:t>
                          </a:r>
                          <a:endParaRPr lang="ru-RU" sz="2800" b="1" u="sng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32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Объект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962697865"/>
                  </p:ext>
                </p:extLst>
              </p:nvPr>
            </p:nvGraphicFramePr>
            <p:xfrm>
              <a:off x="695400" y="2759621"/>
              <a:ext cx="7317542" cy="17693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333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2202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2202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2202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2202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2202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922029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922029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6881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R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ru-R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94702" t="-190000" r="-502649" b="-21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  <a:endParaRPr lang="ru-RU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ru-RU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>
                              <a:solidFill>
                                <a:srgbClr val="FF0000"/>
                              </a:solidFill>
                            </a:rPr>
                            <a:t>5</a:t>
                          </a:r>
                          <a:endParaRPr lang="ru-RU" b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91447" t="-190000" r="-100658" b="-21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7</a:t>
                          </a:r>
                          <a:endParaRPr lang="ru-RU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15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u="sng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  <a:endParaRPr lang="ru-RU" sz="2800" b="1" u="sng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19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24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u="sng" dirty="0">
                              <a:solidFill>
                                <a:srgbClr val="FF0000"/>
                              </a:solidFill>
                            </a:rPr>
                            <a:t>26</a:t>
                          </a:r>
                          <a:endParaRPr lang="ru-RU" sz="2800" b="1" u="sng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32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39852" y="1412884"/>
                <a:ext cx="38849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2400" dirty="0">
                    <a:solidFill>
                      <a:schemeClr val="tx1"/>
                    </a:solidFill>
                  </a:rPr>
                  <a:t>Сумма на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ru-RU" sz="2400" dirty="0">
                    <a:solidFill>
                      <a:schemeClr val="tx1"/>
                    </a:solidFill>
                  </a:rPr>
                  <a:t> равна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ru-R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852" y="1412884"/>
                <a:ext cx="3884974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2355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Прямоугольник 14"/>
              <p:cNvSpPr/>
              <p:nvPr/>
            </p:nvSpPr>
            <p:spPr>
              <a:xfrm>
                <a:off x="8420891" y="3669221"/>
                <a:ext cx="3524354" cy="8224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FindSum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2, 6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=26−3=23</m:t>
                      </m:r>
                    </m:oMath>
                  </m:oMathPara>
                </a14:m>
                <a:endParaRPr lang="en-US" sz="24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15" name="Прямоугольник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0891" y="3669221"/>
                <a:ext cx="3524354" cy="822469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Левая фигурная скобка 15"/>
          <p:cNvSpPr/>
          <p:nvPr/>
        </p:nvSpPr>
        <p:spPr>
          <a:xfrm rot="5400000">
            <a:off x="3038189" y="-363329"/>
            <a:ext cx="722377" cy="5525344"/>
          </a:xfrm>
          <a:prstGeom prst="leftBrace">
            <a:avLst>
              <a:gd name="adj1" fmla="val 8333"/>
              <a:gd name="adj2" fmla="val 49437"/>
            </a:avLst>
          </a:prstGeom>
          <a:ln w="19050"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Левая фигурная скобка 16"/>
          <p:cNvSpPr/>
          <p:nvPr/>
        </p:nvSpPr>
        <p:spPr>
          <a:xfrm rot="5400000">
            <a:off x="1423108" y="1713949"/>
            <a:ext cx="259270" cy="1832075"/>
          </a:xfrm>
          <a:prstGeom prst="leftBrace">
            <a:avLst>
              <a:gd name="adj1" fmla="val 8333"/>
              <a:gd name="adj2" fmla="val 50416"/>
            </a:avLst>
          </a:prstGeom>
          <a:ln w="19050"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/>
          <p:cNvSpPr txBox="1"/>
          <p:nvPr/>
        </p:nvSpPr>
        <p:spPr>
          <a:xfrm>
            <a:off x="654894" y="5225222"/>
            <a:ext cx="34013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Время на запрос суммы:</a:t>
            </a:r>
            <a:endParaRPr lang="ru-RU" dirty="0"/>
          </a:p>
        </p:txBody>
      </p:sp>
      <p:graphicFrame>
        <p:nvGraphicFramePr>
          <p:cNvPr id="19" name="Объект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9727771"/>
              </p:ext>
            </p:extLst>
          </p:nvPr>
        </p:nvGraphicFramePr>
        <p:xfrm>
          <a:off x="4324826" y="5166187"/>
          <a:ext cx="7747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74360" imgH="520560" progId="Equation.DSMT4">
                  <p:embed/>
                </p:oleObj>
              </mc:Choice>
              <mc:Fallback>
                <p:oleObj name="Equation" r:id="rId7" imgW="774360" imgH="520560" progId="Equation.DSMT4">
                  <p:embed/>
                  <p:pic>
                    <p:nvPicPr>
                      <p:cNvPr id="19" name="Объект 1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826" y="5166187"/>
                        <a:ext cx="7747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47534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79925" y="116632"/>
            <a:ext cx="7440148" cy="954360"/>
          </a:xfrm>
        </p:spPr>
        <p:txBody>
          <a:bodyPr>
            <a:noAutofit/>
          </a:bodyPr>
          <a:lstStyle/>
          <a:p>
            <a:r>
              <a:rPr lang="ru-RU" sz="2800" dirty="0"/>
              <a:t>Задача </a:t>
            </a:r>
            <a:r>
              <a:rPr lang="en-US" sz="2800" dirty="0"/>
              <a:t>RSQ</a:t>
            </a:r>
            <a:r>
              <a:rPr lang="ru-RU" sz="2800" dirty="0"/>
              <a:t>. Префиксные суммы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52832" y="2204864"/>
                <a:ext cx="23560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832" y="2204864"/>
                <a:ext cx="235602" cy="369332"/>
              </a:xfrm>
              <a:prstGeom prst="rect">
                <a:avLst/>
              </a:prstGeom>
              <a:blipFill>
                <a:blip r:embed="rId2"/>
                <a:stretch>
                  <a:fillRect l="-35897" r="-35897" b="-666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27111" y="3270688"/>
                <a:ext cx="21002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111" y="3270688"/>
                <a:ext cx="210021" cy="369332"/>
              </a:xfrm>
              <a:prstGeom prst="rect">
                <a:avLst/>
              </a:prstGeom>
              <a:blipFill>
                <a:blip r:embed="rId3"/>
                <a:stretch>
                  <a:fillRect l="-44118" r="-35294" b="-666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9634066"/>
              </p:ext>
            </p:extLst>
          </p:nvPr>
        </p:nvGraphicFramePr>
        <p:xfrm>
          <a:off x="1001528" y="2060848"/>
          <a:ext cx="7376232" cy="1769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2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20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20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20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20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20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8101"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2800" b="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2800" b="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0" u="none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ru-RU" sz="2800" b="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sz="2800" b="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sz="2800" b="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2800" b="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sz="2800" b="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b="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580">
                <a:tc>
                  <a:txBody>
                    <a:bodyPr/>
                    <a:lstStyle/>
                    <a:p>
                      <a:pPr algn="ctr"/>
                      <a:r>
                        <a:rPr lang="en-US" b="0" u="none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u="none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u="none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u="none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RU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u="none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RU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u="none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u="none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u="none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b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5441"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2800" b="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2800" b="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u="none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RU" sz="2800" b="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0" u="none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ru-RU" sz="2800" b="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0" u="none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ru-RU" sz="2800" b="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0" u="none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ru-RU" sz="2800" b="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0" u="none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ru-RU" sz="2800" b="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0" u="none" dirty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ru-RU" sz="2800" b="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39852" y="1412884"/>
                <a:ext cx="149912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𝐀𝐝𝐝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852" y="1412884"/>
                <a:ext cx="1499128" cy="461665"/>
              </a:xfrm>
              <a:prstGeom prst="rect">
                <a:avLst/>
              </a:prstGeom>
              <a:blipFill rotWithShape="0">
                <a:blip r:embed="rId5"/>
                <a:stretch>
                  <a:fillRect r="-813" b="-171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Прямоугольник 14"/>
              <p:cNvSpPr/>
              <p:nvPr/>
            </p:nvSpPr>
            <p:spPr>
              <a:xfrm>
                <a:off x="9016293" y="2343363"/>
                <a:ext cx="162166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0" i="0" smtClean="0">
                          <a:latin typeface="Cambria Math" panose="02040503050406030204" pitchFamily="18" charset="0"/>
                        </a:rPr>
                        <m:t>А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𝑑𝑑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4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15" name="Прямоугольник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6293" y="2343363"/>
                <a:ext cx="1621661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1007940" y="4822295"/>
            <a:ext cx="4356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Время на запрос модификации:</a:t>
            </a:r>
            <a:endParaRPr lang="ru-RU" dirty="0"/>
          </a:p>
        </p:txBody>
      </p:sp>
      <p:graphicFrame>
        <p:nvGraphicFramePr>
          <p:cNvPr id="19" name="Объект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6872243"/>
              </p:ext>
            </p:extLst>
          </p:nvPr>
        </p:nvGraphicFramePr>
        <p:xfrm>
          <a:off x="5467031" y="4820006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38080" imgH="520560" progId="Equation.DSMT4">
                  <p:embed/>
                </p:oleObj>
              </mc:Choice>
              <mc:Fallback>
                <p:oleObj name="Equation" r:id="rId7" imgW="838080" imgH="520560" progId="Equation.DSMT4">
                  <p:embed/>
                  <p:pic>
                    <p:nvPicPr>
                      <p:cNvPr id="19" name="Объект 1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67031" y="4820006"/>
                        <a:ext cx="838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287688" y="2204864"/>
            <a:ext cx="444352" cy="400110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10</a:t>
            </a:r>
            <a:endParaRPr lang="ru-RU" sz="2000" b="1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45292" y="3262202"/>
            <a:ext cx="444352" cy="400110"/>
          </a:xfrm>
          <a:prstGeom prst="rect">
            <a:avLst/>
          </a:prstGeom>
          <a:solidFill>
            <a:schemeClr val="bg2">
              <a:lumMod val="10000"/>
            </a:schemeClr>
          </a:solidFill>
          <a:ln w="28575">
            <a:solidFill>
              <a:srgbClr val="0A0A0C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13</a:t>
            </a:r>
            <a:endParaRPr lang="ru-RU" sz="2000" b="1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59896" y="3262202"/>
            <a:ext cx="444352" cy="400110"/>
          </a:xfrm>
          <a:prstGeom prst="rect">
            <a:avLst/>
          </a:prstGeom>
          <a:solidFill>
            <a:schemeClr val="bg2">
              <a:lumMod val="10000"/>
            </a:schemeClr>
          </a:solidFill>
          <a:ln w="28575">
            <a:solidFill>
              <a:srgbClr val="0A0A0C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20</a:t>
            </a:r>
            <a:endParaRPr lang="ru-RU" sz="2000" b="1" dirty="0"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48374" y="3262202"/>
            <a:ext cx="444352" cy="400110"/>
          </a:xfrm>
          <a:prstGeom prst="rect">
            <a:avLst/>
          </a:prstGeom>
          <a:solidFill>
            <a:schemeClr val="bg2">
              <a:lumMod val="10000"/>
            </a:schemeClr>
          </a:solidFill>
          <a:ln w="28575">
            <a:solidFill>
              <a:srgbClr val="0A0A0C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25</a:t>
            </a:r>
            <a:endParaRPr lang="ru-RU" sz="2000" b="1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69526" y="3262202"/>
            <a:ext cx="444352" cy="400110"/>
          </a:xfrm>
          <a:prstGeom prst="rect">
            <a:avLst/>
          </a:prstGeom>
          <a:solidFill>
            <a:schemeClr val="bg2">
              <a:lumMod val="10000"/>
            </a:schemeClr>
          </a:solidFill>
          <a:ln w="28575">
            <a:solidFill>
              <a:srgbClr val="0A0A0C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27</a:t>
            </a:r>
            <a:endParaRPr lang="ru-RU" sz="2000" b="1" dirty="0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84130" y="3262202"/>
            <a:ext cx="444352" cy="400110"/>
          </a:xfrm>
          <a:prstGeom prst="rect">
            <a:avLst/>
          </a:prstGeom>
          <a:solidFill>
            <a:schemeClr val="bg2">
              <a:lumMod val="10000"/>
            </a:schemeClr>
          </a:solidFill>
          <a:ln w="28575">
            <a:solidFill>
              <a:srgbClr val="0A0A0C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33</a:t>
            </a:r>
            <a:endParaRPr lang="ru-RU" sz="2000" b="1" dirty="0">
              <a:solidFill>
                <a:schemeClr val="bg1"/>
              </a:solidFill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2855640" y="2204864"/>
            <a:ext cx="330717" cy="400110"/>
          </a:xfrm>
          <a:prstGeom prst="line">
            <a:avLst/>
          </a:prstGeom>
          <a:ln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>
            <a:off x="3889978" y="3262202"/>
            <a:ext cx="330717" cy="400110"/>
          </a:xfrm>
          <a:prstGeom prst="line">
            <a:avLst/>
          </a:prstGeom>
          <a:ln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>
            <a:off x="4802738" y="3270688"/>
            <a:ext cx="330717" cy="400110"/>
          </a:xfrm>
          <a:prstGeom prst="line">
            <a:avLst/>
          </a:prstGeom>
          <a:ln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5720773" y="3270688"/>
            <a:ext cx="330717" cy="400110"/>
          </a:xfrm>
          <a:prstGeom prst="line">
            <a:avLst/>
          </a:prstGeom>
          <a:ln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>
            <a:off x="6606135" y="3270688"/>
            <a:ext cx="330717" cy="400110"/>
          </a:xfrm>
          <a:prstGeom prst="line">
            <a:avLst/>
          </a:prstGeom>
          <a:ln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>
            <a:off x="7553413" y="3270688"/>
            <a:ext cx="330717" cy="400110"/>
          </a:xfrm>
          <a:prstGeom prst="line">
            <a:avLst/>
          </a:prstGeom>
          <a:ln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6727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3" grpId="0" animBg="1"/>
      <p:bldP spid="13" grpId="0" animBg="1"/>
      <p:bldP spid="14" grpId="0" animBg="1"/>
      <p:bldP spid="20" grpId="0" animBg="1"/>
      <p:bldP spid="21" grpId="0" animBg="1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51852" y="0"/>
            <a:ext cx="7440148" cy="954360"/>
          </a:xfrm>
        </p:spPr>
        <p:txBody>
          <a:bodyPr>
            <a:noAutofit/>
          </a:bodyPr>
          <a:lstStyle/>
          <a:p>
            <a:r>
              <a:rPr lang="ru-RU" sz="2800" dirty="0"/>
              <a:t>Задача </a:t>
            </a:r>
            <a:r>
              <a:rPr lang="en-US" sz="2800" dirty="0"/>
              <a:t>RSQ</a:t>
            </a:r>
            <a:r>
              <a:rPr lang="ru-RU" sz="2800" dirty="0"/>
              <a:t>. Префиксные суммы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42714" y="1580408"/>
                <a:ext cx="16058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714" y="1580408"/>
                <a:ext cx="160589" cy="369332"/>
              </a:xfrm>
              <a:prstGeom prst="rect">
                <a:avLst/>
              </a:prstGeom>
              <a:blipFill>
                <a:blip r:embed="rId2"/>
                <a:stretch>
                  <a:fillRect l="-62963" r="-85185" b="-655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31727" y="2418931"/>
                <a:ext cx="14315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727" y="2418931"/>
                <a:ext cx="143152" cy="369332"/>
              </a:xfrm>
              <a:prstGeom prst="rect">
                <a:avLst/>
              </a:prstGeom>
              <a:blipFill>
                <a:blip r:embed="rId3"/>
                <a:stretch>
                  <a:fillRect l="-78261" r="-86957" b="-666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331748"/>
              </p:ext>
            </p:extLst>
          </p:nvPr>
        </p:nvGraphicFramePr>
        <p:xfrm>
          <a:off x="1216824" y="1436139"/>
          <a:ext cx="4879176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8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8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8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8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8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8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8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8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923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04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476"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2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2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RU" sz="2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ru-RU" sz="2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ru-RU" sz="2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ru-RU" sz="2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ru-RU" sz="2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ru-RU" sz="28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087959"/>
              </p:ext>
            </p:extLst>
          </p:nvPr>
        </p:nvGraphicFramePr>
        <p:xfrm>
          <a:off x="848704" y="3501008"/>
          <a:ext cx="7119504" cy="21602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30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64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65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dirty="0">
                          <a:solidFill>
                            <a:schemeClr val="tx1"/>
                          </a:solidFill>
                        </a:rPr>
                        <a:t>Время на </a:t>
                      </a:r>
                      <a:r>
                        <a:rPr lang="ru-RU" sz="2400" b="0" dirty="0" err="1">
                          <a:solidFill>
                            <a:schemeClr val="tx1"/>
                          </a:solidFill>
                        </a:rPr>
                        <a:t>предподсчёт</a:t>
                      </a:r>
                      <a:endParaRPr lang="ru-R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5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dirty="0">
                          <a:solidFill>
                            <a:schemeClr val="tx1"/>
                          </a:solidFill>
                        </a:rPr>
                        <a:t>Время на запрос модификации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509">
                <a:tc>
                  <a:txBody>
                    <a:bodyPr/>
                    <a:lstStyle/>
                    <a:p>
                      <a:r>
                        <a:rPr lang="ru-RU" sz="2400" b="0" dirty="0">
                          <a:solidFill>
                            <a:schemeClr val="tx1"/>
                          </a:solidFill>
                        </a:rPr>
                        <a:t>Время на запрос суммы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7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Объем дополнительной памяти</a:t>
                      </a:r>
                      <a:endParaRPr lang="ru-R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/>
              <p:cNvSpPr/>
              <p:nvPr/>
            </p:nvSpPr>
            <p:spPr>
              <a:xfrm>
                <a:off x="7968208" y="4805738"/>
                <a:ext cx="3960439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b="0" i="0" smtClean="0">
                        <a:latin typeface="Cambria Math" panose="02040503050406030204" pitchFamily="18" charset="0"/>
                      </a:rPr>
                      <m:t>можно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ru-RU" dirty="0"/>
                  <a:t>, если использовать память, выделенную под массив А</a:t>
                </a:r>
              </a:p>
            </p:txBody>
          </p:sp>
        </mc:Choice>
        <mc:Fallback xmlns=""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8208" y="4805738"/>
                <a:ext cx="3960439" cy="646331"/>
              </a:xfrm>
              <a:prstGeom prst="rect">
                <a:avLst/>
              </a:prstGeom>
              <a:blipFill rotWithShape="0">
                <a:blip r:embed="rId5"/>
                <a:stretch>
                  <a:fillRect l="-1231" t="-4717" b="-141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Прямая со стрелкой 7"/>
          <p:cNvCxnSpPr/>
          <p:nvPr/>
        </p:nvCxnSpPr>
        <p:spPr>
          <a:xfrm flipH="1">
            <a:off x="7401432" y="5019151"/>
            <a:ext cx="432048" cy="1440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Объект 14">
            <a:extLst>
              <a:ext uri="{FF2B5EF4-FFF2-40B4-BE49-F238E27FC236}">
                <a16:creationId xmlns:a16="http://schemas.microsoft.com/office/drawing/2014/main" id="{1400D562-E236-9D77-D655-0089B7894E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1963153"/>
              </p:ext>
            </p:extLst>
          </p:nvPr>
        </p:nvGraphicFramePr>
        <p:xfrm>
          <a:off x="6079149" y="3493437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38080" imgH="520560" progId="Equation.DSMT4">
                  <p:embed/>
                </p:oleObj>
              </mc:Choice>
              <mc:Fallback>
                <p:oleObj name="Equation" r:id="rId6" imgW="83808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079149" y="3493437"/>
                        <a:ext cx="838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Объект 15">
            <a:extLst>
              <a:ext uri="{FF2B5EF4-FFF2-40B4-BE49-F238E27FC236}">
                <a16:creationId xmlns:a16="http://schemas.microsoft.com/office/drawing/2014/main" id="{604A2768-2163-642F-D8BF-EED980AE6F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5593327"/>
              </p:ext>
            </p:extLst>
          </p:nvPr>
        </p:nvGraphicFramePr>
        <p:xfrm>
          <a:off x="6079149" y="3972955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38080" imgH="520560" progId="Equation.DSMT4">
                  <p:embed/>
                </p:oleObj>
              </mc:Choice>
              <mc:Fallback>
                <p:oleObj name="Equation" r:id="rId8" imgW="83808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079149" y="3972955"/>
                        <a:ext cx="838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Объект 16">
            <a:extLst>
              <a:ext uri="{FF2B5EF4-FFF2-40B4-BE49-F238E27FC236}">
                <a16:creationId xmlns:a16="http://schemas.microsoft.com/office/drawing/2014/main" id="{7F38948D-636F-0A5A-7275-6EC44E85EF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3361642"/>
              </p:ext>
            </p:extLst>
          </p:nvPr>
        </p:nvGraphicFramePr>
        <p:xfrm>
          <a:off x="6079149" y="5079850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38080" imgH="520560" progId="Equation.DSMT4">
                  <p:embed/>
                </p:oleObj>
              </mc:Choice>
              <mc:Fallback>
                <p:oleObj name="Equation" r:id="rId9" imgW="83808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079149" y="5079850"/>
                        <a:ext cx="838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Объект 18">
            <a:extLst>
              <a:ext uri="{FF2B5EF4-FFF2-40B4-BE49-F238E27FC236}">
                <a16:creationId xmlns:a16="http://schemas.microsoft.com/office/drawing/2014/main" id="{37B47ADE-227B-481A-EA39-01475D8FCF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9206424"/>
              </p:ext>
            </p:extLst>
          </p:nvPr>
        </p:nvGraphicFramePr>
        <p:xfrm>
          <a:off x="6116638" y="4516438"/>
          <a:ext cx="762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61760" imgH="520560" progId="Equation.DSMT4">
                  <p:embed/>
                </p:oleObj>
              </mc:Choice>
              <mc:Fallback>
                <p:oleObj name="Equation" r:id="rId10" imgW="76176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116638" y="4516438"/>
                        <a:ext cx="7620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4695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474445"/>
              </p:ext>
            </p:extLst>
          </p:nvPr>
        </p:nvGraphicFramePr>
        <p:xfrm>
          <a:off x="767408" y="1340768"/>
          <a:ext cx="6768753" cy="48286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9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6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2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07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Обычный массив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Префиксные суммы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07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dirty="0">
                          <a:solidFill>
                            <a:schemeClr val="tx1"/>
                          </a:solidFill>
                        </a:rPr>
                        <a:t>Время на </a:t>
                      </a:r>
                      <a:r>
                        <a:rPr lang="ru-RU" sz="2400" b="0" dirty="0" err="1">
                          <a:solidFill>
                            <a:schemeClr val="tx1"/>
                          </a:solidFill>
                        </a:rPr>
                        <a:t>предподсчёт</a:t>
                      </a:r>
                      <a:endParaRPr lang="ru-R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10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dirty="0">
                          <a:solidFill>
                            <a:schemeClr val="tx1"/>
                          </a:solidFill>
                        </a:rPr>
                        <a:t>Время на запрос модификации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0732">
                <a:tc>
                  <a:txBody>
                    <a:bodyPr/>
                    <a:lstStyle/>
                    <a:p>
                      <a:r>
                        <a:rPr lang="ru-RU" sz="2400" b="0" dirty="0">
                          <a:solidFill>
                            <a:schemeClr val="tx1"/>
                          </a:solidFill>
                        </a:rPr>
                        <a:t>Время на запрос суммы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10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Объем дополнительной памяти</a:t>
                      </a:r>
                      <a:endParaRPr lang="ru-R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9" name="Объект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5671748"/>
              </p:ext>
            </p:extLst>
          </p:nvPr>
        </p:nvGraphicFramePr>
        <p:xfrm>
          <a:off x="3770784" y="3353777"/>
          <a:ext cx="762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1760" imgH="520560" progId="Equation.DSMT4">
                  <p:embed/>
                </p:oleObj>
              </mc:Choice>
              <mc:Fallback>
                <p:oleObj name="Equation" r:id="rId2" imgW="761760" imgH="520560" progId="Equation.DSMT4">
                  <p:embed/>
                  <p:pic>
                    <p:nvPicPr>
                      <p:cNvPr id="19" name="Объект 1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770784" y="3353777"/>
                        <a:ext cx="7620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Объект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7939804"/>
              </p:ext>
            </p:extLst>
          </p:nvPr>
        </p:nvGraphicFramePr>
        <p:xfrm>
          <a:off x="5967634" y="4295972"/>
          <a:ext cx="762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61760" imgH="520560" progId="Equation.DSMT4">
                  <p:embed/>
                </p:oleObj>
              </mc:Choice>
              <mc:Fallback>
                <p:oleObj name="Equation" r:id="rId4" imgW="761760" imgH="520560" progId="Equation.DSMT4">
                  <p:embed/>
                  <p:pic>
                    <p:nvPicPr>
                      <p:cNvPr id="21" name="Объект 2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67634" y="4295972"/>
                        <a:ext cx="7620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Объект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0404248"/>
              </p:ext>
            </p:extLst>
          </p:nvPr>
        </p:nvGraphicFramePr>
        <p:xfrm>
          <a:off x="3694584" y="4240901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38080" imgH="520560" progId="Equation.DSMT4">
                  <p:embed/>
                </p:oleObj>
              </mc:Choice>
              <mc:Fallback>
                <p:oleObj name="Equation" r:id="rId6" imgW="838080" imgH="520560" progId="Equation.DSMT4">
                  <p:embed/>
                  <p:pic>
                    <p:nvPicPr>
                      <p:cNvPr id="23" name="Объект 2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694584" y="4240901"/>
                        <a:ext cx="838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Объект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0652438"/>
              </p:ext>
            </p:extLst>
          </p:nvPr>
        </p:nvGraphicFramePr>
        <p:xfrm>
          <a:off x="5967634" y="2348880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38080" imgH="520560" progId="Equation.DSMT4">
                  <p:embed/>
                </p:oleObj>
              </mc:Choice>
              <mc:Fallback>
                <p:oleObj name="Equation" r:id="rId8" imgW="838080" imgH="520560" progId="Equation.DSMT4">
                  <p:embed/>
                  <p:pic>
                    <p:nvPicPr>
                      <p:cNvPr id="24" name="Объект 2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967634" y="2348880"/>
                        <a:ext cx="838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Объект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902964"/>
              </p:ext>
            </p:extLst>
          </p:nvPr>
        </p:nvGraphicFramePr>
        <p:xfrm>
          <a:off x="5967634" y="3393742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38080" imgH="520560" progId="Equation.DSMT4">
                  <p:embed/>
                </p:oleObj>
              </mc:Choice>
              <mc:Fallback>
                <p:oleObj name="Equation" r:id="rId10" imgW="838080" imgH="520560" progId="Equation.DSMT4">
                  <p:embed/>
                  <p:pic>
                    <p:nvPicPr>
                      <p:cNvPr id="25" name="Объект 2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967634" y="3393742"/>
                        <a:ext cx="838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Объект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2767218"/>
              </p:ext>
            </p:extLst>
          </p:nvPr>
        </p:nvGraphicFramePr>
        <p:xfrm>
          <a:off x="5967634" y="5313363"/>
          <a:ext cx="8064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38080" imgH="520560" progId="Equation.DSMT4">
                  <p:embed/>
                </p:oleObj>
              </mc:Choice>
              <mc:Fallback>
                <p:oleObj name="Equation" r:id="rId12" imgW="838080" imgH="520560" progId="Equation.DSMT4">
                  <p:embed/>
                  <p:pic>
                    <p:nvPicPr>
                      <p:cNvPr id="26" name="Объект 2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967634" y="5313363"/>
                        <a:ext cx="80645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Заголовок 1"/>
          <p:cNvSpPr>
            <a:spLocks noGrp="1"/>
          </p:cNvSpPr>
          <p:nvPr>
            <p:ph type="title"/>
          </p:nvPr>
        </p:nvSpPr>
        <p:spPr>
          <a:xfrm>
            <a:off x="4779925" y="116632"/>
            <a:ext cx="7440148" cy="954360"/>
          </a:xfrm>
        </p:spPr>
        <p:txBody>
          <a:bodyPr>
            <a:noAutofit/>
          </a:bodyPr>
          <a:lstStyle/>
          <a:p>
            <a:r>
              <a:rPr lang="ru-RU" sz="2800" dirty="0"/>
              <a:t>Оценки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Объект 10">
                <a:extLst>
                  <a:ext uri="{FF2B5EF4-FFF2-40B4-BE49-F238E27FC236}">
                    <a16:creationId xmlns:a16="http://schemas.microsoft.com/office/drawing/2014/main" id="{F90036F2-BAF0-4A83-AE4E-AB906F941994}"/>
                  </a:ext>
                </a:extLst>
              </p:cNvPr>
              <p:cNvSpPr txBox="1"/>
              <p:nvPr/>
            </p:nvSpPr>
            <p:spPr>
              <a:xfrm>
                <a:off x="7824192" y="5212092"/>
                <a:ext cx="4095228" cy="954359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BY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Ο</m:t>
                    </m:r>
                    <m:d>
                      <m:dPr>
                        <m:ctrlPr>
                          <a:rPr lang="ru-BY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ru-RU" dirty="0"/>
                  <a:t>, если  хранить при </a:t>
                </a:r>
                <a:r>
                  <a:rPr lang="ru-RU" dirty="0" err="1"/>
                  <a:t>предподсчёте</a:t>
                </a:r>
                <a:r>
                  <a:rPr lang="ru-RU" dirty="0"/>
                  <a:t> массив префиксных сумм на месте исходного массива</a:t>
                </a:r>
                <a:endParaRPr lang="ru-BY" dirty="0"/>
              </a:p>
            </p:txBody>
          </p:sp>
        </mc:Choice>
        <mc:Fallback xmlns="">
          <p:sp>
            <p:nvSpPr>
              <p:cNvPr id="11" name="Объект 10">
                <a:extLst>
                  <a:ext uri="{FF2B5EF4-FFF2-40B4-BE49-F238E27FC236}">
                    <a16:creationId xmlns:a16="http://schemas.microsoft.com/office/drawing/2014/main" id="{F90036F2-BAF0-4A83-AE4E-AB906F941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4192" y="5212092"/>
                <a:ext cx="4095228" cy="954359"/>
              </a:xfrm>
              <a:prstGeom prst="rect">
                <a:avLst/>
              </a:prstGeom>
              <a:blipFill>
                <a:blip r:embed="rId14"/>
                <a:stretch>
                  <a:fillRect l="-1190" t="-3185" b="-5732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3DC6EC3C-AD0A-4667-9B87-45116496A9C5}"/>
              </a:ext>
            </a:extLst>
          </p:cNvPr>
          <p:cNvCxnSpPr/>
          <p:nvPr/>
        </p:nvCxnSpPr>
        <p:spPr>
          <a:xfrm flipH="1">
            <a:off x="7176120" y="5313363"/>
            <a:ext cx="576064" cy="260350"/>
          </a:xfrm>
          <a:prstGeom prst="straightConnector1">
            <a:avLst/>
          </a:prstGeom>
          <a:ln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7402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2852936"/>
            <a:ext cx="12192000" cy="334443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Промежуточный вариант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8292" y="2852936"/>
            <a:ext cx="4875415" cy="2543695"/>
          </a:xfrm>
        </p:spPr>
      </p:pic>
      <p:sp>
        <p:nvSpPr>
          <p:cNvPr id="6" name="Объект 2"/>
          <p:cNvSpPr txBox="1">
            <a:spLocks/>
          </p:cNvSpPr>
          <p:nvPr/>
        </p:nvSpPr>
        <p:spPr>
          <a:xfrm>
            <a:off x="586901" y="1600203"/>
            <a:ext cx="1098170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Одна операция быстрая, вторая медленная</a:t>
            </a:r>
            <a:endParaRPr lang="en-US" dirty="0"/>
          </a:p>
          <a:p>
            <a:r>
              <a:rPr lang="ru-RU" dirty="0"/>
              <a:t>Нужно компромиссное решение</a:t>
            </a:r>
          </a:p>
        </p:txBody>
      </p:sp>
      <p:sp>
        <p:nvSpPr>
          <p:cNvPr id="8" name="Объект 2"/>
          <p:cNvSpPr txBox="1">
            <a:spLocks/>
          </p:cNvSpPr>
          <p:nvPr/>
        </p:nvSpPr>
        <p:spPr>
          <a:xfrm>
            <a:off x="1051518" y="5448533"/>
            <a:ext cx="2606774" cy="71323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dirty="0">
                <a:solidFill>
                  <a:schemeClr val="bg1"/>
                </a:solidFill>
              </a:rPr>
              <a:t>Модификация</a:t>
            </a:r>
          </a:p>
          <a:p>
            <a:pPr marL="0" indent="0" algn="r">
              <a:buNone/>
            </a:pPr>
            <a:r>
              <a:rPr lang="ru-RU" dirty="0">
                <a:solidFill>
                  <a:schemeClr val="bg1"/>
                </a:solidFill>
              </a:rPr>
              <a:t>Сумма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Объект 2"/>
              <p:cNvSpPr txBox="1">
                <a:spLocks/>
              </p:cNvSpPr>
              <p:nvPr/>
            </p:nvSpPr>
            <p:spPr>
              <a:xfrm>
                <a:off x="4511824" y="5441562"/>
                <a:ext cx="1350114" cy="7271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70000" lnSpcReduction="2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Объект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824" y="5441562"/>
                <a:ext cx="1350114" cy="727175"/>
              </a:xfrm>
              <a:prstGeom prst="rect">
                <a:avLst/>
              </a:prstGeom>
              <a:blipFill rotWithShape="0">
                <a:blip r:embed="rId3"/>
                <a:stretch>
                  <a:fillRect b="-504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Объект 2"/>
              <p:cNvSpPr txBox="1">
                <a:spLocks/>
              </p:cNvSpPr>
              <p:nvPr/>
            </p:nvSpPr>
            <p:spPr>
              <a:xfrm>
                <a:off x="6528048" y="5441562"/>
                <a:ext cx="1350114" cy="7271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70000" lnSpcReduction="2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ru-RU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Объект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8048" y="5441562"/>
                <a:ext cx="1350114" cy="727175"/>
              </a:xfrm>
              <a:prstGeom prst="rect">
                <a:avLst/>
              </a:prstGeom>
              <a:blipFill rotWithShape="0">
                <a:blip r:embed="rId4"/>
                <a:stretch>
                  <a:fillRect b="-504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4346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3578864" y="3241871"/>
            <a:ext cx="5629365" cy="42261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RSQ</a:t>
            </a:r>
            <a:r>
              <a:rPr lang="ru-RU" dirty="0"/>
              <a:t>. Блоки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241993" y="1800139"/>
                <a:ext cx="11604770" cy="137011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ru-RU" dirty="0"/>
                  <a:t>Можно просчитать заранее суммы для блоков определённого размера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dirty="0"/>
                  <a:t> (последний блок может быть меньше)</a:t>
                </a:r>
              </a:p>
              <a:p>
                <a:r>
                  <a:rPr lang="ru-RU" dirty="0"/>
                  <a:t>При суммировании в цикле можно будет «перепрыгивать» блоки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41993" y="1800139"/>
                <a:ext cx="11604770" cy="1370114"/>
              </a:xfrm>
              <a:blipFill rotWithShape="0">
                <a:blip r:embed="rId3"/>
                <a:stretch>
                  <a:fillRect l="-946" t="-7111" b="-9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501198"/>
              </p:ext>
            </p:extLst>
          </p:nvPr>
        </p:nvGraphicFramePr>
        <p:xfrm>
          <a:off x="420195" y="3662145"/>
          <a:ext cx="105851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958188"/>
              </p:ext>
            </p:extLst>
          </p:nvPr>
        </p:nvGraphicFramePr>
        <p:xfrm>
          <a:off x="420195" y="4098625"/>
          <a:ext cx="105851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Левая круглая скобка 5"/>
          <p:cNvSpPr/>
          <p:nvPr/>
        </p:nvSpPr>
        <p:spPr>
          <a:xfrm>
            <a:off x="3574323" y="3191874"/>
            <a:ext cx="45719" cy="432048"/>
          </a:xfrm>
          <a:prstGeom prst="leftBracke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Левая круглая скобка 6"/>
          <p:cNvSpPr/>
          <p:nvPr/>
        </p:nvSpPr>
        <p:spPr>
          <a:xfrm flipH="1">
            <a:off x="9135333" y="3215590"/>
            <a:ext cx="93994" cy="432048"/>
          </a:xfrm>
          <a:prstGeom prst="leftBracke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211470"/>
              </p:ext>
            </p:extLst>
          </p:nvPr>
        </p:nvGraphicFramePr>
        <p:xfrm>
          <a:off x="419653" y="3668401"/>
          <a:ext cx="1023233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762504"/>
              </p:ext>
            </p:extLst>
          </p:nvPr>
        </p:nvGraphicFramePr>
        <p:xfrm>
          <a:off x="420195" y="4098625"/>
          <a:ext cx="105851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Дуга 9"/>
          <p:cNvSpPr/>
          <p:nvPr/>
        </p:nvSpPr>
        <p:spPr>
          <a:xfrm>
            <a:off x="4650421" y="3438572"/>
            <a:ext cx="2106477" cy="391178"/>
          </a:xfrm>
          <a:prstGeom prst="arc">
            <a:avLst>
              <a:gd name="adj1" fmla="val 10811407"/>
              <a:gd name="adj2" fmla="val 0"/>
            </a:avLst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Дуга 10"/>
          <p:cNvSpPr/>
          <p:nvPr/>
        </p:nvSpPr>
        <p:spPr>
          <a:xfrm>
            <a:off x="6747745" y="3444011"/>
            <a:ext cx="2106477" cy="391178"/>
          </a:xfrm>
          <a:prstGeom prst="arc">
            <a:avLst>
              <a:gd name="adj1" fmla="val 10811407"/>
              <a:gd name="adj2" fmla="val 0"/>
            </a:avLst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269477" y="1334371"/>
            <a:ext cx="39383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/>
              <a:t>Выполним </a:t>
            </a:r>
            <a:r>
              <a:rPr lang="ru-RU" sz="2800" b="1" dirty="0" err="1"/>
              <a:t>предподсчёт</a:t>
            </a:r>
            <a:endParaRPr lang="ru-RU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 15"/>
              <p:cNvSpPr/>
              <p:nvPr/>
            </p:nvSpPr>
            <p:spPr>
              <a:xfrm>
                <a:off x="169653" y="4947342"/>
                <a:ext cx="11604770" cy="13194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 algn="just"/>
                <a:r>
                  <a:rPr lang="ru-RU" sz="2400" dirty="0"/>
                  <a:t>Для этого кроме исходного массива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, </a:t>
                </a:r>
                <a:r>
                  <a:rPr lang="ru-RU" sz="2400" dirty="0"/>
                  <a:t>создадим массив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400" b="0" i="0" dirty="0"/>
                  <a:t>размера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⌈"/>
                        <m:endChr m:val="⌉"/>
                        <m:ctrlPr>
                          <a:rPr lang="ru-BY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BY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BY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ru-BY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для хранения сумм по блокам.</a:t>
                </a:r>
                <a:r>
                  <a:rPr lang="en-US" sz="2400" dirty="0"/>
                  <a:t> </a:t>
                </a:r>
              </a:p>
              <a:p>
                <a:pPr lvl="1" algn="just"/>
                <a:r>
                  <a:rPr lang="ru-RU" sz="2000" dirty="0"/>
                  <a:t> </a:t>
                </a:r>
                <a:r>
                  <a:rPr lang="en-US" sz="2000" b="1" dirty="0"/>
                  <a:t>    </a:t>
                </a:r>
                <a:r>
                  <a:rPr lang="ru-RU" sz="2000" b="1" dirty="0"/>
                  <a:t> </a:t>
                </a:r>
                <a:r>
                  <a:rPr lang="en-US" sz="2000" b="1" dirty="0"/>
                  <a:t>   </a:t>
                </a:r>
                <a:r>
                  <a:rPr lang="en-US" sz="2000" dirty="0"/>
                  <a:t> </a:t>
                </a:r>
                <a:r>
                  <a:rPr lang="ru-RU" sz="2000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16" name="Прямоугольник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53" y="4947342"/>
                <a:ext cx="11604770" cy="1319464"/>
              </a:xfrm>
              <a:prstGeom prst="rect">
                <a:avLst/>
              </a:prstGeom>
              <a:blipFill>
                <a:blip r:embed="rId4"/>
                <a:stretch>
                  <a:fillRect r="-78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95515" y="3696945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15" y="3696945"/>
                <a:ext cx="38568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01937" y="4081126"/>
                <a:ext cx="3960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37" y="4081126"/>
                <a:ext cx="39607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1439617" y="440600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5869" y="440600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28125" y="44052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9538" y="44052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45228" y="43931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144" y="33641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832" y="33688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9854" y="33688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94314" y="33688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55254" y="33688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11272614" y="3761246"/>
                <a:ext cx="93243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en-US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2614" y="3761246"/>
                <a:ext cx="932435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2191637" y="33688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  <a:endParaRPr lang="ru-RU" dirty="0"/>
          </a:p>
        </p:txBody>
      </p:sp>
      <p:sp>
        <p:nvSpPr>
          <p:cNvPr id="32" name="TextBox 31"/>
          <p:cNvSpPr txBox="1"/>
          <p:nvPr/>
        </p:nvSpPr>
        <p:spPr>
          <a:xfrm>
            <a:off x="2506097" y="33688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  <a:endParaRPr lang="ru-RU" dirty="0"/>
          </a:p>
        </p:txBody>
      </p:sp>
      <p:sp>
        <p:nvSpPr>
          <p:cNvPr id="33" name="TextBox 32"/>
          <p:cNvSpPr txBox="1"/>
          <p:nvPr/>
        </p:nvSpPr>
        <p:spPr>
          <a:xfrm>
            <a:off x="2867037" y="33688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  <a:endParaRPr lang="ru-RU" dirty="0"/>
          </a:p>
        </p:txBody>
      </p:sp>
      <p:sp>
        <p:nvSpPr>
          <p:cNvPr id="34" name="TextBox 33"/>
          <p:cNvSpPr txBox="1"/>
          <p:nvPr/>
        </p:nvSpPr>
        <p:spPr>
          <a:xfrm>
            <a:off x="10662414" y="336883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29</a:t>
            </a:r>
            <a:endParaRPr lang="ru-RU" dirty="0"/>
          </a:p>
        </p:txBody>
      </p:sp>
      <p:sp>
        <p:nvSpPr>
          <p:cNvPr id="35" name="TextBox 34"/>
          <p:cNvSpPr txBox="1"/>
          <p:nvPr/>
        </p:nvSpPr>
        <p:spPr>
          <a:xfrm>
            <a:off x="3246576" y="33688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  <a:endParaRPr lang="ru-RU" dirty="0"/>
          </a:p>
        </p:txBody>
      </p:sp>
      <p:sp>
        <p:nvSpPr>
          <p:cNvPr id="37" name="TextBox 36"/>
          <p:cNvSpPr txBox="1"/>
          <p:nvPr/>
        </p:nvSpPr>
        <p:spPr>
          <a:xfrm>
            <a:off x="8854222" y="336883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0887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RSQ</a:t>
            </a:r>
            <a:r>
              <a:rPr lang="ru-RU" dirty="0"/>
              <a:t>. Блоки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016194"/>
              </p:ext>
            </p:extLst>
          </p:nvPr>
        </p:nvGraphicFramePr>
        <p:xfrm>
          <a:off x="1007418" y="1882080"/>
          <a:ext cx="105851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349626"/>
              </p:ext>
            </p:extLst>
          </p:nvPr>
        </p:nvGraphicFramePr>
        <p:xfrm>
          <a:off x="1007418" y="2318560"/>
          <a:ext cx="105851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 15"/>
              <p:cNvSpPr/>
              <p:nvPr/>
            </p:nvSpPr>
            <p:spPr>
              <a:xfrm>
                <a:off x="97856" y="1324704"/>
                <a:ext cx="5812873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1400" dirty="0"/>
                  <a:t>Удобно нумеровать блоки с нуля (на рис</a:t>
                </a:r>
                <a:r>
                  <a:rPr lang="en-US" sz="1400" dirty="0"/>
                  <a:t>.</a:t>
                </a:r>
                <a:r>
                  <a:rPr lang="ru-RU" sz="1400" dirty="0"/>
                  <a:t> размер блока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16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1" i="1" dirty="0" smtClean="0"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ru-RU" sz="1400" dirty="0"/>
                  <a:t>) </a:t>
                </a:r>
                <a:endParaRPr lang="en-US" sz="1400" dirty="0"/>
              </a:p>
            </p:txBody>
          </p:sp>
        </mc:Choice>
        <mc:Fallback xmlns="">
          <p:sp>
            <p:nvSpPr>
              <p:cNvPr id="16" name="Прямоугольник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56" y="1324704"/>
                <a:ext cx="5812873" cy="338554"/>
              </a:xfrm>
              <a:prstGeom prst="rect">
                <a:avLst/>
              </a:prstGeom>
              <a:blipFill>
                <a:blip r:embed="rId2"/>
                <a:stretch>
                  <a:fillRect l="-314" b="-1607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82738" y="1916880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738" y="1916880"/>
                <a:ext cx="38568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89160" y="2301061"/>
                <a:ext cx="3960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160" y="2301061"/>
                <a:ext cx="39607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1753573" y="2298911"/>
            <a:ext cx="1015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  <a:r>
              <a:rPr lang="en-US" dirty="0"/>
              <a:t>-</a:t>
            </a:r>
            <a:r>
              <a:rPr lang="ru-RU" dirty="0"/>
              <a:t>й блок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55946" y="2319314"/>
            <a:ext cx="1068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</a:t>
            </a:r>
            <a:r>
              <a:rPr lang="en-US" dirty="0"/>
              <a:t> -</a:t>
            </a:r>
            <a:r>
              <a:rPr lang="ru-RU" dirty="0"/>
              <a:t>й блок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5786" y="2297629"/>
            <a:ext cx="1068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</a:t>
            </a:r>
            <a:r>
              <a:rPr lang="en-US" dirty="0"/>
              <a:t> -</a:t>
            </a:r>
            <a:r>
              <a:rPr lang="ru-RU" dirty="0"/>
              <a:t>й блок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763" y="2330400"/>
            <a:ext cx="1068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</a:t>
            </a:r>
            <a:r>
              <a:rPr lang="en-US" dirty="0"/>
              <a:t> -</a:t>
            </a:r>
            <a:r>
              <a:rPr lang="ru-RU" dirty="0"/>
              <a:t>й блок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5740" y="2317552"/>
            <a:ext cx="1068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</a:t>
            </a:r>
            <a:r>
              <a:rPr lang="en-US" dirty="0"/>
              <a:t> -</a:t>
            </a:r>
            <a:r>
              <a:rPr lang="ru-RU" dirty="0"/>
              <a:t>й блок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4367" y="15840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3055" y="1588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7077" y="1588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81537" y="1588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42477" y="1588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78860" y="1588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  <a:endParaRPr lang="ru-RU" dirty="0"/>
          </a:p>
        </p:txBody>
      </p:sp>
      <p:sp>
        <p:nvSpPr>
          <p:cNvPr id="32" name="TextBox 31"/>
          <p:cNvSpPr txBox="1"/>
          <p:nvPr/>
        </p:nvSpPr>
        <p:spPr>
          <a:xfrm>
            <a:off x="3093320" y="1588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  <a:endParaRPr lang="ru-RU" dirty="0"/>
          </a:p>
        </p:txBody>
      </p:sp>
      <p:sp>
        <p:nvSpPr>
          <p:cNvPr id="33" name="TextBox 32"/>
          <p:cNvSpPr txBox="1"/>
          <p:nvPr/>
        </p:nvSpPr>
        <p:spPr>
          <a:xfrm>
            <a:off x="3454260" y="1588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  <a:endParaRPr lang="ru-RU" dirty="0"/>
          </a:p>
        </p:txBody>
      </p:sp>
      <p:sp>
        <p:nvSpPr>
          <p:cNvPr id="34" name="TextBox 33"/>
          <p:cNvSpPr txBox="1"/>
          <p:nvPr/>
        </p:nvSpPr>
        <p:spPr>
          <a:xfrm>
            <a:off x="11249637" y="158877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29</a:t>
            </a:r>
            <a:endParaRPr lang="ru-RU" dirty="0"/>
          </a:p>
        </p:txBody>
      </p:sp>
      <p:sp>
        <p:nvSpPr>
          <p:cNvPr id="35" name="TextBox 34"/>
          <p:cNvSpPr txBox="1"/>
          <p:nvPr/>
        </p:nvSpPr>
        <p:spPr>
          <a:xfrm>
            <a:off x="3833799" y="1588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  <a:endParaRPr lang="ru-RU" dirty="0"/>
          </a:p>
        </p:txBody>
      </p:sp>
      <p:sp>
        <p:nvSpPr>
          <p:cNvPr id="37" name="TextBox 36"/>
          <p:cNvSpPr txBox="1"/>
          <p:nvPr/>
        </p:nvSpPr>
        <p:spPr>
          <a:xfrm>
            <a:off x="9441445" y="158877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24</a:t>
            </a:r>
            <a:endParaRPr lang="ru-RU" dirty="0"/>
          </a:p>
        </p:txBody>
      </p:sp>
      <p:grpSp>
        <p:nvGrpSpPr>
          <p:cNvPr id="79" name="Группа 78">
            <a:extLst>
              <a:ext uri="{FF2B5EF4-FFF2-40B4-BE49-F238E27FC236}">
                <a16:creationId xmlns:a16="http://schemas.microsoft.com/office/drawing/2014/main" id="{FB50D424-C7BC-4249-BC56-28E6428A7E59}"/>
              </a:ext>
            </a:extLst>
          </p:cNvPr>
          <p:cNvGrpSpPr/>
          <p:nvPr/>
        </p:nvGrpSpPr>
        <p:grpSpPr>
          <a:xfrm>
            <a:off x="233822" y="2996789"/>
            <a:ext cx="3361750" cy="615459"/>
            <a:chOff x="233822" y="2996789"/>
            <a:chExt cx="3361750" cy="615459"/>
          </a:xfrm>
        </p:grpSpPr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id="{2B1D4EA1-C409-4B9B-B2A1-97A71634327D}"/>
                </a:ext>
              </a:extLst>
            </p:cNvPr>
            <p:cNvSpPr/>
            <p:nvPr/>
          </p:nvSpPr>
          <p:spPr>
            <a:xfrm>
              <a:off x="1064367" y="3317198"/>
              <a:ext cx="1942975" cy="29505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16BEE3E-E875-4234-8B31-0E58845E2220}"/>
                </a:ext>
              </a:extLst>
            </p:cNvPr>
            <p:cNvSpPr txBox="1"/>
            <p:nvPr/>
          </p:nvSpPr>
          <p:spPr>
            <a:xfrm>
              <a:off x="233822" y="3286958"/>
              <a:ext cx="8305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0</a:t>
              </a:r>
              <a:r>
                <a:rPr lang="en-US" sz="1400" dirty="0"/>
                <a:t>-</a:t>
              </a:r>
              <a:r>
                <a:rPr lang="ru-RU" sz="1400" dirty="0"/>
                <a:t>й блок</a:t>
              </a:r>
              <a:endParaRPr lang="ru-BY" sz="14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1D4647F-F519-480E-90F1-ACB564539AFB}"/>
                </a:ext>
              </a:extLst>
            </p:cNvPr>
            <p:cNvSpPr txBox="1"/>
            <p:nvPr/>
          </p:nvSpPr>
          <p:spPr>
            <a:xfrm>
              <a:off x="1016475" y="2996789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600" dirty="0"/>
                <a:t>0</a:t>
              </a:r>
            </a:p>
          </p:txBody>
        </p:sp>
        <p:cxnSp>
          <p:nvCxnSpPr>
            <p:cNvPr id="51" name="Прямая соединительная линия 50">
              <a:extLst>
                <a:ext uri="{FF2B5EF4-FFF2-40B4-BE49-F238E27FC236}">
                  <a16:creationId xmlns:a16="http://schemas.microsoft.com/office/drawing/2014/main" id="{514D6443-18B1-4188-849D-4C59001091B3}"/>
                </a:ext>
              </a:extLst>
            </p:cNvPr>
            <p:cNvCxnSpPr/>
            <p:nvPr/>
          </p:nvCxnSpPr>
          <p:spPr>
            <a:xfrm>
              <a:off x="1330935" y="3317198"/>
              <a:ext cx="0" cy="2950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Прямая соединительная линия 54">
              <a:extLst>
                <a:ext uri="{FF2B5EF4-FFF2-40B4-BE49-F238E27FC236}">
                  <a16:creationId xmlns:a16="http://schemas.microsoft.com/office/drawing/2014/main" id="{7ED0ABD9-47BE-480D-89A1-01F9F7A337A1}"/>
                </a:ext>
              </a:extLst>
            </p:cNvPr>
            <p:cNvCxnSpPr/>
            <p:nvPr/>
          </p:nvCxnSpPr>
          <p:spPr>
            <a:xfrm>
              <a:off x="2703683" y="3317198"/>
              <a:ext cx="0" cy="2950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BAE42261-0E33-4AC5-A5F0-2C88F0BE658F}"/>
                    </a:ext>
                  </a:extLst>
                </p:cNvPr>
                <p:cNvSpPr txBox="1"/>
                <p:nvPr/>
              </p:nvSpPr>
              <p:spPr>
                <a:xfrm>
                  <a:off x="2617804" y="3029243"/>
                  <a:ext cx="97776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sz="1600" i="1" dirty="0" smtClean="0">
                            <a:latin typeface="Cambria Math" panose="02040503050406030204" pitchFamily="18" charset="0"/>
                          </a:rPr>
                          <m:t>1·</m:t>
                        </m:r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ru-RU" sz="1600" i="1" dirty="0"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ru-RU" sz="1600" dirty="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BAE42261-0E33-4AC5-A5F0-2C88F0BE65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7804" y="3029243"/>
                  <a:ext cx="977768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0" name="Группа 79">
            <a:extLst>
              <a:ext uri="{FF2B5EF4-FFF2-40B4-BE49-F238E27FC236}">
                <a16:creationId xmlns:a16="http://schemas.microsoft.com/office/drawing/2014/main" id="{AC793C48-076E-46AE-9475-D0322BE79B55}"/>
              </a:ext>
            </a:extLst>
          </p:cNvPr>
          <p:cNvGrpSpPr/>
          <p:nvPr/>
        </p:nvGrpSpPr>
        <p:grpSpPr>
          <a:xfrm>
            <a:off x="249134" y="3675573"/>
            <a:ext cx="3332426" cy="641380"/>
            <a:chOff x="249134" y="3675573"/>
            <a:chExt cx="3332426" cy="641380"/>
          </a:xfrm>
        </p:grpSpPr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id="{D123FE47-2C3E-42AB-A866-FA7BAD444D99}"/>
                </a:ext>
              </a:extLst>
            </p:cNvPr>
            <p:cNvSpPr/>
            <p:nvPr/>
          </p:nvSpPr>
          <p:spPr>
            <a:xfrm>
              <a:off x="1037687" y="4015930"/>
              <a:ext cx="1942975" cy="29505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D04C911-8F40-4909-829E-D574CAEB8C7E}"/>
                </a:ext>
              </a:extLst>
            </p:cNvPr>
            <p:cNvSpPr txBox="1"/>
            <p:nvPr/>
          </p:nvSpPr>
          <p:spPr>
            <a:xfrm>
              <a:off x="249134" y="3984210"/>
              <a:ext cx="8305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400" dirty="0">
                  <a:solidFill>
                    <a:srgbClr val="FF0000"/>
                  </a:solidFill>
                </a:rPr>
                <a:t>1</a:t>
              </a:r>
              <a:r>
                <a:rPr lang="en-US" sz="1400" dirty="0"/>
                <a:t>-</a:t>
              </a:r>
              <a:r>
                <a:rPr lang="ru-RU" sz="1400" dirty="0"/>
                <a:t>й блок</a:t>
              </a:r>
              <a:endParaRPr lang="ru-BY" sz="1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11AE66B3-55F1-4208-92B2-16C4ADBFF521}"/>
                    </a:ext>
                  </a:extLst>
                </p:cNvPr>
                <p:cNvSpPr txBox="1"/>
                <p:nvPr/>
              </p:nvSpPr>
              <p:spPr>
                <a:xfrm>
                  <a:off x="868626" y="3675573"/>
                  <a:ext cx="61888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sz="1600" i="1" dirty="0" smtClean="0">
                            <a:latin typeface="Cambria Math" panose="02040503050406030204" pitchFamily="18" charset="0"/>
                          </a:rPr>
                          <m:t>1·</m:t>
                        </m:r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𝒌</m:t>
                        </m:r>
                      </m:oMath>
                    </m:oMathPara>
                  </a14:m>
                  <a:endParaRPr lang="ru-RU" sz="1600" b="1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11AE66B3-55F1-4208-92B2-16C4ADBFF5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626" y="3675573"/>
                  <a:ext cx="618887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Прямая соединительная линия 51">
              <a:extLst>
                <a:ext uri="{FF2B5EF4-FFF2-40B4-BE49-F238E27FC236}">
                  <a16:creationId xmlns:a16="http://schemas.microsoft.com/office/drawing/2014/main" id="{A0DAD987-F4B6-485B-95F0-549F4CDD50F2}"/>
                </a:ext>
              </a:extLst>
            </p:cNvPr>
            <p:cNvCxnSpPr/>
            <p:nvPr/>
          </p:nvCxnSpPr>
          <p:spPr>
            <a:xfrm>
              <a:off x="1291308" y="4021903"/>
              <a:ext cx="0" cy="2950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Прямая соединительная линия 55">
              <a:extLst>
                <a:ext uri="{FF2B5EF4-FFF2-40B4-BE49-F238E27FC236}">
                  <a16:creationId xmlns:a16="http://schemas.microsoft.com/office/drawing/2014/main" id="{BE719FC0-E804-40FE-9D36-4ADB8AF701B0}"/>
                </a:ext>
              </a:extLst>
            </p:cNvPr>
            <p:cNvCxnSpPr/>
            <p:nvPr/>
          </p:nvCxnSpPr>
          <p:spPr>
            <a:xfrm>
              <a:off x="2685708" y="4021903"/>
              <a:ext cx="0" cy="2950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D97A6E46-B2FB-4BC3-AE98-526ECBA65E47}"/>
                    </a:ext>
                  </a:extLst>
                </p:cNvPr>
                <p:cNvSpPr txBox="1"/>
                <p:nvPr/>
              </p:nvSpPr>
              <p:spPr>
                <a:xfrm>
                  <a:off x="2603792" y="3747006"/>
                  <a:ext cx="97776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sz="1600" i="1" dirty="0" smtClean="0">
                            <a:latin typeface="Cambria Math" panose="02040503050406030204" pitchFamily="18" charset="0"/>
                          </a:rPr>
                          <m:t>2·</m:t>
                        </m:r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ru-RU" sz="1600" i="1" dirty="0"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ru-RU" sz="1600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D97A6E46-B2FB-4BC3-AE98-526ECBA65E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3792" y="3747006"/>
                  <a:ext cx="977768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10CC646-5A01-47C1-A673-0FD2B66B9E69}"/>
                  </a:ext>
                </a:extLst>
              </p:cNvPr>
              <p:cNvSpPr txBox="1"/>
              <p:nvPr/>
            </p:nvSpPr>
            <p:spPr>
              <a:xfrm>
                <a:off x="4492774" y="5580023"/>
                <a:ext cx="7505756" cy="4948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400" dirty="0"/>
                  <a:t>Элемент массива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с индексом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попадает в блок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d>
                          <m:dPr>
                            <m:begChr m:val="⌊"/>
                            <m:endChr m:val="⌋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BY" sz="24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10CC646-5A01-47C1-A673-0FD2B66B9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2774" y="5580023"/>
                <a:ext cx="7505756" cy="494815"/>
              </a:xfrm>
              <a:prstGeom prst="rect">
                <a:avLst/>
              </a:prstGeom>
              <a:blipFill>
                <a:blip r:embed="rId8"/>
                <a:stretch>
                  <a:fillRect l="-1219" t="-8537" b="-20732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1" name="Группа 80">
            <a:extLst>
              <a:ext uri="{FF2B5EF4-FFF2-40B4-BE49-F238E27FC236}">
                <a16:creationId xmlns:a16="http://schemas.microsoft.com/office/drawing/2014/main" id="{A2D4DE0F-7163-44A6-94A6-A0EE6A8EBBDF}"/>
              </a:ext>
            </a:extLst>
          </p:cNvPr>
          <p:cNvGrpSpPr/>
          <p:nvPr/>
        </p:nvGrpSpPr>
        <p:grpSpPr>
          <a:xfrm>
            <a:off x="185926" y="4359201"/>
            <a:ext cx="3395634" cy="639648"/>
            <a:chOff x="185926" y="4359201"/>
            <a:chExt cx="3395634" cy="639648"/>
          </a:xfrm>
        </p:grpSpPr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id="{5375CBEA-1189-49C7-A885-D1F89A011D5D}"/>
                </a:ext>
              </a:extLst>
            </p:cNvPr>
            <p:cNvSpPr/>
            <p:nvPr/>
          </p:nvSpPr>
          <p:spPr>
            <a:xfrm>
              <a:off x="1023566" y="4691072"/>
              <a:ext cx="1942975" cy="295050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C168FCA-CFFF-4707-9682-C606E67B7EC3}"/>
                </a:ext>
              </a:extLst>
            </p:cNvPr>
            <p:cNvSpPr txBox="1"/>
            <p:nvPr/>
          </p:nvSpPr>
          <p:spPr>
            <a:xfrm>
              <a:off x="185926" y="4691072"/>
              <a:ext cx="8305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400" dirty="0">
                  <a:solidFill>
                    <a:srgbClr val="FF0000"/>
                  </a:solidFill>
                </a:rPr>
                <a:t>2</a:t>
              </a:r>
              <a:r>
                <a:rPr lang="en-US" sz="1400" dirty="0"/>
                <a:t>-</a:t>
              </a:r>
              <a:r>
                <a:rPr lang="ru-RU" sz="1400" dirty="0"/>
                <a:t>й блок</a:t>
              </a:r>
              <a:endParaRPr lang="ru-BY" sz="1400" dirty="0"/>
            </a:p>
          </p:txBody>
        </p:sp>
        <p:cxnSp>
          <p:nvCxnSpPr>
            <p:cNvPr id="53" name="Прямая соединительная линия 52">
              <a:extLst>
                <a:ext uri="{FF2B5EF4-FFF2-40B4-BE49-F238E27FC236}">
                  <a16:creationId xmlns:a16="http://schemas.microsoft.com/office/drawing/2014/main" id="{E2FF1005-E552-4E89-B3D5-40515566F4AC}"/>
                </a:ext>
              </a:extLst>
            </p:cNvPr>
            <p:cNvCxnSpPr/>
            <p:nvPr/>
          </p:nvCxnSpPr>
          <p:spPr>
            <a:xfrm>
              <a:off x="1277186" y="4703799"/>
              <a:ext cx="0" cy="2950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Прямая соединительная линия 56">
              <a:extLst>
                <a:ext uri="{FF2B5EF4-FFF2-40B4-BE49-F238E27FC236}">
                  <a16:creationId xmlns:a16="http://schemas.microsoft.com/office/drawing/2014/main" id="{7D95B7CB-5B37-4A27-BA42-D928FB97237A}"/>
                </a:ext>
              </a:extLst>
            </p:cNvPr>
            <p:cNvCxnSpPr/>
            <p:nvPr/>
          </p:nvCxnSpPr>
          <p:spPr>
            <a:xfrm>
              <a:off x="2655788" y="4703799"/>
              <a:ext cx="0" cy="2950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E4217363-0D9C-4A54-BB04-C29694FEEC69}"/>
                    </a:ext>
                  </a:extLst>
                </p:cNvPr>
                <p:cNvSpPr txBox="1"/>
                <p:nvPr/>
              </p:nvSpPr>
              <p:spPr>
                <a:xfrm>
                  <a:off x="850025" y="4359201"/>
                  <a:ext cx="61888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sz="1600" i="1" dirty="0" smtClean="0">
                            <a:latin typeface="Cambria Math" panose="02040503050406030204" pitchFamily="18" charset="0"/>
                          </a:rPr>
                          <m:t>2·</m:t>
                        </m:r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𝒌</m:t>
                        </m:r>
                      </m:oMath>
                    </m:oMathPara>
                  </a14:m>
                  <a:endParaRPr lang="ru-RU" sz="1600" b="1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E4217363-0D9C-4A54-BB04-C29694FEEC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025" y="4359201"/>
                  <a:ext cx="618887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1C5A271-E90A-4CEB-B0F9-9DD3FE2C5389}"/>
                    </a:ext>
                  </a:extLst>
                </p:cNvPr>
                <p:cNvSpPr txBox="1"/>
                <p:nvPr/>
              </p:nvSpPr>
              <p:spPr>
                <a:xfrm>
                  <a:off x="2603792" y="4412833"/>
                  <a:ext cx="97776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sz="1600" i="1" dirty="0" smtClean="0">
                            <a:latin typeface="Cambria Math" panose="02040503050406030204" pitchFamily="18" charset="0"/>
                          </a:rPr>
                          <m:t>3·</m:t>
                        </m:r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ru-RU" sz="1600" i="1" dirty="0"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ru-RU" sz="1600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1C5A271-E90A-4CEB-B0F9-9DD3FE2C53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3792" y="4412833"/>
                  <a:ext cx="977768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6E36DD2C-E7EE-42CE-97A7-7B740BBE082C}"/>
              </a:ext>
            </a:extLst>
          </p:cNvPr>
          <p:cNvSpPr txBox="1"/>
          <p:nvPr/>
        </p:nvSpPr>
        <p:spPr>
          <a:xfrm>
            <a:off x="4176476" y="1598209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F36AE2E-8FF8-4443-BAEB-AAECFD247031}"/>
              </a:ext>
            </a:extLst>
          </p:cNvPr>
          <p:cNvSpPr txBox="1"/>
          <p:nvPr/>
        </p:nvSpPr>
        <p:spPr>
          <a:xfrm>
            <a:off x="4492773" y="15791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0383158-9E09-4916-9E43-FAF728604538}"/>
              </a:ext>
            </a:extLst>
          </p:cNvPr>
          <p:cNvSpPr txBox="1"/>
          <p:nvPr/>
        </p:nvSpPr>
        <p:spPr>
          <a:xfrm>
            <a:off x="4843432" y="15791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4666E31-287A-4298-9F90-BB7897BF7A9C}"/>
              </a:ext>
            </a:extLst>
          </p:cNvPr>
          <p:cNvSpPr txBox="1"/>
          <p:nvPr/>
        </p:nvSpPr>
        <p:spPr>
          <a:xfrm>
            <a:off x="5245148" y="15791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C220889-17F6-4C6E-B257-B6D2EC290D64}"/>
              </a:ext>
            </a:extLst>
          </p:cNvPr>
          <p:cNvSpPr txBox="1"/>
          <p:nvPr/>
        </p:nvSpPr>
        <p:spPr>
          <a:xfrm>
            <a:off x="7343296" y="158859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15725AA-1F24-4FC3-A45F-9D856B7BF7B0}"/>
                  </a:ext>
                </a:extLst>
              </p:cNvPr>
              <p:cNvSpPr txBox="1"/>
              <p:nvPr/>
            </p:nvSpPr>
            <p:spPr>
              <a:xfrm>
                <a:off x="5261071" y="3551587"/>
                <a:ext cx="253277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ru-BY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&lt;(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+1)</m:t>
                      </m:r>
                      <m:r>
                        <a:rPr lang="ru-BY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15725AA-1F24-4FC3-A45F-9D856B7BF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1071" y="3551587"/>
                <a:ext cx="2532775" cy="276999"/>
              </a:xfrm>
              <a:prstGeom prst="rect">
                <a:avLst/>
              </a:prstGeom>
              <a:blipFill>
                <a:blip r:embed="rId11"/>
                <a:stretch>
                  <a:fillRect t="-4444" b="-35556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6987F7F-5ED5-49EA-91B7-B87832CFEDDD}"/>
                  </a:ext>
                </a:extLst>
              </p:cNvPr>
              <p:cNvSpPr txBox="1"/>
              <p:nvPr/>
            </p:nvSpPr>
            <p:spPr>
              <a:xfrm>
                <a:off x="4076432" y="3013854"/>
                <a:ext cx="67000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индекс элемента в массиве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, в какой блок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ru-RU" dirty="0"/>
                  <a:t>он попадёт?</a:t>
                </a:r>
                <a:endParaRPr lang="ru-BY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6987F7F-5ED5-49EA-91B7-B87832CFE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432" y="3013854"/>
                <a:ext cx="6700088" cy="369332"/>
              </a:xfrm>
              <a:prstGeom prst="rect">
                <a:avLst/>
              </a:prstGeom>
              <a:blipFill>
                <a:blip r:embed="rId12"/>
                <a:stretch>
                  <a:fillRect l="-819" t="-8197" b="-24590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9FD121E-DCAA-41C8-9C21-34999494F42F}"/>
                  </a:ext>
                </a:extLst>
              </p:cNvPr>
              <p:cNvSpPr txBox="1"/>
              <p:nvPr/>
            </p:nvSpPr>
            <p:spPr>
              <a:xfrm>
                <a:off x="5245148" y="3929821"/>
                <a:ext cx="2532775" cy="5166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−1&lt;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9FD121E-DCAA-41C8-9C21-34999494F4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5148" y="3929821"/>
                <a:ext cx="2532775" cy="51668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7012594C-1CDF-4B43-8352-4EF09FD5C725}"/>
                  </a:ext>
                </a:extLst>
              </p:cNvPr>
              <p:cNvSpPr txBox="1"/>
              <p:nvPr/>
            </p:nvSpPr>
            <p:spPr>
              <a:xfrm>
                <a:off x="5229225" y="4624146"/>
                <a:ext cx="2532775" cy="5241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−1&lt;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7012594C-1CDF-4B43-8352-4EF09FD5C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225" y="4624146"/>
                <a:ext cx="2532775" cy="52418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882466B-332C-4C3A-BA49-191E792BB565}"/>
                  </a:ext>
                </a:extLst>
              </p:cNvPr>
              <p:cNvSpPr txBox="1"/>
              <p:nvPr/>
            </p:nvSpPr>
            <p:spPr>
              <a:xfrm>
                <a:off x="8286218" y="4135834"/>
                <a:ext cx="301537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−1&lt;</m:t>
                    </m:r>
                    <m:d>
                      <m:dPr>
                        <m:begChr m:val="⌊"/>
                        <m:endChr m:val="⌋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d>
                      <m:dPr>
                        <m:begChr m:val="⌈"/>
                        <m:endChr m:val="⌉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&lt;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+1</a:t>
                </a:r>
                <a:endParaRPr lang="ru-BY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882466B-332C-4C3A-BA49-191E792BB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6218" y="4135834"/>
                <a:ext cx="3015379" cy="276999"/>
              </a:xfrm>
              <a:prstGeom prst="rect">
                <a:avLst/>
              </a:prstGeom>
              <a:blipFill>
                <a:blip r:embed="rId15"/>
                <a:stretch>
                  <a:fillRect l="-2020" t="-28261" b="-50000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3" name="Группа 82">
            <a:extLst>
              <a:ext uri="{FF2B5EF4-FFF2-40B4-BE49-F238E27FC236}">
                <a16:creationId xmlns:a16="http://schemas.microsoft.com/office/drawing/2014/main" id="{0F7B4B25-4093-4726-9FEB-D6DC089BE887}"/>
              </a:ext>
            </a:extLst>
          </p:cNvPr>
          <p:cNvGrpSpPr/>
          <p:nvPr/>
        </p:nvGrpSpPr>
        <p:grpSpPr>
          <a:xfrm>
            <a:off x="193468" y="5733417"/>
            <a:ext cx="3812350" cy="618652"/>
            <a:chOff x="185926" y="4380197"/>
            <a:chExt cx="3812350" cy="618652"/>
          </a:xfrm>
        </p:grpSpPr>
        <p:sp>
          <p:nvSpPr>
            <p:cNvPr id="84" name="Прямоугольник 83">
              <a:extLst>
                <a:ext uri="{FF2B5EF4-FFF2-40B4-BE49-F238E27FC236}">
                  <a16:creationId xmlns:a16="http://schemas.microsoft.com/office/drawing/2014/main" id="{0C8A76D6-91CC-4AAE-9981-58D4B2710204}"/>
                </a:ext>
              </a:extLst>
            </p:cNvPr>
            <p:cNvSpPr/>
            <p:nvPr/>
          </p:nvSpPr>
          <p:spPr>
            <a:xfrm>
              <a:off x="1023566" y="4691072"/>
              <a:ext cx="1942975" cy="295050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FD94E268-DB89-4088-B925-6C0CB589E1B0}"/>
                    </a:ext>
                  </a:extLst>
                </p:cNvPr>
                <p:cNvSpPr txBox="1"/>
                <p:nvPr/>
              </p:nvSpPr>
              <p:spPr>
                <a:xfrm>
                  <a:off x="185926" y="4691072"/>
                  <a:ext cx="80098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</m:oMath>
                  </a14:m>
                  <a:r>
                    <a:rPr lang="ru-RU" sz="1400" dirty="0"/>
                    <a:t>-й блок</a:t>
                  </a:r>
                  <a:endParaRPr lang="ru-BY" sz="1400" dirty="0"/>
                </a:p>
              </p:txBody>
            </p:sp>
          </mc:Choice>
          <mc:Fallback xmlns="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FD94E268-DB89-4088-B925-6C0CB589E1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926" y="4691072"/>
                  <a:ext cx="800989" cy="307777"/>
                </a:xfrm>
                <a:prstGeom prst="rect">
                  <a:avLst/>
                </a:prstGeom>
                <a:blipFill>
                  <a:blip r:embed="rId16"/>
                  <a:stretch>
                    <a:fillRect t="-4000" b="-20000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6" name="Прямая соединительная линия 85">
              <a:extLst>
                <a:ext uri="{FF2B5EF4-FFF2-40B4-BE49-F238E27FC236}">
                  <a16:creationId xmlns:a16="http://schemas.microsoft.com/office/drawing/2014/main" id="{3DCDE4FB-FC31-4F3B-BF3D-F91BDF8E6BB9}"/>
                </a:ext>
              </a:extLst>
            </p:cNvPr>
            <p:cNvCxnSpPr/>
            <p:nvPr/>
          </p:nvCxnSpPr>
          <p:spPr>
            <a:xfrm>
              <a:off x="1277186" y="4703799"/>
              <a:ext cx="0" cy="2950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Прямая соединительная линия 86">
              <a:extLst>
                <a:ext uri="{FF2B5EF4-FFF2-40B4-BE49-F238E27FC236}">
                  <a16:creationId xmlns:a16="http://schemas.microsoft.com/office/drawing/2014/main" id="{43957CE8-49DF-4D16-ADCC-04ACF623AF07}"/>
                </a:ext>
              </a:extLst>
            </p:cNvPr>
            <p:cNvCxnSpPr/>
            <p:nvPr/>
          </p:nvCxnSpPr>
          <p:spPr>
            <a:xfrm>
              <a:off x="2655788" y="4703799"/>
              <a:ext cx="0" cy="2950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AA57945F-FB54-431B-9C0F-CC250A1FA019}"/>
                    </a:ext>
                  </a:extLst>
                </p:cNvPr>
                <p:cNvSpPr txBox="1"/>
                <p:nvPr/>
              </p:nvSpPr>
              <p:spPr>
                <a:xfrm>
                  <a:off x="849830" y="4380197"/>
                  <a:ext cx="5757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ru-RU" sz="1600" i="1" dirty="0"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𝒌</m:t>
                        </m:r>
                      </m:oMath>
                    </m:oMathPara>
                  </a14:m>
                  <a:endParaRPr lang="ru-RU" sz="1600" b="1" dirty="0"/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AA57945F-FB54-431B-9C0F-CC250A1FA0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830" y="4380197"/>
                  <a:ext cx="575735" cy="338554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788154DC-A86A-49EE-8D2C-914C29D75E59}"/>
                    </a:ext>
                  </a:extLst>
                </p:cNvPr>
                <p:cNvSpPr txBox="1"/>
                <p:nvPr/>
              </p:nvSpPr>
              <p:spPr>
                <a:xfrm>
                  <a:off x="2603792" y="4412833"/>
                  <a:ext cx="139448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+1)·</m:t>
                      </m:r>
                      <m:r>
                        <a:rPr lang="en-US" sz="1600" b="1" i="1" dirty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ru-RU" sz="1600" i="1" dirty="0">
                          <a:latin typeface="Cambria Math" panose="02040503050406030204" pitchFamily="18" charset="0"/>
                        </a:rPr>
                        <m:t>−1</m:t>
                      </m:r>
                    </m:oMath>
                  </a14:m>
                  <a:endParaRPr lang="ru-RU" sz="16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788154DC-A86A-49EE-8D2C-914C29D75E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3792" y="4412833"/>
                  <a:ext cx="1394484" cy="338554"/>
                </a:xfrm>
                <a:prstGeom prst="rect">
                  <a:avLst/>
                </a:prstGeom>
                <a:blipFill>
                  <a:blip r:embed="rId18"/>
                  <a:stretch>
                    <a:fillRect l="-2183" t="-5455" b="-23636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2" name="Прямая со стрелкой 91">
            <a:extLst>
              <a:ext uri="{FF2B5EF4-FFF2-40B4-BE49-F238E27FC236}">
                <a16:creationId xmlns:a16="http://schemas.microsoft.com/office/drawing/2014/main" id="{ED6C5A0D-259C-4198-962B-0C1648394898}"/>
              </a:ext>
            </a:extLst>
          </p:cNvPr>
          <p:cNvCxnSpPr/>
          <p:nvPr/>
        </p:nvCxnSpPr>
        <p:spPr>
          <a:xfrm>
            <a:off x="6672064" y="4394507"/>
            <a:ext cx="0" cy="229639"/>
          </a:xfrm>
          <a:prstGeom prst="straightConnector1">
            <a:avLst/>
          </a:prstGeom>
          <a:ln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Прямая соединительная линия 94">
            <a:extLst>
              <a:ext uri="{FF2B5EF4-FFF2-40B4-BE49-F238E27FC236}">
                <a16:creationId xmlns:a16="http://schemas.microsoft.com/office/drawing/2014/main" id="{FF5CCB7D-CF28-4D49-8F8A-F9CDC01D386A}"/>
              </a:ext>
            </a:extLst>
          </p:cNvPr>
          <p:cNvCxnSpPr/>
          <p:nvPr/>
        </p:nvCxnSpPr>
        <p:spPr>
          <a:xfrm>
            <a:off x="7970214" y="3383186"/>
            <a:ext cx="0" cy="1955504"/>
          </a:xfrm>
          <a:prstGeom prst="line">
            <a:avLst/>
          </a:prstGeom>
          <a:ln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9234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1" grpId="0"/>
      <p:bldP spid="32" grpId="0"/>
      <p:bldP spid="33" grpId="0"/>
      <p:bldP spid="34" grpId="0"/>
      <p:bldP spid="35" grpId="0"/>
      <p:bldP spid="37" grpId="0"/>
      <p:bldP spid="65" grpId="0"/>
      <p:bldP spid="67" grpId="0"/>
      <p:bldP spid="69" grpId="0"/>
      <p:bldP spid="70" grpId="0"/>
      <p:bldP spid="71" grpId="0"/>
      <p:bldP spid="72" grpId="0"/>
      <p:bldP spid="74" grpId="0"/>
      <p:bldP spid="75" grpId="0"/>
      <p:bldP spid="76" grpId="0"/>
      <p:bldP spid="77" grpId="0"/>
      <p:bldP spid="7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Выполнение операций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43779" y="1471123"/>
                <a:ext cx="9505056" cy="50999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sz="2400" dirty="0"/>
                  <a:t>При </a:t>
                </a:r>
                <a:r>
                  <a:rPr lang="ru-RU" sz="2400" b="1" dirty="0"/>
                  <a:t>модификации</a:t>
                </a:r>
                <a:r>
                  <a:rPr lang="ru-RU" sz="2400" dirty="0"/>
                  <a:t> нужно изменить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d>
                          <m:dPr>
                            <m:begChr m:val="⌊"/>
                            <m:endChr m:val="⌋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43779" y="1471123"/>
                <a:ext cx="9505056" cy="509992"/>
              </a:xfrm>
              <a:blipFill>
                <a:blip r:embed="rId3"/>
                <a:stretch>
                  <a:fillRect l="-1026" t="-8333" b="-1785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7" name="Таблица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297356"/>
              </p:ext>
            </p:extLst>
          </p:nvPr>
        </p:nvGraphicFramePr>
        <p:xfrm>
          <a:off x="443779" y="3002228"/>
          <a:ext cx="105851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Таблица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441889"/>
              </p:ext>
            </p:extLst>
          </p:nvPr>
        </p:nvGraphicFramePr>
        <p:xfrm>
          <a:off x="443779" y="3438708"/>
          <a:ext cx="105851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51052" y="3065167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2" y="3065167"/>
                <a:ext cx="38568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80957" y="3464647"/>
                <a:ext cx="3960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57" y="3464647"/>
                <a:ext cx="39607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/>
          <p:cNvSpPr txBox="1"/>
          <p:nvPr/>
        </p:nvSpPr>
        <p:spPr>
          <a:xfrm>
            <a:off x="1196218" y="3806057"/>
            <a:ext cx="1015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0-й блок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38881" y="3845566"/>
            <a:ext cx="1015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1-й блок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75920" y="3771392"/>
            <a:ext cx="1015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2-й блок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78520" y="3806057"/>
            <a:ext cx="1015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3-й блок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03446" y="3771392"/>
            <a:ext cx="1015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4-й блок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0728" y="27042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9416" y="27089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03438" y="27089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17898" y="27089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78838" y="27089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15221" y="27089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  <a:endParaRPr lang="ru-RU" dirty="0"/>
          </a:p>
        </p:txBody>
      </p:sp>
      <p:sp>
        <p:nvSpPr>
          <p:cNvPr id="68" name="TextBox 67"/>
          <p:cNvSpPr txBox="1"/>
          <p:nvPr/>
        </p:nvSpPr>
        <p:spPr>
          <a:xfrm>
            <a:off x="2529681" y="27089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  <a:endParaRPr lang="ru-RU" dirty="0"/>
          </a:p>
        </p:txBody>
      </p:sp>
      <p:sp>
        <p:nvSpPr>
          <p:cNvPr id="69" name="TextBox 68"/>
          <p:cNvSpPr txBox="1"/>
          <p:nvPr/>
        </p:nvSpPr>
        <p:spPr>
          <a:xfrm>
            <a:off x="2890621" y="27089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  <a:endParaRPr lang="ru-RU" dirty="0"/>
          </a:p>
        </p:txBody>
      </p:sp>
      <p:sp>
        <p:nvSpPr>
          <p:cNvPr id="70" name="TextBox 69"/>
          <p:cNvSpPr txBox="1"/>
          <p:nvPr/>
        </p:nvSpPr>
        <p:spPr>
          <a:xfrm>
            <a:off x="10685998" y="270892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29</a:t>
            </a:r>
            <a:endParaRPr lang="ru-RU" dirty="0"/>
          </a:p>
        </p:txBody>
      </p:sp>
      <p:sp>
        <p:nvSpPr>
          <p:cNvPr id="71" name="TextBox 70"/>
          <p:cNvSpPr txBox="1"/>
          <p:nvPr/>
        </p:nvSpPr>
        <p:spPr>
          <a:xfrm>
            <a:off x="3270160" y="27089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11291107" y="3002228"/>
                <a:ext cx="80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1107" y="3002228"/>
                <a:ext cx="80054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5" name="Таблица 34">
            <a:extLst>
              <a:ext uri="{FF2B5EF4-FFF2-40B4-BE49-F238E27FC236}">
                <a16:creationId xmlns:a16="http://schemas.microsoft.com/office/drawing/2014/main" id="{999FBA9B-87F4-4A6A-B09B-32B41C9C51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776723"/>
              </p:ext>
            </p:extLst>
          </p:nvPr>
        </p:nvGraphicFramePr>
        <p:xfrm>
          <a:off x="439323" y="3001474"/>
          <a:ext cx="105851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Таблица 35">
            <a:extLst>
              <a:ext uri="{FF2B5EF4-FFF2-40B4-BE49-F238E27FC236}">
                <a16:creationId xmlns:a16="http://schemas.microsoft.com/office/drawing/2014/main" id="{3493E462-08D1-4DF7-9949-6580D416A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908628"/>
              </p:ext>
            </p:extLst>
          </p:nvPr>
        </p:nvGraphicFramePr>
        <p:xfrm>
          <a:off x="439375" y="3438708"/>
          <a:ext cx="105851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96EE9948-4C3F-4AB8-915A-2EBFDA1483B5}"/>
              </a:ext>
            </a:extLst>
          </p:cNvPr>
          <p:cNvSpPr txBox="1"/>
          <p:nvPr/>
        </p:nvSpPr>
        <p:spPr>
          <a:xfrm>
            <a:off x="778385" y="4491084"/>
            <a:ext cx="62055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Add</a:t>
            </a:r>
            <a:r>
              <a:rPr lang="en-US" sz="18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8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</a:t>
            </a:r>
            <a:r>
              <a:rPr lang="en-US" sz="18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</a:t>
            </a:r>
            <a:r>
              <a:rPr lang="en-US" sz="18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endParaRPr lang="en-US" sz="180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self</a:t>
            </a:r>
            <a:r>
              <a:rPr lang="en-US" sz="18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8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8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</a:t>
            </a:r>
          </a:p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self</a:t>
            </a:r>
            <a:r>
              <a:rPr lang="en-US" sz="18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US" sz="18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 </a:t>
            </a:r>
            <a:r>
              <a:rPr lang="en-US" sz="18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self</a:t>
            </a:r>
            <a:r>
              <a:rPr lang="en-US" sz="18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</a:t>
            </a:r>
            <a:r>
              <a:rPr lang="en-US" sz="18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</a:t>
            </a:r>
            <a:endParaRPr lang="en-US" sz="1800" dirty="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BA9E323-F617-4E72-BC72-354315B2356E}"/>
                  </a:ext>
                </a:extLst>
              </p:cNvPr>
              <p:cNvSpPr txBox="1"/>
              <p:nvPr/>
            </p:nvSpPr>
            <p:spPr>
              <a:xfrm>
                <a:off x="514452" y="5759174"/>
                <a:ext cx="774868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400" dirty="0"/>
                  <a:t>Время выполнения операции модификации </a:t>
                </a:r>
                <a14:m>
                  <m:oMath xmlns:m="http://schemas.openxmlformats.org/officeDocument/2006/math">
                    <m:r>
                      <a:rPr lang="ru-RU" sz="2400" b="0" i="0" dirty="0" smtClean="0">
                        <a:latin typeface="Cambria Math" panose="02040503050406030204" pitchFamily="18" charset="0"/>
                      </a:rPr>
                      <m:t>− </m:t>
                    </m:r>
                    <m:r>
                      <m:rPr>
                        <m:sty m:val="p"/>
                      </m:rPr>
                      <a:rPr lang="en-US" sz="2400" i="0" dirty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2400" dirty="0"/>
                  <a:t>.</a:t>
                </a:r>
                <a:endParaRPr lang="ru-BY" sz="24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BA9E323-F617-4E72-BC72-354315B23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452" y="5759174"/>
                <a:ext cx="7748685" cy="461665"/>
              </a:xfrm>
              <a:prstGeom prst="rect">
                <a:avLst/>
              </a:prstGeom>
              <a:blipFill>
                <a:blip r:embed="rId7"/>
                <a:stretch>
                  <a:fillRect l="-1179" t="-10667" b="-3066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5235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38" grpId="0"/>
      <p:bldP spid="4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Выполнение операций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554523" y="1372711"/>
                <a:ext cx="9789949" cy="227231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sz="2400" dirty="0"/>
                  <a:t>При </a:t>
                </a:r>
                <a:r>
                  <a:rPr lang="ru-RU" sz="2400" b="1" dirty="0"/>
                  <a:t>суммировании </a:t>
                </a:r>
                <a:r>
                  <a:rPr lang="ru-RU" sz="2400" dirty="0"/>
                  <a:t>на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400" dirty="0"/>
                  <a:t>:</a:t>
                </a:r>
              </a:p>
              <a:p>
                <a:pPr marL="914400" lvl="2" indent="0">
                  <a:buNone/>
                </a:pPr>
                <a:r>
                  <a:rPr lang="ru-RU" sz="2400" dirty="0"/>
                  <a:t>Определяем номера блоков, к которым относятся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и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pPr marL="914400" lvl="2" indent="0">
                  <a:buNone/>
                </a:pPr>
                <a:r>
                  <a:rPr lang="ru-RU" sz="2400" dirty="0"/>
                  <a:t>Суммируем от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до границы блока за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по массиву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pPr marL="914400" lvl="2" indent="0">
                  <a:buNone/>
                </a:pPr>
                <a:r>
                  <a:rPr lang="ru-RU" sz="2400" dirty="0"/>
                  <a:t>Суммируем блоки за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по массиву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.</a:t>
                </a:r>
                <a:endParaRPr lang="ru-RU" sz="2400" dirty="0"/>
              </a:p>
              <a:p>
                <a:pPr marL="914400" lvl="2" indent="0">
                  <a:buNone/>
                </a:pPr>
                <a:r>
                  <a:rPr lang="ru-RU" sz="2400" dirty="0"/>
                  <a:t>Суммируем от границы блока до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за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по массиву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54523" y="1372711"/>
                <a:ext cx="9789949" cy="2272313"/>
              </a:xfrm>
              <a:blipFill>
                <a:blip r:embed="rId2"/>
                <a:stretch>
                  <a:fillRect l="-996" t="-2145" b="-348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Прямая соединительная линия 4"/>
          <p:cNvCxnSpPr>
            <a:cxnSpLocks/>
          </p:cNvCxnSpPr>
          <p:nvPr/>
        </p:nvCxnSpPr>
        <p:spPr>
          <a:xfrm>
            <a:off x="1470063" y="1916832"/>
            <a:ext cx="0" cy="1656184"/>
          </a:xfrm>
          <a:prstGeom prst="line">
            <a:avLst/>
          </a:prstGeom>
          <a:ln w="28575"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Прямоугольник 45"/>
          <p:cNvSpPr/>
          <p:nvPr/>
        </p:nvSpPr>
        <p:spPr>
          <a:xfrm>
            <a:off x="3470710" y="4132060"/>
            <a:ext cx="5629365" cy="42261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47" name="Таблица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494466"/>
              </p:ext>
            </p:extLst>
          </p:nvPr>
        </p:nvGraphicFramePr>
        <p:xfrm>
          <a:off x="312041" y="4552334"/>
          <a:ext cx="105851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Таблица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411176"/>
              </p:ext>
            </p:extLst>
          </p:nvPr>
        </p:nvGraphicFramePr>
        <p:xfrm>
          <a:off x="312041" y="4988814"/>
          <a:ext cx="105851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9" name="Левая круглая скобка 48"/>
          <p:cNvSpPr/>
          <p:nvPr/>
        </p:nvSpPr>
        <p:spPr>
          <a:xfrm>
            <a:off x="3466169" y="4082063"/>
            <a:ext cx="45719" cy="432048"/>
          </a:xfrm>
          <a:prstGeom prst="leftBracke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Левая круглая скобка 49"/>
          <p:cNvSpPr/>
          <p:nvPr/>
        </p:nvSpPr>
        <p:spPr>
          <a:xfrm flipH="1">
            <a:off x="9027179" y="4105779"/>
            <a:ext cx="93994" cy="432048"/>
          </a:xfrm>
          <a:prstGeom prst="leftBracke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51" name="Таблица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65865"/>
              </p:ext>
            </p:extLst>
          </p:nvPr>
        </p:nvGraphicFramePr>
        <p:xfrm>
          <a:off x="318122" y="4550826"/>
          <a:ext cx="1023233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" name="Таблица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514348"/>
              </p:ext>
            </p:extLst>
          </p:nvPr>
        </p:nvGraphicFramePr>
        <p:xfrm>
          <a:off x="302920" y="4996452"/>
          <a:ext cx="105851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3" name="Дуга 52"/>
          <p:cNvSpPr/>
          <p:nvPr/>
        </p:nvSpPr>
        <p:spPr>
          <a:xfrm>
            <a:off x="4542267" y="4328761"/>
            <a:ext cx="2106477" cy="391178"/>
          </a:xfrm>
          <a:prstGeom prst="arc">
            <a:avLst>
              <a:gd name="adj1" fmla="val 10811407"/>
              <a:gd name="adj2" fmla="val 0"/>
            </a:avLst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Дуга 53"/>
          <p:cNvSpPr/>
          <p:nvPr/>
        </p:nvSpPr>
        <p:spPr>
          <a:xfrm>
            <a:off x="6639591" y="4334200"/>
            <a:ext cx="2106477" cy="391178"/>
          </a:xfrm>
          <a:prstGeom prst="arc">
            <a:avLst>
              <a:gd name="adj1" fmla="val 10811407"/>
              <a:gd name="adj2" fmla="val 0"/>
            </a:avLst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-36277" y="4524350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277" y="4524350"/>
                <a:ext cx="38568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7318" y="5005597"/>
                <a:ext cx="3960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8" y="5005597"/>
                <a:ext cx="39607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/>
          <p:cNvSpPr txBox="1"/>
          <p:nvPr/>
        </p:nvSpPr>
        <p:spPr>
          <a:xfrm>
            <a:off x="1331463" y="52961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47715" y="52961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19971" y="52954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41384" y="52954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37074" y="5283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8990" y="4254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7678" y="42590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71700" y="42590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86160" y="42590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747100" y="42590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83483" y="42590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  <a:endParaRPr lang="ru-RU" dirty="0"/>
          </a:p>
        </p:txBody>
      </p:sp>
      <p:sp>
        <p:nvSpPr>
          <p:cNvPr id="68" name="TextBox 67"/>
          <p:cNvSpPr txBox="1"/>
          <p:nvPr/>
        </p:nvSpPr>
        <p:spPr>
          <a:xfrm>
            <a:off x="2397943" y="42590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  <a:endParaRPr lang="ru-RU" dirty="0"/>
          </a:p>
        </p:txBody>
      </p:sp>
      <p:sp>
        <p:nvSpPr>
          <p:cNvPr id="69" name="TextBox 68"/>
          <p:cNvSpPr txBox="1"/>
          <p:nvPr/>
        </p:nvSpPr>
        <p:spPr>
          <a:xfrm>
            <a:off x="2758883" y="42590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  <a:endParaRPr lang="ru-RU" dirty="0"/>
          </a:p>
        </p:txBody>
      </p:sp>
      <p:sp>
        <p:nvSpPr>
          <p:cNvPr id="70" name="TextBox 69"/>
          <p:cNvSpPr txBox="1"/>
          <p:nvPr/>
        </p:nvSpPr>
        <p:spPr>
          <a:xfrm>
            <a:off x="10554260" y="425902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29</a:t>
            </a:r>
            <a:endParaRPr lang="ru-RU" dirty="0"/>
          </a:p>
        </p:txBody>
      </p:sp>
      <p:sp>
        <p:nvSpPr>
          <p:cNvPr id="71" name="TextBox 70"/>
          <p:cNvSpPr txBox="1"/>
          <p:nvPr/>
        </p:nvSpPr>
        <p:spPr>
          <a:xfrm>
            <a:off x="3138422" y="42590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  <a:endParaRPr lang="ru-RU" dirty="0"/>
          </a:p>
        </p:txBody>
      </p:sp>
      <p:sp>
        <p:nvSpPr>
          <p:cNvPr id="72" name="TextBox 71"/>
          <p:cNvSpPr txBox="1"/>
          <p:nvPr/>
        </p:nvSpPr>
        <p:spPr>
          <a:xfrm>
            <a:off x="8746068" y="425902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24</a:t>
            </a:r>
            <a:endParaRPr lang="ru-RU" dirty="0"/>
          </a:p>
        </p:txBody>
      </p:sp>
      <p:graphicFrame>
        <p:nvGraphicFramePr>
          <p:cNvPr id="75" name="Объект 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7124436"/>
              </p:ext>
            </p:extLst>
          </p:nvPr>
        </p:nvGraphicFramePr>
        <p:xfrm>
          <a:off x="3641428" y="4313983"/>
          <a:ext cx="106660" cy="231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280" imgH="330120" progId="Equation.DSMT4">
                  <p:embed/>
                </p:oleObj>
              </mc:Choice>
              <mc:Fallback>
                <p:oleObj name="Equation" r:id="rId5" imgW="152280" imgH="330120" progId="Equation.DSMT4">
                  <p:embed/>
                  <p:pic>
                    <p:nvPicPr>
                      <p:cNvPr id="75" name="Объект 7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41428" y="4313983"/>
                        <a:ext cx="106660" cy="2310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Объект 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4287413"/>
              </p:ext>
            </p:extLst>
          </p:nvPr>
        </p:nvGraphicFramePr>
        <p:xfrm>
          <a:off x="9248299" y="4358847"/>
          <a:ext cx="142875" cy="160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3040" imgH="228600" progId="Equation.DSMT4">
                  <p:embed/>
                </p:oleObj>
              </mc:Choice>
              <mc:Fallback>
                <p:oleObj name="Equation" r:id="rId7" imgW="203040" imgH="228600" progId="Equation.DSMT4">
                  <p:embed/>
                  <p:pic>
                    <p:nvPicPr>
                      <p:cNvPr id="76" name="Объект 7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248299" y="4358847"/>
                        <a:ext cx="142875" cy="160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11162146" y="4737754"/>
                <a:ext cx="93243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en-US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2146" y="4737754"/>
                <a:ext cx="932435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996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9" grpId="0" animBg="1"/>
      <p:bldP spid="50" grpId="0" animBg="1"/>
      <p:bldP spid="53" grpId="0" animBg="1"/>
      <p:bldP spid="54" grpId="0" animBg="1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Выполнение операций</a:t>
            </a:r>
          </a:p>
        </p:txBody>
      </p:sp>
      <p:sp>
        <p:nvSpPr>
          <p:cNvPr id="46" name="Прямоугольник 45"/>
          <p:cNvSpPr/>
          <p:nvPr/>
        </p:nvSpPr>
        <p:spPr>
          <a:xfrm>
            <a:off x="3474419" y="1506510"/>
            <a:ext cx="5629365" cy="42261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47" name="Таблица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7003435"/>
              </p:ext>
            </p:extLst>
          </p:nvPr>
        </p:nvGraphicFramePr>
        <p:xfrm>
          <a:off x="315750" y="1926784"/>
          <a:ext cx="105851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Таблица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48573"/>
              </p:ext>
            </p:extLst>
          </p:nvPr>
        </p:nvGraphicFramePr>
        <p:xfrm>
          <a:off x="315750" y="2363264"/>
          <a:ext cx="105851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9" name="Левая круглая скобка 48"/>
          <p:cNvSpPr/>
          <p:nvPr/>
        </p:nvSpPr>
        <p:spPr>
          <a:xfrm>
            <a:off x="3469878" y="1456513"/>
            <a:ext cx="45719" cy="432048"/>
          </a:xfrm>
          <a:prstGeom prst="leftBracke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Левая круглая скобка 49"/>
          <p:cNvSpPr/>
          <p:nvPr/>
        </p:nvSpPr>
        <p:spPr>
          <a:xfrm flipH="1">
            <a:off x="9030888" y="1480229"/>
            <a:ext cx="93994" cy="432048"/>
          </a:xfrm>
          <a:prstGeom prst="leftBracke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51" name="Таблица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32998"/>
              </p:ext>
            </p:extLst>
          </p:nvPr>
        </p:nvGraphicFramePr>
        <p:xfrm>
          <a:off x="329116" y="1916033"/>
          <a:ext cx="1023233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" name="Таблица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946886"/>
              </p:ext>
            </p:extLst>
          </p:nvPr>
        </p:nvGraphicFramePr>
        <p:xfrm>
          <a:off x="329116" y="2351428"/>
          <a:ext cx="10571805" cy="384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4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0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806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3" name="Дуга 52"/>
          <p:cNvSpPr/>
          <p:nvPr/>
        </p:nvSpPr>
        <p:spPr>
          <a:xfrm>
            <a:off x="4545976" y="1703211"/>
            <a:ext cx="2106477" cy="391178"/>
          </a:xfrm>
          <a:prstGeom prst="arc">
            <a:avLst>
              <a:gd name="adj1" fmla="val 10811407"/>
              <a:gd name="adj2" fmla="val 0"/>
            </a:avLst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Дуга 53"/>
          <p:cNvSpPr/>
          <p:nvPr/>
        </p:nvSpPr>
        <p:spPr>
          <a:xfrm>
            <a:off x="6643300" y="1708650"/>
            <a:ext cx="2106477" cy="391178"/>
          </a:xfrm>
          <a:prstGeom prst="arc">
            <a:avLst>
              <a:gd name="adj1" fmla="val 10811407"/>
              <a:gd name="adj2" fmla="val 0"/>
            </a:avLst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-19202" y="1916787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202" y="1916787"/>
                <a:ext cx="38568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0" y="2361134"/>
                <a:ext cx="3960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361134"/>
                <a:ext cx="39607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/>
          <p:cNvSpPr txBox="1"/>
          <p:nvPr/>
        </p:nvSpPr>
        <p:spPr>
          <a:xfrm>
            <a:off x="861315" y="2390167"/>
            <a:ext cx="1015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0-й блок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85431" y="2372577"/>
            <a:ext cx="1578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1-й блок</a:t>
            </a:r>
            <a:r>
              <a:rPr lang="en-US" dirty="0"/>
              <a:t> (=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jl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9" name="TextBox 58"/>
          <p:cNvSpPr txBox="1"/>
          <p:nvPr/>
        </p:nvSpPr>
        <p:spPr>
          <a:xfrm>
            <a:off x="4821110" y="2367443"/>
            <a:ext cx="1831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2-й блок</a:t>
            </a:r>
            <a:r>
              <a:rPr lang="en-US" dirty="0"/>
              <a:t> (=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jl+1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60" name="TextBox 59"/>
          <p:cNvSpPr txBox="1"/>
          <p:nvPr/>
        </p:nvSpPr>
        <p:spPr>
          <a:xfrm>
            <a:off x="7243485" y="2379835"/>
            <a:ext cx="1015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3-й блок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08431" y="2352513"/>
            <a:ext cx="105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4-й</a:t>
            </a:r>
            <a:r>
              <a:rPr lang="en-US" dirty="0"/>
              <a:t> (=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62" name="TextBox 61"/>
          <p:cNvSpPr txBox="1"/>
          <p:nvPr/>
        </p:nvSpPr>
        <p:spPr>
          <a:xfrm>
            <a:off x="372699" y="162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1387" y="16334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75409" y="16334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89869" y="16334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750809" y="16334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87192" y="16334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  <a:endParaRPr lang="ru-RU" dirty="0"/>
          </a:p>
        </p:txBody>
      </p:sp>
      <p:sp>
        <p:nvSpPr>
          <p:cNvPr id="68" name="TextBox 67"/>
          <p:cNvSpPr txBox="1"/>
          <p:nvPr/>
        </p:nvSpPr>
        <p:spPr>
          <a:xfrm>
            <a:off x="2401652" y="16334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  <a:endParaRPr lang="ru-RU" dirty="0"/>
          </a:p>
        </p:txBody>
      </p:sp>
      <p:sp>
        <p:nvSpPr>
          <p:cNvPr id="69" name="TextBox 68"/>
          <p:cNvSpPr txBox="1"/>
          <p:nvPr/>
        </p:nvSpPr>
        <p:spPr>
          <a:xfrm>
            <a:off x="2762592" y="16334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  <a:endParaRPr lang="ru-RU" dirty="0"/>
          </a:p>
        </p:txBody>
      </p:sp>
      <p:sp>
        <p:nvSpPr>
          <p:cNvPr id="70" name="TextBox 69"/>
          <p:cNvSpPr txBox="1"/>
          <p:nvPr/>
        </p:nvSpPr>
        <p:spPr>
          <a:xfrm>
            <a:off x="10557969" y="16334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29</a:t>
            </a:r>
            <a:endParaRPr lang="ru-RU" dirty="0"/>
          </a:p>
        </p:txBody>
      </p:sp>
      <p:sp>
        <p:nvSpPr>
          <p:cNvPr id="71" name="TextBox 70"/>
          <p:cNvSpPr txBox="1"/>
          <p:nvPr/>
        </p:nvSpPr>
        <p:spPr>
          <a:xfrm>
            <a:off x="3142131" y="16334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  <a:endParaRPr lang="ru-RU" dirty="0"/>
          </a:p>
        </p:txBody>
      </p:sp>
      <p:sp>
        <p:nvSpPr>
          <p:cNvPr id="72" name="TextBox 71"/>
          <p:cNvSpPr txBox="1"/>
          <p:nvPr/>
        </p:nvSpPr>
        <p:spPr>
          <a:xfrm>
            <a:off x="8749777" y="16334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24</a:t>
            </a:r>
            <a:endParaRPr lang="ru-RU" dirty="0"/>
          </a:p>
        </p:txBody>
      </p:sp>
      <p:graphicFrame>
        <p:nvGraphicFramePr>
          <p:cNvPr id="75" name="Объект 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5713324"/>
              </p:ext>
            </p:extLst>
          </p:nvPr>
        </p:nvGraphicFramePr>
        <p:xfrm>
          <a:off x="3645137" y="1688433"/>
          <a:ext cx="106660" cy="231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80" imgH="330120" progId="Equation.DSMT4">
                  <p:embed/>
                </p:oleObj>
              </mc:Choice>
              <mc:Fallback>
                <p:oleObj name="Equation" r:id="rId4" imgW="152280" imgH="330120" progId="Equation.DSMT4">
                  <p:embed/>
                  <p:pic>
                    <p:nvPicPr>
                      <p:cNvPr id="75" name="Объект 7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45137" y="1688433"/>
                        <a:ext cx="106660" cy="2310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Объект 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6708228"/>
              </p:ext>
            </p:extLst>
          </p:nvPr>
        </p:nvGraphicFramePr>
        <p:xfrm>
          <a:off x="9252008" y="1733297"/>
          <a:ext cx="142875" cy="160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3040" imgH="228600" progId="Equation.DSMT4">
                  <p:embed/>
                </p:oleObj>
              </mc:Choice>
              <mc:Fallback>
                <p:oleObj name="Equation" r:id="rId6" imgW="203040" imgH="228600" progId="Equation.DSMT4">
                  <p:embed/>
                  <p:pic>
                    <p:nvPicPr>
                      <p:cNvPr id="76" name="Объект 7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252008" y="1733297"/>
                        <a:ext cx="142875" cy="160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11165855" y="2112204"/>
                <a:ext cx="93243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en-US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5855" y="2112204"/>
                <a:ext cx="932435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2CC38497-79C8-470C-AB91-887795FE6207}"/>
              </a:ext>
            </a:extLst>
          </p:cNvPr>
          <p:cNvSpPr txBox="1"/>
          <p:nvPr/>
        </p:nvSpPr>
        <p:spPr>
          <a:xfrm>
            <a:off x="674385" y="3260257"/>
            <a:ext cx="626745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FindSum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 same block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sum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</a:t>
            </a:r>
            <a:r>
              <a:rPr lang="en-US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])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sum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:((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)])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sum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sum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)</a:t>
            </a:r>
            <a:endParaRPr lang="ru-RU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3716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Выполнение операций</a:t>
            </a:r>
          </a:p>
        </p:txBody>
      </p:sp>
      <p:sp>
        <p:nvSpPr>
          <p:cNvPr id="46" name="Прямоугольник 45"/>
          <p:cNvSpPr/>
          <p:nvPr/>
        </p:nvSpPr>
        <p:spPr>
          <a:xfrm>
            <a:off x="3474419" y="1722534"/>
            <a:ext cx="5629365" cy="42261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47" name="Таблица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608433"/>
              </p:ext>
            </p:extLst>
          </p:nvPr>
        </p:nvGraphicFramePr>
        <p:xfrm>
          <a:off x="315750" y="2142808"/>
          <a:ext cx="105851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352839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Таблица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271126"/>
              </p:ext>
            </p:extLst>
          </p:nvPr>
        </p:nvGraphicFramePr>
        <p:xfrm>
          <a:off x="315750" y="2579288"/>
          <a:ext cx="105851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9" name="Левая круглая скобка 48"/>
          <p:cNvSpPr/>
          <p:nvPr/>
        </p:nvSpPr>
        <p:spPr>
          <a:xfrm>
            <a:off x="3469878" y="1672537"/>
            <a:ext cx="45719" cy="432048"/>
          </a:xfrm>
          <a:prstGeom prst="leftBracke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Левая круглая скобка 49"/>
          <p:cNvSpPr/>
          <p:nvPr/>
        </p:nvSpPr>
        <p:spPr>
          <a:xfrm flipH="1">
            <a:off x="9030888" y="1696253"/>
            <a:ext cx="93994" cy="432048"/>
          </a:xfrm>
          <a:prstGeom prst="leftBracke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51" name="Таблица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490421"/>
              </p:ext>
            </p:extLst>
          </p:nvPr>
        </p:nvGraphicFramePr>
        <p:xfrm>
          <a:off x="315750" y="2149151"/>
          <a:ext cx="1025570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353645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" name="Таблица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70364"/>
              </p:ext>
            </p:extLst>
          </p:nvPr>
        </p:nvGraphicFramePr>
        <p:xfrm>
          <a:off x="318256" y="2579288"/>
          <a:ext cx="105851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7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3" name="Дуга 52"/>
          <p:cNvSpPr/>
          <p:nvPr/>
        </p:nvSpPr>
        <p:spPr>
          <a:xfrm>
            <a:off x="4545976" y="1919235"/>
            <a:ext cx="2106477" cy="391178"/>
          </a:xfrm>
          <a:prstGeom prst="arc">
            <a:avLst>
              <a:gd name="adj1" fmla="val 10811407"/>
              <a:gd name="adj2" fmla="val 0"/>
            </a:avLst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Дуга 53"/>
          <p:cNvSpPr/>
          <p:nvPr/>
        </p:nvSpPr>
        <p:spPr>
          <a:xfrm>
            <a:off x="6643300" y="1924674"/>
            <a:ext cx="2106477" cy="391178"/>
          </a:xfrm>
          <a:prstGeom prst="arc">
            <a:avLst>
              <a:gd name="adj1" fmla="val 10811407"/>
              <a:gd name="adj2" fmla="val 0"/>
            </a:avLst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-29014" y="2170049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9014" y="2170049"/>
                <a:ext cx="38568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-47072" y="2605227"/>
                <a:ext cx="3960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7072" y="2605227"/>
                <a:ext cx="39607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/>
          <p:cNvSpPr txBox="1"/>
          <p:nvPr/>
        </p:nvSpPr>
        <p:spPr>
          <a:xfrm>
            <a:off x="1335172" y="28866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51424" y="28866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23680" y="28859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45093" y="28859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40783" y="28738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2699" y="18448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1387" y="18495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75409" y="18495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89869" y="18495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750809" y="18495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87192" y="18495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  <a:endParaRPr lang="ru-RU" dirty="0"/>
          </a:p>
        </p:txBody>
      </p:sp>
      <p:sp>
        <p:nvSpPr>
          <p:cNvPr id="68" name="TextBox 67"/>
          <p:cNvSpPr txBox="1"/>
          <p:nvPr/>
        </p:nvSpPr>
        <p:spPr>
          <a:xfrm>
            <a:off x="2401652" y="18495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  <a:endParaRPr lang="ru-RU" dirty="0"/>
          </a:p>
        </p:txBody>
      </p:sp>
      <p:sp>
        <p:nvSpPr>
          <p:cNvPr id="69" name="TextBox 68"/>
          <p:cNvSpPr txBox="1"/>
          <p:nvPr/>
        </p:nvSpPr>
        <p:spPr>
          <a:xfrm>
            <a:off x="2762592" y="18495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  <a:endParaRPr lang="ru-RU" dirty="0"/>
          </a:p>
        </p:txBody>
      </p:sp>
      <p:sp>
        <p:nvSpPr>
          <p:cNvPr id="70" name="TextBox 69"/>
          <p:cNvSpPr txBox="1"/>
          <p:nvPr/>
        </p:nvSpPr>
        <p:spPr>
          <a:xfrm>
            <a:off x="10557969" y="18495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29</a:t>
            </a:r>
            <a:endParaRPr lang="ru-RU" dirty="0"/>
          </a:p>
        </p:txBody>
      </p:sp>
      <p:sp>
        <p:nvSpPr>
          <p:cNvPr id="71" name="TextBox 70"/>
          <p:cNvSpPr txBox="1"/>
          <p:nvPr/>
        </p:nvSpPr>
        <p:spPr>
          <a:xfrm>
            <a:off x="3142131" y="18495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  <a:endParaRPr lang="ru-RU" dirty="0"/>
          </a:p>
        </p:txBody>
      </p:sp>
      <p:sp>
        <p:nvSpPr>
          <p:cNvPr id="72" name="TextBox 71"/>
          <p:cNvSpPr txBox="1"/>
          <p:nvPr/>
        </p:nvSpPr>
        <p:spPr>
          <a:xfrm>
            <a:off x="8749777" y="18495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24</a:t>
            </a:r>
            <a:endParaRPr lang="ru-RU" dirty="0"/>
          </a:p>
        </p:txBody>
      </p:sp>
      <p:graphicFrame>
        <p:nvGraphicFramePr>
          <p:cNvPr id="75" name="Объект 74"/>
          <p:cNvGraphicFramePr>
            <a:graphicFrameLocks noChangeAspect="1"/>
          </p:cNvGraphicFramePr>
          <p:nvPr/>
        </p:nvGraphicFramePr>
        <p:xfrm>
          <a:off x="3645137" y="1904457"/>
          <a:ext cx="106660" cy="231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80" imgH="330120" progId="Equation.DSMT4">
                  <p:embed/>
                </p:oleObj>
              </mc:Choice>
              <mc:Fallback>
                <p:oleObj name="Equation" r:id="rId4" imgW="152280" imgH="330120" progId="Equation.DSMT4">
                  <p:embed/>
                  <p:pic>
                    <p:nvPicPr>
                      <p:cNvPr id="75" name="Объект 7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45137" y="1904457"/>
                        <a:ext cx="106660" cy="2310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Объект 75"/>
          <p:cNvGraphicFramePr>
            <a:graphicFrameLocks noChangeAspect="1"/>
          </p:cNvGraphicFramePr>
          <p:nvPr/>
        </p:nvGraphicFramePr>
        <p:xfrm>
          <a:off x="9252008" y="1949321"/>
          <a:ext cx="142875" cy="160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3040" imgH="228600" progId="Equation.DSMT4">
                  <p:embed/>
                </p:oleObj>
              </mc:Choice>
              <mc:Fallback>
                <p:oleObj name="Equation" r:id="rId6" imgW="203040" imgH="228600" progId="Equation.DSMT4">
                  <p:embed/>
                  <p:pic>
                    <p:nvPicPr>
                      <p:cNvPr id="76" name="Объект 7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252008" y="1949321"/>
                        <a:ext cx="142875" cy="160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11165855" y="2328228"/>
                <a:ext cx="93243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en-US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5855" y="2328228"/>
                <a:ext cx="932435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5399091-46CA-49DD-BD07-8DE6CA122C8C}"/>
                  </a:ext>
                </a:extLst>
              </p:cNvPr>
              <p:cNvSpPr txBox="1"/>
              <p:nvPr/>
            </p:nvSpPr>
            <p:spPr>
              <a:xfrm>
                <a:off x="111786" y="3830907"/>
                <a:ext cx="9368590" cy="10143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/>
                <a:r>
                  <a:rPr lang="ru-RU" sz="2400" dirty="0"/>
                  <a:t>При </a:t>
                </a:r>
                <a:r>
                  <a:rPr lang="ru-RU" sz="2400" b="1" dirty="0"/>
                  <a:t>суммировании </a:t>
                </a:r>
                <a:r>
                  <a:rPr lang="ru-RU" sz="2400" dirty="0"/>
                  <a:t>на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m:rPr>
                        <m:nor/>
                      </m:rPr>
                      <a:rPr lang="ru-RU" sz="2400" dirty="0"/>
                      <m:t>общее время</m:t>
                    </m:r>
                  </m:oMath>
                </a14:m>
                <a:r>
                  <a:rPr lang="ru-RU" sz="2400" dirty="0"/>
                  <a:t>:</a:t>
                </a:r>
              </a:p>
              <a:p>
                <a:pPr lvl="8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/>
                  <a:t>.</a:t>
                </a:r>
                <a:endParaRPr lang="ru-RU" sz="24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5399091-46CA-49DD-BD07-8DE6CA122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86" y="3830907"/>
                <a:ext cx="9368590" cy="1014380"/>
              </a:xfrm>
              <a:prstGeom prst="rect">
                <a:avLst/>
              </a:prstGeom>
              <a:blipFill>
                <a:blip r:embed="rId9"/>
                <a:stretch>
                  <a:fillRect t="-4790" b="-4192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AF187E3-EA00-45D7-A125-F0742306E62F}"/>
                  </a:ext>
                </a:extLst>
              </p:cNvPr>
              <p:cNvSpPr txBox="1"/>
              <p:nvPr/>
            </p:nvSpPr>
            <p:spPr>
              <a:xfrm>
                <a:off x="1031429" y="5420197"/>
                <a:ext cx="612385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2800" dirty="0"/>
                  <a:t>Каким лучше выбрать размер блока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sz="2800" dirty="0"/>
                  <a:t>?</a:t>
                </a:r>
                <a:endParaRPr lang="ru-BY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AF187E3-EA00-45D7-A125-F0742306E6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429" y="5420197"/>
                <a:ext cx="6123856" cy="523220"/>
              </a:xfrm>
              <a:prstGeom prst="rect">
                <a:avLst/>
              </a:prstGeom>
              <a:blipFill>
                <a:blip r:embed="rId10"/>
                <a:stretch>
                  <a:fillRect l="-1990" t="-10465" r="-1791" b="-3255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7509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Оптимальный размер блока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51072" y="1304986"/>
                <a:ext cx="9573319" cy="4677759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Исследуем на экстремум</a:t>
                </a:r>
                <a:r>
                  <a:rPr lang="en-US" dirty="0"/>
                  <a:t> </a:t>
                </a:r>
                <a:r>
                  <a:rPr lang="ru-RU" dirty="0"/>
                  <a:t>функцию: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3543300" lvl="8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b="0" dirty="0"/>
              </a:p>
              <a:p>
                <a:pPr marL="3543300" lvl="8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</m:rad>
                    </m:oMath>
                  </m:oMathPara>
                </a14:m>
                <a:endParaRPr lang="en-US" sz="2400" b="1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ea typeface="Cambria Math" panose="02040503050406030204" pitchFamily="18" charset="0"/>
                  </a:rPr>
                  <a:t>Таким образом, оптимально разбивать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:r>
                  <a:rPr lang="ru-RU" dirty="0">
                    <a:ea typeface="Cambria Math" panose="02040503050406030204" pitchFamily="18" charset="0"/>
                  </a:rPr>
                  <a:t>на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ad>
                      <m:radPr>
                        <m:degHide m:val="on"/>
                        <m:ctrlPr>
                          <a:rPr lang="ru-RU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e>
                    </m:rad>
                  </m:oMath>
                </a14:m>
                <a:r>
                  <a:rPr lang="ru-RU" b="0" dirty="0">
                    <a:ea typeface="Cambria Math" panose="02040503050406030204" pitchFamily="18" charset="0"/>
                  </a:rPr>
                  <a:t> блоков по </a:t>
                </a:r>
                <a:endParaRPr lang="ru-RU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ad>
                      <m:radPr>
                        <m:degHide m:val="on"/>
                        <m:ctrlPr>
                          <a:rPr lang="ru-RU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e>
                    </m:rad>
                  </m:oMath>
                </a14:m>
                <a:r>
                  <a:rPr lang="ru-RU" b="0" dirty="0">
                    <a:ea typeface="Cambria Math" panose="02040503050406030204" pitchFamily="18" charset="0"/>
                  </a:rPr>
                  <a:t> элементов</a:t>
                </a:r>
                <a:r>
                  <a:rPr lang="en-US" dirty="0">
                    <a:ea typeface="Cambria Math" panose="02040503050406030204" pitchFamily="18" charset="0"/>
                  </a:rPr>
                  <a:t>.</a:t>
                </a:r>
                <a:endParaRPr lang="ru-RU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ea typeface="Cambria Math" panose="02040503050406030204" pitchFamily="18" charset="0"/>
                  </a:rPr>
                  <a:t>Операция </a:t>
                </a:r>
                <a14:m>
                  <m:oMath xmlns:m="http://schemas.openxmlformats.org/officeDocument/2006/math">
                    <m:r>
                      <a:rPr lang="en-US" sz="2200" b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𝐅𝐢𝐧𝐝𝐒𝐮𝐦</m:t>
                    </m:r>
                    <m:r>
                      <a:rPr lang="en-US" sz="2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𝒍</m:t>
                    </m:r>
                    <m:r>
                      <a:rPr lang="en-US" sz="2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b="1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ru-RU" dirty="0">
                    <a:ea typeface="Cambria Math" panose="02040503050406030204" pitchFamily="18" charset="0"/>
                  </a:rPr>
                  <a:t>выполняется за время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𝐎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e>
                        </m:rad>
                      </m:e>
                    </m:d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1" i="1" dirty="0">
                  <a:solidFill>
                    <a:srgbClr val="0070C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1072" y="1304986"/>
                <a:ext cx="9573319" cy="4677759"/>
              </a:xfrm>
              <a:blipFill>
                <a:blip r:embed="rId2"/>
                <a:stretch>
                  <a:fillRect l="-1146" t="-182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8B75CD9-2ACC-47A2-8064-58F94BC794BA}"/>
              </a:ext>
            </a:extLst>
          </p:cNvPr>
          <p:cNvGrpSpPr/>
          <p:nvPr/>
        </p:nvGrpSpPr>
        <p:grpSpPr>
          <a:xfrm>
            <a:off x="8904312" y="1415537"/>
            <a:ext cx="3096340" cy="3669647"/>
            <a:chOff x="7847606" y="1415537"/>
            <a:chExt cx="4153046" cy="3729862"/>
          </a:xfrm>
        </p:grpSpPr>
        <p:pic>
          <p:nvPicPr>
            <p:cNvPr id="9" name="Рисунок 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44272" y="1600203"/>
              <a:ext cx="3168344" cy="325786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8616280" y="4772989"/>
                  <a:ext cx="526170" cy="3724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6280" y="4772989"/>
                  <a:ext cx="526170" cy="372410"/>
                </a:xfrm>
                <a:prstGeom prst="rect">
                  <a:avLst/>
                </a:prstGeom>
                <a:blipFill>
                  <a:blip r:embed="rId4"/>
                  <a:stretch>
                    <a:fillRect r="-12500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11629717" y="4690988"/>
                  <a:ext cx="37093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29717" y="4690988"/>
                  <a:ext cx="370935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8696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7847606" y="1415537"/>
                  <a:ext cx="69666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47606" y="1415537"/>
                  <a:ext cx="696666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3529" r="-27059" b="-15000"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8217158" y="4690988"/>
                  <a:ext cx="490647" cy="37539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7158" y="4690988"/>
                  <a:ext cx="490647" cy="37539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BY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3A291ED-6D3B-91DC-C9FF-F64488A0FE3F}"/>
              </a:ext>
            </a:extLst>
          </p:cNvPr>
          <p:cNvSpPr txBox="1"/>
          <p:nvPr/>
        </p:nvSpPr>
        <p:spPr>
          <a:xfrm>
            <a:off x="119336" y="5953196"/>
            <a:ext cx="120215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3200" b="0" dirty="0">
                <a:ea typeface="Cambria Math" panose="02040503050406030204" pitchFamily="18" charset="0"/>
              </a:rPr>
              <a:t>Приём называется </a:t>
            </a:r>
            <a:r>
              <a:rPr lang="en-US" sz="3200" b="1" i="1" dirty="0">
                <a:solidFill>
                  <a:srgbClr val="FF0000"/>
                </a:solidFill>
                <a:ea typeface="Cambria Math" panose="02040503050406030204" pitchFamily="18" charset="0"/>
              </a:rPr>
              <a:t>sqrt-</a:t>
            </a:r>
            <a:r>
              <a:rPr lang="ru-RU" sz="3200" b="1" i="1" dirty="0">
                <a:solidFill>
                  <a:srgbClr val="FF0000"/>
                </a:solidFill>
                <a:ea typeface="Cambria Math" panose="02040503050406030204" pitchFamily="18" charset="0"/>
              </a:rPr>
              <a:t>декомпозицией</a:t>
            </a:r>
            <a:r>
              <a:rPr lang="en-US" sz="3200" b="1" i="1" dirty="0">
                <a:solidFill>
                  <a:srgbClr val="FF0000"/>
                </a:solidFill>
                <a:ea typeface="Cambria Math" panose="02040503050406030204" pitchFamily="18" charset="0"/>
              </a:rPr>
              <a:t>  </a:t>
            </a:r>
            <a:r>
              <a:rPr lang="ru-RU" sz="3200" dirty="0">
                <a:ea typeface="Cambria Math" panose="02040503050406030204" pitchFamily="18" charset="0"/>
              </a:rPr>
              <a:t>или</a:t>
            </a:r>
            <a:r>
              <a:rPr lang="ru-RU" sz="3200" b="1" i="1" dirty="0">
                <a:solidFill>
                  <a:srgbClr val="FF0000"/>
                </a:solidFill>
                <a:ea typeface="Cambria Math" panose="02040503050406030204" pitchFamily="18" charset="0"/>
              </a:rPr>
              <a:t> корневой эвристикой.</a:t>
            </a:r>
            <a:endParaRPr lang="en-US" sz="3200" b="1" i="1" dirty="0">
              <a:solidFill>
                <a:srgbClr val="FF0000"/>
              </a:solidFill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048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реализации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Summator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__</a:t>
            </a:r>
            <a:r>
              <a:rPr lang="en-US" sz="1600" dirty="0" err="1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init</a:t>
            </a:r>
            <a:r>
              <a:rPr lang="en-US" sz="16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__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floor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sqrt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len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)))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range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len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bsum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sum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)])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append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bsum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Add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803056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FindSum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jl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jr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jl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jr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 same block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sum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])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sum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:((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jl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)])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sum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jl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jr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])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sum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jr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self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)</a:t>
            </a:r>
            <a:endParaRPr lang="ru-RU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50654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219485"/>
              </p:ext>
            </p:extLst>
          </p:nvPr>
        </p:nvGraphicFramePr>
        <p:xfrm>
          <a:off x="2207568" y="1412776"/>
          <a:ext cx="7632848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2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9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4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20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1" dirty="0">
                          <a:solidFill>
                            <a:srgbClr val="002060"/>
                          </a:solidFill>
                          <a:latin typeface="Consolas" panose="020B0609020204030204" pitchFamily="49" charset="0"/>
                        </a:rPr>
                        <a:t>Обычный массив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1" dirty="0">
                          <a:solidFill>
                            <a:srgbClr val="002060"/>
                          </a:solidFill>
                          <a:latin typeface="Consolas" panose="020B0609020204030204" pitchFamily="49" charset="0"/>
                        </a:rPr>
                        <a:t>Префиксные суммы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err="1">
                          <a:solidFill>
                            <a:srgbClr val="002060"/>
                          </a:solidFill>
                          <a:latin typeface="Consolas" panose="020B0609020204030204" pitchFamily="49" charset="0"/>
                        </a:rPr>
                        <a:t>Sqrt</a:t>
                      </a:r>
                      <a:r>
                        <a:rPr lang="en-US" sz="2400" b="1" dirty="0">
                          <a:solidFill>
                            <a:srgbClr val="002060"/>
                          </a:solidFill>
                          <a:latin typeface="Consolas" panose="020B0609020204030204" pitchFamily="49" charset="0"/>
                        </a:rPr>
                        <a:t>-</a:t>
                      </a:r>
                      <a:r>
                        <a:rPr lang="ru-RU" sz="2400" b="1" dirty="0">
                          <a:solidFill>
                            <a:srgbClr val="002060"/>
                          </a:solidFill>
                          <a:latin typeface="Consolas" panose="020B0609020204030204" pitchFamily="49" charset="0"/>
                        </a:rPr>
                        <a:t>декомпозиция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dirty="0">
                          <a:solidFill>
                            <a:schemeClr val="tx1"/>
                          </a:solidFill>
                        </a:rPr>
                        <a:t>Время на </a:t>
                      </a:r>
                      <a:r>
                        <a:rPr lang="ru-RU" sz="2400" b="0" dirty="0" err="1">
                          <a:solidFill>
                            <a:schemeClr val="tx1"/>
                          </a:solidFill>
                        </a:rPr>
                        <a:t>предподсчёт</a:t>
                      </a:r>
                      <a:endParaRPr lang="ru-R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dirty="0">
                          <a:solidFill>
                            <a:schemeClr val="tx1"/>
                          </a:solidFill>
                        </a:rPr>
                        <a:t>Время на запрос модификации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535">
                <a:tc>
                  <a:txBody>
                    <a:bodyPr/>
                    <a:lstStyle/>
                    <a:p>
                      <a:r>
                        <a:rPr lang="ru-RU" sz="2400" b="0" dirty="0">
                          <a:solidFill>
                            <a:schemeClr val="tx1"/>
                          </a:solidFill>
                        </a:rPr>
                        <a:t>Время на запрос суммы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2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Объем дополнительной памяти</a:t>
                      </a:r>
                      <a:endParaRPr lang="ru-R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2847005"/>
              </p:ext>
            </p:extLst>
          </p:nvPr>
        </p:nvGraphicFramePr>
        <p:xfrm>
          <a:off x="7948613" y="5418138"/>
          <a:ext cx="11303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30040" imgH="698400" progId="Equation.DSMT4">
                  <p:embed/>
                </p:oleObj>
              </mc:Choice>
              <mc:Fallback>
                <p:oleObj name="Equation" r:id="rId2" imgW="1130040" imgH="698400" progId="Equation.DSMT4">
                  <p:embed/>
                  <p:pic>
                    <p:nvPicPr>
                      <p:cNvPr id="2" name="Объект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948613" y="5418138"/>
                        <a:ext cx="1130300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886559"/>
              </p:ext>
            </p:extLst>
          </p:nvPr>
        </p:nvGraphicFramePr>
        <p:xfrm>
          <a:off x="7970838" y="4337050"/>
          <a:ext cx="11303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30040" imgH="698400" progId="Equation.DSMT4">
                  <p:embed/>
                </p:oleObj>
              </mc:Choice>
              <mc:Fallback>
                <p:oleObj name="Equation" r:id="rId4" imgW="1130040" imgH="698400" progId="Equation.DSMT4">
                  <p:embed/>
                  <p:pic>
                    <p:nvPicPr>
                      <p:cNvPr id="4" name="Объект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970838" y="4337050"/>
                        <a:ext cx="1130300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9332880"/>
              </p:ext>
            </p:extLst>
          </p:nvPr>
        </p:nvGraphicFramePr>
        <p:xfrm>
          <a:off x="4627563" y="3487738"/>
          <a:ext cx="762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61760" imgH="520560" progId="Equation.DSMT4">
                  <p:embed/>
                </p:oleObj>
              </mc:Choice>
              <mc:Fallback>
                <p:oleObj name="Equation" r:id="rId6" imgW="761760" imgH="520560" progId="Equation.DSMT4">
                  <p:embed/>
                  <p:pic>
                    <p:nvPicPr>
                      <p:cNvPr id="6" name="Объект 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627563" y="3487738"/>
                        <a:ext cx="7620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0139075"/>
              </p:ext>
            </p:extLst>
          </p:nvPr>
        </p:nvGraphicFramePr>
        <p:xfrm>
          <a:off x="6240463" y="4502150"/>
          <a:ext cx="762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61760" imgH="520560" progId="Equation.DSMT4">
                  <p:embed/>
                </p:oleObj>
              </mc:Choice>
              <mc:Fallback>
                <p:oleObj name="Equation" r:id="rId8" imgW="761760" imgH="520560" progId="Equation.DSMT4">
                  <p:embed/>
                  <p:pic>
                    <p:nvPicPr>
                      <p:cNvPr id="8" name="Объект 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240463" y="4502150"/>
                        <a:ext cx="7620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Объект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1566873"/>
              </p:ext>
            </p:extLst>
          </p:nvPr>
        </p:nvGraphicFramePr>
        <p:xfrm>
          <a:off x="7985125" y="3487738"/>
          <a:ext cx="762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61760" imgH="520560" progId="Equation.DSMT4">
                  <p:embed/>
                </p:oleObj>
              </mc:Choice>
              <mc:Fallback>
                <p:oleObj name="Equation" r:id="rId9" imgW="761760" imgH="520560" progId="Equation.DSMT4">
                  <p:embed/>
                  <p:pic>
                    <p:nvPicPr>
                      <p:cNvPr id="10" name="Объект 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985125" y="3487738"/>
                        <a:ext cx="7620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Объект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7089030"/>
              </p:ext>
            </p:extLst>
          </p:nvPr>
        </p:nvGraphicFramePr>
        <p:xfrm>
          <a:off x="4566699" y="4501852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38080" imgH="520560" progId="Equation.DSMT4">
                  <p:embed/>
                </p:oleObj>
              </mc:Choice>
              <mc:Fallback>
                <p:oleObj name="Equation" r:id="rId11" imgW="838080" imgH="520560" progId="Equation.DSMT4">
                  <p:embed/>
                  <p:pic>
                    <p:nvPicPr>
                      <p:cNvPr id="11" name="Объект 1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66699" y="4501852"/>
                        <a:ext cx="838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Объ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1739225"/>
              </p:ext>
            </p:extLst>
          </p:nvPr>
        </p:nvGraphicFramePr>
        <p:xfrm>
          <a:off x="6096000" y="2448744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838080" imgH="520560" progId="Equation.DSMT4">
                  <p:embed/>
                </p:oleObj>
              </mc:Choice>
              <mc:Fallback>
                <p:oleObj name="Equation" r:id="rId13" imgW="838080" imgH="520560" progId="Equation.DSMT4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096000" y="2448744"/>
                        <a:ext cx="838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Объект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8221825"/>
              </p:ext>
            </p:extLst>
          </p:nvPr>
        </p:nvGraphicFramePr>
        <p:xfrm>
          <a:off x="6096000" y="3486968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38080" imgH="520560" progId="Equation.DSMT4">
                  <p:embed/>
                </p:oleObj>
              </mc:Choice>
              <mc:Fallback>
                <p:oleObj name="Equation" r:id="rId15" imgW="838080" imgH="520560" progId="Equation.DSMT4">
                  <p:embed/>
                  <p:pic>
                    <p:nvPicPr>
                      <p:cNvPr id="13" name="Объект 12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096000" y="3486968"/>
                        <a:ext cx="838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Объект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6226989"/>
              </p:ext>
            </p:extLst>
          </p:nvPr>
        </p:nvGraphicFramePr>
        <p:xfrm>
          <a:off x="7978732" y="2448744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838080" imgH="520560" progId="Equation.DSMT4">
                  <p:embed/>
                </p:oleObj>
              </mc:Choice>
              <mc:Fallback>
                <p:oleObj name="Equation" r:id="rId17" imgW="838080" imgH="520560" progId="Equation.DSMT4">
                  <p:embed/>
                  <p:pic>
                    <p:nvPicPr>
                      <p:cNvPr id="15" name="Объект 1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978732" y="2448744"/>
                        <a:ext cx="838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Заголовок 1"/>
          <p:cNvSpPr>
            <a:spLocks noGrp="1"/>
          </p:cNvSpPr>
          <p:nvPr>
            <p:ph type="title"/>
          </p:nvPr>
        </p:nvSpPr>
        <p:spPr>
          <a:xfrm>
            <a:off x="4779925" y="116632"/>
            <a:ext cx="7440148" cy="954360"/>
          </a:xfrm>
        </p:spPr>
        <p:txBody>
          <a:bodyPr>
            <a:noAutofit/>
          </a:bodyPr>
          <a:lstStyle/>
          <a:p>
            <a:r>
              <a:rPr lang="ru-RU" sz="2800" dirty="0"/>
              <a:t>Оценки</a:t>
            </a:r>
          </a:p>
        </p:txBody>
      </p:sp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F59A1A0C-656A-DB8F-3997-1C22C74BCE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8739142"/>
              </p:ext>
            </p:extLst>
          </p:nvPr>
        </p:nvGraphicFramePr>
        <p:xfrm>
          <a:off x="6240463" y="5364551"/>
          <a:ext cx="762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62127" imgH="521306" progId="Equation.DSMT4">
                  <p:embed/>
                </p:oleObj>
              </mc:Choice>
              <mc:Fallback>
                <p:oleObj name="Equation" r:id="rId18" imgW="762127" imgH="52130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240463" y="5364551"/>
                        <a:ext cx="7620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92615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Дерево отрезков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551384" y="2046745"/>
                <a:ext cx="11377264" cy="4190567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spcAft>
                    <a:spcPts val="800"/>
                  </a:spcAft>
                </a:pPr>
                <a:r>
                  <a:rPr lang="ru-RU" dirty="0"/>
                  <a:t>блоки разной длины организуем в виде дерева</a:t>
                </a:r>
                <a:r>
                  <a:rPr lang="en-US" dirty="0"/>
                  <a:t>;</a:t>
                </a:r>
                <a:endParaRPr lang="ru-RU" dirty="0"/>
              </a:p>
              <a:p>
                <a:pPr>
                  <a:spcAft>
                    <a:spcPts val="800"/>
                  </a:spcAft>
                </a:pPr>
                <a:r>
                  <a:rPr lang="ru-RU" dirty="0"/>
                  <a:t>в каждой вершине дерева содержится сумма элементов массива, индексы которых принадлежат соответствующему отрезку</a:t>
                </a:r>
                <a:r>
                  <a:rPr lang="en-US" dirty="0"/>
                  <a:t>;</a:t>
                </a:r>
                <a:endParaRPr lang="ru-RU" dirty="0"/>
              </a:p>
              <a:p>
                <a:pPr>
                  <a:spcAft>
                    <a:spcPts val="800"/>
                  </a:spcAft>
                </a:pPr>
                <a:r>
                  <a:rPr lang="ru-RU" dirty="0"/>
                  <a:t>корень соответствует всему массиву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[0,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b="0" dirty="0"/>
                  <a:t> (т.е. в корне дерева хранится общая сумма всех элементов массива)</a:t>
                </a:r>
                <a:r>
                  <a:rPr lang="en-US" b="0" dirty="0"/>
                  <a:t>;</a:t>
                </a:r>
                <a:endParaRPr lang="ru-RU" b="0" dirty="0"/>
              </a:p>
              <a:p>
                <a:pPr>
                  <a:spcAft>
                    <a:spcPts val="800"/>
                  </a:spcAft>
                </a:pPr>
                <a:r>
                  <a:rPr lang="ru-RU" dirty="0"/>
                  <a:t>у вершины, соответствующей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, </a:t>
                </a:r>
                <a:r>
                  <a:rPr lang="ru-RU" b="0" dirty="0"/>
                  <a:t>два сына:</a:t>
                </a:r>
              </a:p>
              <a:p>
                <a:pPr marL="857250" lvl="2" indent="0"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b="0" dirty="0"/>
                  <a:t> </a:t>
                </a:r>
                <a:r>
                  <a:rPr lang="ru-RU" b="0" dirty="0"/>
                  <a:t>и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b="0" dirty="0"/>
                  <a:t>, где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US" b="0" dirty="0"/>
              </a:p>
              <a:p>
                <a:pPr marL="0" indent="0">
                  <a:spcAft>
                    <a:spcPts val="800"/>
                  </a:spcAft>
                  <a:buNone/>
                </a:pPr>
                <a:r>
                  <a:rPr lang="ru-RU" dirty="0"/>
                  <a:t>Такую структуру будем называть </a:t>
                </a:r>
                <a:r>
                  <a:rPr lang="ru-RU" b="1" i="1" dirty="0">
                    <a:solidFill>
                      <a:srgbClr val="FF0000"/>
                    </a:solidFill>
                  </a:rPr>
                  <a:t>деревом отрезков</a:t>
                </a:r>
              </a:p>
              <a:p>
                <a:pPr marL="800100" lvl="2" indent="0">
                  <a:spcAft>
                    <a:spcPts val="800"/>
                  </a:spcAft>
                  <a:buNone/>
                </a:pPr>
                <a:r>
                  <a:rPr lang="ru-RU" b="0" dirty="0"/>
                  <a:t>Терминология не устоялась, под </a:t>
                </a:r>
                <a:r>
                  <a:rPr lang="en-US" b="0" i="1" dirty="0"/>
                  <a:t>segment tree</a:t>
                </a:r>
                <a:r>
                  <a:rPr lang="en-US" b="0" dirty="0"/>
                  <a:t> </a:t>
                </a:r>
                <a:r>
                  <a:rPr lang="ru-RU" b="0" dirty="0"/>
                  <a:t>и </a:t>
                </a:r>
                <a:r>
                  <a:rPr lang="en-US" b="0" i="1" dirty="0"/>
                  <a:t>interval tree</a:t>
                </a:r>
                <a:r>
                  <a:rPr lang="en-US" b="0" dirty="0"/>
                  <a:t> </a:t>
                </a:r>
                <a:r>
                  <a:rPr lang="ru-RU" b="0" dirty="0"/>
                  <a:t>часто понимают другие структуры</a:t>
                </a:r>
                <a:endParaRPr lang="en-US" b="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51384" y="2046745"/>
                <a:ext cx="11377264" cy="4190567"/>
              </a:xfrm>
              <a:blipFill>
                <a:blip r:embed="rId2"/>
                <a:stretch>
                  <a:fillRect l="-964" t="-291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191344" y="1387747"/>
            <a:ext cx="107714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u="sng" dirty="0"/>
              <a:t>Дальнейшим развитием идеи разбиения на блоки будет следующее:</a:t>
            </a:r>
          </a:p>
        </p:txBody>
      </p:sp>
    </p:spTree>
    <p:extLst>
      <p:ext uri="{BB962C8B-B14F-4D97-AF65-F5344CB8AC3E}">
        <p14:creationId xmlns:p14="http://schemas.microsoft.com/office/powerpoint/2010/main" val="20349420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Пример дерева отрезков для задачи </a:t>
            </a:r>
            <a:r>
              <a:rPr lang="en-US" dirty="0"/>
              <a:t>RSQ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173098" y="1340768"/>
                <a:ext cx="10981708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73098" y="1340768"/>
                <a:ext cx="10981708" cy="4525963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Группа 5"/>
          <p:cNvGrpSpPr/>
          <p:nvPr/>
        </p:nvGrpSpPr>
        <p:grpSpPr>
          <a:xfrm>
            <a:off x="1333274" y="1700808"/>
            <a:ext cx="9203950" cy="3876189"/>
            <a:chOff x="1333274" y="1700808"/>
            <a:chExt cx="9203950" cy="3876189"/>
          </a:xfrm>
        </p:grpSpPr>
        <p:sp>
          <p:nvSpPr>
            <p:cNvPr id="4" name="Овал 3"/>
            <p:cNvSpPr/>
            <p:nvPr/>
          </p:nvSpPr>
          <p:spPr>
            <a:xfrm>
              <a:off x="5375920" y="1700808"/>
              <a:ext cx="576064" cy="576064"/>
            </a:xfrm>
            <a:prstGeom prst="ellipse">
              <a:avLst/>
            </a:prstGeom>
            <a:noFill/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[0,6)</a:t>
              </a:r>
              <a:endParaRPr lang="ru-RU" sz="1600" dirty="0">
                <a:solidFill>
                  <a:schemeClr val="tx1"/>
                </a:solidFill>
              </a:endParaRPr>
            </a:p>
          </p:txBody>
        </p:sp>
        <p:sp>
          <p:nvSpPr>
            <p:cNvPr id="5" name="Овал 4"/>
            <p:cNvSpPr/>
            <p:nvPr/>
          </p:nvSpPr>
          <p:spPr>
            <a:xfrm>
              <a:off x="2279576" y="2852936"/>
              <a:ext cx="576064" cy="576064"/>
            </a:xfrm>
            <a:prstGeom prst="ellipse">
              <a:avLst/>
            </a:prstGeom>
            <a:noFill/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[0,3)</a:t>
              </a:r>
              <a:endParaRPr lang="ru-RU" sz="1600" dirty="0">
                <a:solidFill>
                  <a:schemeClr val="tx1"/>
                </a:solidFill>
              </a:endParaRPr>
            </a:p>
          </p:txBody>
        </p:sp>
        <p:sp>
          <p:nvSpPr>
            <p:cNvPr id="7" name="Овал 6"/>
            <p:cNvSpPr/>
            <p:nvPr/>
          </p:nvSpPr>
          <p:spPr>
            <a:xfrm>
              <a:off x="1333274" y="3956785"/>
              <a:ext cx="576064" cy="576064"/>
            </a:xfrm>
            <a:prstGeom prst="ellipse">
              <a:avLst/>
            </a:prstGeom>
            <a:noFill/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[0,1)</a:t>
              </a:r>
              <a:endParaRPr lang="ru-RU" sz="1600" dirty="0">
                <a:solidFill>
                  <a:schemeClr val="tx1"/>
                </a:solidFill>
              </a:endParaRPr>
            </a:p>
          </p:txBody>
        </p:sp>
        <p:sp>
          <p:nvSpPr>
            <p:cNvPr id="9" name="Овал 8"/>
            <p:cNvSpPr/>
            <p:nvPr/>
          </p:nvSpPr>
          <p:spPr>
            <a:xfrm>
              <a:off x="3613392" y="3956785"/>
              <a:ext cx="576064" cy="576064"/>
            </a:xfrm>
            <a:prstGeom prst="ellipse">
              <a:avLst/>
            </a:prstGeom>
            <a:noFill/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[1,3)</a:t>
              </a:r>
              <a:endParaRPr lang="ru-RU" sz="1600" dirty="0">
                <a:solidFill>
                  <a:schemeClr val="tx1"/>
                </a:solidFill>
              </a:endParaRPr>
            </a:p>
          </p:txBody>
        </p:sp>
        <p:sp>
          <p:nvSpPr>
            <p:cNvPr id="11" name="Овал 10"/>
            <p:cNvSpPr/>
            <p:nvPr/>
          </p:nvSpPr>
          <p:spPr>
            <a:xfrm>
              <a:off x="2740074" y="4999028"/>
              <a:ext cx="576064" cy="576064"/>
            </a:xfrm>
            <a:prstGeom prst="ellipse">
              <a:avLst/>
            </a:prstGeom>
            <a:noFill/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[1,2)</a:t>
              </a:r>
              <a:endParaRPr lang="ru-RU" sz="1600" dirty="0">
                <a:solidFill>
                  <a:schemeClr val="tx1"/>
                </a:solidFill>
              </a:endParaRPr>
            </a:p>
          </p:txBody>
        </p:sp>
        <p:sp>
          <p:nvSpPr>
            <p:cNvPr id="12" name="Овал 11"/>
            <p:cNvSpPr/>
            <p:nvPr/>
          </p:nvSpPr>
          <p:spPr>
            <a:xfrm>
              <a:off x="4484939" y="5000933"/>
              <a:ext cx="576064" cy="576064"/>
            </a:xfrm>
            <a:prstGeom prst="ellipse">
              <a:avLst/>
            </a:prstGeom>
            <a:noFill/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[2,3)</a:t>
              </a:r>
              <a:endParaRPr lang="ru-RU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Прямая со стрелкой 13"/>
            <p:cNvCxnSpPr>
              <a:stCxn id="5" idx="3"/>
              <a:endCxn id="7" idx="7"/>
            </p:cNvCxnSpPr>
            <p:nvPr/>
          </p:nvCxnSpPr>
          <p:spPr>
            <a:xfrm flipH="1">
              <a:off x="1824975" y="3344637"/>
              <a:ext cx="538964" cy="696511"/>
            </a:xfrm>
            <a:prstGeom prst="straightConnector1">
              <a:avLst/>
            </a:prstGeom>
            <a:ln w="25400">
              <a:solidFill>
                <a:srgbClr val="0A0A0C"/>
              </a:solidFill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 стрелкой 15"/>
            <p:cNvCxnSpPr>
              <a:stCxn id="5" idx="5"/>
              <a:endCxn id="9" idx="1"/>
            </p:cNvCxnSpPr>
            <p:nvPr/>
          </p:nvCxnSpPr>
          <p:spPr>
            <a:xfrm>
              <a:off x="2771277" y="3344637"/>
              <a:ext cx="926478" cy="696511"/>
            </a:xfrm>
            <a:prstGeom prst="straightConnector1">
              <a:avLst/>
            </a:prstGeom>
            <a:ln w="25400">
              <a:solidFill>
                <a:srgbClr val="0A0A0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 стрелкой 17"/>
            <p:cNvCxnSpPr>
              <a:stCxn id="9" idx="3"/>
              <a:endCxn id="11" idx="7"/>
            </p:cNvCxnSpPr>
            <p:nvPr/>
          </p:nvCxnSpPr>
          <p:spPr>
            <a:xfrm flipH="1">
              <a:off x="3231775" y="4448486"/>
              <a:ext cx="465980" cy="634905"/>
            </a:xfrm>
            <a:prstGeom prst="straightConnector1">
              <a:avLst/>
            </a:prstGeom>
            <a:ln w="25400">
              <a:solidFill>
                <a:srgbClr val="0A0A0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 стрелкой 21"/>
            <p:cNvCxnSpPr>
              <a:stCxn id="9" idx="5"/>
              <a:endCxn id="12" idx="1"/>
            </p:cNvCxnSpPr>
            <p:nvPr/>
          </p:nvCxnSpPr>
          <p:spPr>
            <a:xfrm>
              <a:off x="4105093" y="4448486"/>
              <a:ext cx="464209" cy="636810"/>
            </a:xfrm>
            <a:prstGeom prst="straightConnector1">
              <a:avLst/>
            </a:prstGeom>
            <a:ln w="25400">
              <a:solidFill>
                <a:srgbClr val="0A0A0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Овал 27"/>
            <p:cNvSpPr/>
            <p:nvPr/>
          </p:nvSpPr>
          <p:spPr>
            <a:xfrm>
              <a:off x="7755797" y="2852936"/>
              <a:ext cx="576064" cy="576064"/>
            </a:xfrm>
            <a:prstGeom prst="ellipse">
              <a:avLst/>
            </a:prstGeom>
            <a:noFill/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[3,6)</a:t>
              </a:r>
              <a:endParaRPr lang="ru-RU" sz="1600" dirty="0">
                <a:solidFill>
                  <a:schemeClr val="tx1"/>
                </a:solidFill>
              </a:endParaRPr>
            </a:p>
          </p:txBody>
        </p:sp>
        <p:sp>
          <p:nvSpPr>
            <p:cNvPr id="29" name="Овал 28"/>
            <p:cNvSpPr/>
            <p:nvPr/>
          </p:nvSpPr>
          <p:spPr>
            <a:xfrm>
              <a:off x="6809495" y="3956785"/>
              <a:ext cx="576064" cy="576064"/>
            </a:xfrm>
            <a:prstGeom prst="ellipse">
              <a:avLst/>
            </a:prstGeom>
            <a:noFill/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[3,4)</a:t>
              </a:r>
              <a:endParaRPr lang="ru-RU" sz="1600" dirty="0">
                <a:solidFill>
                  <a:schemeClr val="tx1"/>
                </a:solidFill>
              </a:endParaRPr>
            </a:p>
          </p:txBody>
        </p:sp>
        <p:sp>
          <p:nvSpPr>
            <p:cNvPr id="30" name="Овал 29"/>
            <p:cNvSpPr/>
            <p:nvPr/>
          </p:nvSpPr>
          <p:spPr>
            <a:xfrm>
              <a:off x="9089613" y="3956785"/>
              <a:ext cx="576064" cy="576064"/>
            </a:xfrm>
            <a:prstGeom prst="ellipse">
              <a:avLst/>
            </a:prstGeom>
            <a:noFill/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[4,6)</a:t>
              </a:r>
              <a:endParaRPr lang="ru-RU" sz="1600" dirty="0">
                <a:solidFill>
                  <a:schemeClr val="tx1"/>
                </a:solidFill>
              </a:endParaRPr>
            </a:p>
          </p:txBody>
        </p:sp>
        <p:sp>
          <p:nvSpPr>
            <p:cNvPr id="31" name="Овал 30"/>
            <p:cNvSpPr/>
            <p:nvPr/>
          </p:nvSpPr>
          <p:spPr>
            <a:xfrm>
              <a:off x="8216295" y="4999028"/>
              <a:ext cx="576064" cy="576064"/>
            </a:xfrm>
            <a:prstGeom prst="ellipse">
              <a:avLst/>
            </a:prstGeom>
            <a:noFill/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[4,5)</a:t>
              </a:r>
              <a:endParaRPr lang="ru-RU" sz="1600" dirty="0">
                <a:solidFill>
                  <a:schemeClr val="tx1"/>
                </a:solidFill>
              </a:endParaRPr>
            </a:p>
          </p:txBody>
        </p:sp>
        <p:sp>
          <p:nvSpPr>
            <p:cNvPr id="32" name="Овал 31"/>
            <p:cNvSpPr/>
            <p:nvPr/>
          </p:nvSpPr>
          <p:spPr>
            <a:xfrm>
              <a:off x="9961160" y="5000933"/>
              <a:ext cx="576064" cy="576064"/>
            </a:xfrm>
            <a:prstGeom prst="ellipse">
              <a:avLst/>
            </a:prstGeom>
            <a:noFill/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[5,6)</a:t>
              </a:r>
              <a:endParaRPr lang="ru-RU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33" name="Прямая со стрелкой 32"/>
            <p:cNvCxnSpPr>
              <a:stCxn id="28" idx="3"/>
              <a:endCxn id="29" idx="7"/>
            </p:cNvCxnSpPr>
            <p:nvPr/>
          </p:nvCxnSpPr>
          <p:spPr>
            <a:xfrm flipH="1">
              <a:off x="7301196" y="3344637"/>
              <a:ext cx="538964" cy="696511"/>
            </a:xfrm>
            <a:prstGeom prst="straightConnector1">
              <a:avLst/>
            </a:prstGeom>
            <a:ln w="25400">
              <a:solidFill>
                <a:srgbClr val="0A0A0C"/>
              </a:solidFill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 стрелкой 33"/>
            <p:cNvCxnSpPr>
              <a:stCxn id="28" idx="5"/>
              <a:endCxn id="30" idx="1"/>
            </p:cNvCxnSpPr>
            <p:nvPr/>
          </p:nvCxnSpPr>
          <p:spPr>
            <a:xfrm>
              <a:off x="8247498" y="3344637"/>
              <a:ext cx="926478" cy="696511"/>
            </a:xfrm>
            <a:prstGeom prst="straightConnector1">
              <a:avLst/>
            </a:prstGeom>
            <a:ln w="25400">
              <a:solidFill>
                <a:srgbClr val="0A0A0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Прямая со стрелкой 34"/>
            <p:cNvCxnSpPr>
              <a:stCxn id="30" idx="3"/>
              <a:endCxn id="31" idx="7"/>
            </p:cNvCxnSpPr>
            <p:nvPr/>
          </p:nvCxnSpPr>
          <p:spPr>
            <a:xfrm flipH="1">
              <a:off x="8707996" y="4448486"/>
              <a:ext cx="465980" cy="634905"/>
            </a:xfrm>
            <a:prstGeom prst="straightConnector1">
              <a:avLst/>
            </a:prstGeom>
            <a:ln w="25400">
              <a:solidFill>
                <a:srgbClr val="0A0A0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 стрелкой 35"/>
            <p:cNvCxnSpPr>
              <a:stCxn id="30" idx="5"/>
              <a:endCxn id="32" idx="1"/>
            </p:cNvCxnSpPr>
            <p:nvPr/>
          </p:nvCxnSpPr>
          <p:spPr>
            <a:xfrm>
              <a:off x="9581314" y="4448486"/>
              <a:ext cx="464209" cy="636810"/>
            </a:xfrm>
            <a:prstGeom prst="straightConnector1">
              <a:avLst/>
            </a:prstGeom>
            <a:ln w="25400">
              <a:solidFill>
                <a:srgbClr val="0A0A0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 стрелкой 37"/>
            <p:cNvCxnSpPr>
              <a:stCxn id="4" idx="2"/>
              <a:endCxn id="5" idx="7"/>
            </p:cNvCxnSpPr>
            <p:nvPr/>
          </p:nvCxnSpPr>
          <p:spPr>
            <a:xfrm flipH="1">
              <a:off x="2771277" y="1988840"/>
              <a:ext cx="2604643" cy="948459"/>
            </a:xfrm>
            <a:prstGeom prst="straightConnector1">
              <a:avLst/>
            </a:prstGeom>
            <a:ln w="25400">
              <a:solidFill>
                <a:srgbClr val="0A0A0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Прямая со стрелкой 40"/>
            <p:cNvCxnSpPr>
              <a:stCxn id="4" idx="6"/>
              <a:endCxn id="28" idx="1"/>
            </p:cNvCxnSpPr>
            <p:nvPr/>
          </p:nvCxnSpPr>
          <p:spPr>
            <a:xfrm>
              <a:off x="5951984" y="1988840"/>
              <a:ext cx="1888176" cy="948459"/>
            </a:xfrm>
            <a:prstGeom prst="straightConnector1">
              <a:avLst/>
            </a:prstGeom>
            <a:ln w="25400">
              <a:solidFill>
                <a:srgbClr val="0A0A0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6" name="Таблица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637389"/>
              </p:ext>
            </p:extLst>
          </p:nvPr>
        </p:nvGraphicFramePr>
        <p:xfrm>
          <a:off x="407368" y="1937551"/>
          <a:ext cx="2600088" cy="685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3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3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33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33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33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959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592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7375" y="1947945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5" y="1947945"/>
                <a:ext cx="38568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Овал 36"/>
          <p:cNvSpPr/>
          <p:nvPr/>
        </p:nvSpPr>
        <p:spPr>
          <a:xfrm>
            <a:off x="7767659" y="3226924"/>
            <a:ext cx="576064" cy="576064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22</a:t>
            </a:r>
            <a:endParaRPr lang="ru-RU" sz="1600" b="1" dirty="0">
              <a:solidFill>
                <a:schemeClr val="tx1"/>
              </a:solidFill>
            </a:endParaRPr>
          </a:p>
        </p:txBody>
      </p:sp>
      <p:sp>
        <p:nvSpPr>
          <p:cNvPr id="39" name="Овал 38"/>
          <p:cNvSpPr/>
          <p:nvPr/>
        </p:nvSpPr>
        <p:spPr>
          <a:xfrm>
            <a:off x="8216295" y="5345820"/>
            <a:ext cx="576064" cy="576064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6</a:t>
            </a:r>
            <a:endParaRPr lang="ru-RU" sz="1600" b="1" dirty="0">
              <a:solidFill>
                <a:schemeClr val="tx1"/>
              </a:solidFill>
            </a:endParaRPr>
          </a:p>
        </p:txBody>
      </p:sp>
      <p:sp>
        <p:nvSpPr>
          <p:cNvPr id="40" name="Овал 39"/>
          <p:cNvSpPr/>
          <p:nvPr/>
        </p:nvSpPr>
        <p:spPr>
          <a:xfrm>
            <a:off x="9121521" y="4304259"/>
            <a:ext cx="576064" cy="576064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13</a:t>
            </a:r>
            <a:endParaRPr lang="ru-RU" sz="1600" b="1" dirty="0">
              <a:solidFill>
                <a:schemeClr val="tx1"/>
              </a:solidFill>
            </a:endParaRPr>
          </a:p>
        </p:txBody>
      </p:sp>
      <p:sp>
        <p:nvSpPr>
          <p:cNvPr id="42" name="Овал 41"/>
          <p:cNvSpPr/>
          <p:nvPr/>
        </p:nvSpPr>
        <p:spPr>
          <a:xfrm>
            <a:off x="2279576" y="3199728"/>
            <a:ext cx="576064" cy="576064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12</a:t>
            </a:r>
            <a:endParaRPr lang="ru-RU" sz="1600" b="1" dirty="0">
              <a:solidFill>
                <a:schemeClr val="tx1"/>
              </a:solidFill>
            </a:endParaRPr>
          </a:p>
        </p:txBody>
      </p:sp>
      <p:sp>
        <p:nvSpPr>
          <p:cNvPr id="43" name="Овал 42"/>
          <p:cNvSpPr/>
          <p:nvPr/>
        </p:nvSpPr>
        <p:spPr>
          <a:xfrm>
            <a:off x="3625215" y="4318011"/>
            <a:ext cx="576064" cy="576064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10</a:t>
            </a:r>
            <a:endParaRPr lang="ru-RU" sz="1600" b="1" dirty="0">
              <a:solidFill>
                <a:schemeClr val="tx1"/>
              </a:solidFill>
            </a:endParaRPr>
          </a:p>
        </p:txBody>
      </p:sp>
      <p:sp>
        <p:nvSpPr>
          <p:cNvPr id="44" name="Овал 43"/>
          <p:cNvSpPr/>
          <p:nvPr/>
        </p:nvSpPr>
        <p:spPr>
          <a:xfrm>
            <a:off x="10008259" y="5345820"/>
            <a:ext cx="576064" cy="576064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7</a:t>
            </a:r>
            <a:endParaRPr lang="ru-RU" sz="1600" b="1" dirty="0">
              <a:solidFill>
                <a:schemeClr val="tx1"/>
              </a:solidFill>
            </a:endParaRPr>
          </a:p>
        </p:txBody>
      </p:sp>
      <p:sp>
        <p:nvSpPr>
          <p:cNvPr id="45" name="Овал 44"/>
          <p:cNvSpPr/>
          <p:nvPr/>
        </p:nvSpPr>
        <p:spPr>
          <a:xfrm>
            <a:off x="1317239" y="4305400"/>
            <a:ext cx="576064" cy="576064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ru-RU" sz="1600" b="1" dirty="0">
              <a:solidFill>
                <a:schemeClr val="tx1"/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6796943" y="4318011"/>
            <a:ext cx="576064" cy="576064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9</a:t>
            </a:r>
            <a:endParaRPr lang="ru-RU" sz="1600" b="1" dirty="0">
              <a:solidFill>
                <a:schemeClr val="tx1"/>
              </a:solidFill>
            </a:endParaRPr>
          </a:p>
        </p:txBody>
      </p:sp>
      <p:sp>
        <p:nvSpPr>
          <p:cNvPr id="47" name="Овал 46"/>
          <p:cNvSpPr/>
          <p:nvPr/>
        </p:nvSpPr>
        <p:spPr>
          <a:xfrm>
            <a:off x="2719424" y="5345820"/>
            <a:ext cx="576064" cy="576064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9</a:t>
            </a:r>
            <a:endParaRPr lang="ru-RU" sz="1600" b="1" dirty="0">
              <a:solidFill>
                <a:schemeClr val="tx1"/>
              </a:solidFill>
            </a:endParaRPr>
          </a:p>
        </p:txBody>
      </p:sp>
      <p:sp>
        <p:nvSpPr>
          <p:cNvPr id="48" name="Овал 47"/>
          <p:cNvSpPr/>
          <p:nvPr/>
        </p:nvSpPr>
        <p:spPr>
          <a:xfrm>
            <a:off x="4532509" y="5373968"/>
            <a:ext cx="576064" cy="576064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ru-RU" sz="1600" b="1" dirty="0">
              <a:solidFill>
                <a:schemeClr val="tx1"/>
              </a:solidFill>
            </a:endParaRPr>
          </a:p>
        </p:txBody>
      </p:sp>
      <p:sp>
        <p:nvSpPr>
          <p:cNvPr id="49" name="Овал 48"/>
          <p:cNvSpPr/>
          <p:nvPr/>
        </p:nvSpPr>
        <p:spPr>
          <a:xfrm>
            <a:off x="5371365" y="2070848"/>
            <a:ext cx="576064" cy="576064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34</a:t>
            </a:r>
            <a:endParaRPr lang="ru-RU" sz="16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7B8BAFD-F51E-4C96-AD94-595B891A2AE4}"/>
                  </a:ext>
                </a:extLst>
              </p:cNvPr>
              <p:cNvSpPr txBox="1"/>
              <p:nvPr/>
            </p:nvSpPr>
            <p:spPr>
              <a:xfrm>
                <a:off x="6794499" y="1424323"/>
                <a:ext cx="4852008" cy="8844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800"/>
                  </a:spcAft>
                </a:pPr>
                <a:r>
                  <a:rPr lang="ru-RU" dirty="0"/>
                  <a:t>у вершины, соответствующей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, </a:t>
                </a:r>
                <a:r>
                  <a:rPr lang="ru-RU" b="0" dirty="0"/>
                  <a:t>два сына:</a:t>
                </a:r>
              </a:p>
              <a:p>
                <a:pPr marL="857250" lvl="2" indent="0"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b="0" dirty="0"/>
                  <a:t> </a:t>
                </a:r>
                <a:r>
                  <a:rPr lang="ru-RU" b="0" dirty="0"/>
                  <a:t>и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b="0" dirty="0"/>
                  <a:t>, где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ru-BY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7B8BAFD-F51E-4C96-AD94-595B891A2A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4499" y="1424323"/>
                <a:ext cx="4852008" cy="884409"/>
              </a:xfrm>
              <a:prstGeom prst="rect">
                <a:avLst/>
              </a:prstGeom>
              <a:blipFill>
                <a:blip r:embed="rId4"/>
                <a:stretch>
                  <a:fillRect l="-1131" t="-4138" b="-344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3949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9" grpId="0" animBg="1"/>
      <p:bldP spid="40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Дерево отрезков. Число вершин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b="1" u="sng" dirty="0"/>
                  <a:t>Теорема</a:t>
                </a:r>
                <a:endParaRPr lang="en-US" u="sng" dirty="0"/>
              </a:p>
              <a:p>
                <a:pPr marL="400050" lvl="1" indent="0">
                  <a:buNone/>
                </a:pPr>
                <a:r>
                  <a:rPr lang="ru-RU" dirty="0"/>
                  <a:t>Общее число вершин равно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00050" lvl="1" indent="0">
                  <a:buNone/>
                </a:pPr>
                <a:endParaRPr lang="ru-RU" sz="2000" b="1" dirty="0"/>
              </a:p>
              <a:p>
                <a:pPr marL="0" indent="0">
                  <a:buNone/>
                </a:pPr>
                <a:r>
                  <a:rPr lang="ru-RU" sz="2000" b="1" dirty="0"/>
                  <a:t>Доказательство. </a:t>
                </a:r>
              </a:p>
              <a:p>
                <a:pPr marL="400050" lvl="1" indent="0">
                  <a:buNone/>
                </a:pPr>
                <a:r>
                  <a:rPr lang="ru-RU" sz="2000" dirty="0"/>
                  <a:t>По индукции.</a:t>
                </a:r>
              </a:p>
              <a:p>
                <a:pPr marL="457200" lvl="1" indent="0">
                  <a:buNone/>
                </a:pPr>
                <a:r>
                  <a:rPr lang="ru-RU" sz="2000" b="0" dirty="0"/>
                  <a:t>Если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ru-RU" sz="2000" dirty="0"/>
                  <a:t>, то есть одна вершина,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−1=1</m:t>
                    </m:r>
                  </m:oMath>
                </a14:m>
                <a:r>
                  <a:rPr lang="ru-RU" sz="2000" dirty="0"/>
                  <a:t> — верно.</a:t>
                </a:r>
                <a:endParaRPr lang="en-US" sz="2000" dirty="0"/>
              </a:p>
              <a:p>
                <a:pPr marL="457200" lvl="1" indent="0">
                  <a:buNone/>
                </a:pPr>
                <a:r>
                  <a:rPr lang="ru-RU" sz="2000" dirty="0"/>
                  <a:t>Если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:r>
                  <a:rPr lang="ru-RU" sz="2000" dirty="0"/>
                  <a:t>то строим два дерева и добавляем ещё одну вершину: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+1=2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−2+1=2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000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Таким образом, в дереве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листьев 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внутренняя вершина.</a:t>
                </a:r>
              </a:p>
              <a:p>
                <a:pPr marL="0" indent="0">
                  <a:buNone/>
                </a:pPr>
                <a:r>
                  <a:rPr lang="ru-RU" dirty="0"/>
                  <a:t>Высота дерева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ru-RU" dirty="0"/>
                  <a:t>.</a:t>
                </a: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110" t="-229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Прямая соединительная линия 4"/>
          <p:cNvCxnSpPr/>
          <p:nvPr/>
        </p:nvCxnSpPr>
        <p:spPr>
          <a:xfrm>
            <a:off x="1055440" y="2060848"/>
            <a:ext cx="0" cy="5760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8305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Дерево отрезков. Хранение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586901" y="1600203"/>
            <a:ext cx="9685563" cy="4525963"/>
          </a:xfrm>
        </p:spPr>
        <p:txBody>
          <a:bodyPr/>
          <a:lstStyle/>
          <a:p>
            <a:r>
              <a:rPr lang="ru-RU" dirty="0"/>
              <a:t>Нет необходимости хранить указатели</a:t>
            </a:r>
            <a:r>
              <a:rPr lang="en-US" dirty="0"/>
              <a:t>/</a:t>
            </a:r>
            <a:r>
              <a:rPr lang="ru-RU" dirty="0"/>
              <a:t>ссылки</a:t>
            </a:r>
            <a:endParaRPr lang="en-US" dirty="0"/>
          </a:p>
          <a:p>
            <a:r>
              <a:rPr lang="ru-RU" dirty="0"/>
              <a:t>Для хранения вершин дерева будем использовать массив </a:t>
            </a:r>
            <a:r>
              <a:rPr lang="ru-RU" sz="1800" dirty="0"/>
              <a:t>(по аналогии с</a:t>
            </a:r>
            <a:r>
              <a:rPr lang="en-US" sz="1800" dirty="0"/>
              <a:t> </a:t>
            </a:r>
            <a:r>
              <a:rPr lang="ru-RU" sz="1800" dirty="0"/>
              <a:t>тем, как была реализована на массиве бинарная куча)</a:t>
            </a:r>
          </a:p>
          <a:p>
            <a:r>
              <a:rPr lang="ru-RU" dirty="0"/>
              <a:t>Индексация в массиве с единицы (1 — корень)</a:t>
            </a:r>
          </a:p>
        </p:txBody>
      </p:sp>
      <p:sp>
        <p:nvSpPr>
          <p:cNvPr id="5" name="Овал 4"/>
          <p:cNvSpPr/>
          <p:nvPr/>
        </p:nvSpPr>
        <p:spPr>
          <a:xfrm>
            <a:off x="3935760" y="3861048"/>
            <a:ext cx="504056" cy="504056"/>
          </a:xfrm>
          <a:prstGeom prst="ellipse">
            <a:avLst/>
          </a:prstGeom>
          <a:noFill/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514909" y="3918009"/>
                <a:ext cx="1440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ru-RU" i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4909" y="3918009"/>
                <a:ext cx="144016" cy="369332"/>
              </a:xfrm>
              <a:prstGeom prst="rect">
                <a:avLst/>
              </a:prstGeom>
              <a:blipFill>
                <a:blip r:embed="rId2"/>
                <a:stretch>
                  <a:fillRect r="-82609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Овал 6"/>
          <p:cNvSpPr/>
          <p:nvPr/>
        </p:nvSpPr>
        <p:spPr>
          <a:xfrm>
            <a:off x="3359696" y="4653136"/>
            <a:ext cx="504056" cy="504056"/>
          </a:xfrm>
          <a:prstGeom prst="ellipse">
            <a:avLst/>
          </a:prstGeom>
          <a:noFill/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/>
          <p:cNvSpPr/>
          <p:nvPr/>
        </p:nvSpPr>
        <p:spPr>
          <a:xfrm>
            <a:off x="4512659" y="4653136"/>
            <a:ext cx="504056" cy="504056"/>
          </a:xfrm>
          <a:prstGeom prst="ellipse">
            <a:avLst/>
          </a:prstGeom>
          <a:noFill/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10" name="Прямая со стрелкой 9"/>
          <p:cNvCxnSpPr>
            <a:stCxn id="5" idx="3"/>
            <a:endCxn id="7" idx="0"/>
          </p:cNvCxnSpPr>
          <p:nvPr/>
        </p:nvCxnSpPr>
        <p:spPr>
          <a:xfrm flipH="1">
            <a:off x="3611724" y="4291287"/>
            <a:ext cx="397853" cy="3618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>
            <a:stCxn id="5" idx="5"/>
            <a:endCxn id="8" idx="0"/>
          </p:cNvCxnSpPr>
          <p:nvPr/>
        </p:nvCxnSpPr>
        <p:spPr>
          <a:xfrm>
            <a:off x="4365999" y="4291287"/>
            <a:ext cx="398688" cy="3618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495600" y="4720498"/>
                <a:ext cx="7182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ru-RU" i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600" y="4720498"/>
                <a:ext cx="71827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069560" y="4672971"/>
                <a:ext cx="12424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ru-RU" i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9560" y="4672971"/>
                <a:ext cx="124246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15915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92178" y="258155"/>
            <a:ext cx="7022571" cy="954360"/>
          </a:xfrm>
        </p:spPr>
        <p:txBody>
          <a:bodyPr/>
          <a:lstStyle/>
          <a:p>
            <a:r>
              <a:rPr lang="ru-RU" dirty="0"/>
              <a:t>Дерево отрезков. Хранение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27233919"/>
              </p:ext>
            </p:extLst>
          </p:nvPr>
        </p:nvGraphicFramePr>
        <p:xfrm>
          <a:off x="175096" y="1912515"/>
          <a:ext cx="4949917" cy="218743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58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8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2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82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82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82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161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637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161">
                <a:tc gridSpan="6"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161">
                <a:tc gridSpan="3"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161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161"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567273"/>
              </p:ext>
            </p:extLst>
          </p:nvPr>
        </p:nvGraphicFramePr>
        <p:xfrm>
          <a:off x="2099830" y="4876163"/>
          <a:ext cx="6500220" cy="685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3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3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33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33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33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33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33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33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33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33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334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334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334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3334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195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592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Овал 2"/>
          <p:cNvSpPr/>
          <p:nvPr/>
        </p:nvSpPr>
        <p:spPr>
          <a:xfrm>
            <a:off x="8446214" y="1325905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26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7363744" y="2087389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16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33" name="Овал 32"/>
          <p:cNvSpPr/>
          <p:nvPr/>
        </p:nvSpPr>
        <p:spPr>
          <a:xfrm>
            <a:off x="9561872" y="2116642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10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36" name="Овал 35"/>
          <p:cNvSpPr/>
          <p:nvPr/>
        </p:nvSpPr>
        <p:spPr>
          <a:xfrm>
            <a:off x="6725248" y="2910957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9" name="Овал 38"/>
          <p:cNvSpPr/>
          <p:nvPr/>
        </p:nvSpPr>
        <p:spPr>
          <a:xfrm>
            <a:off x="7937278" y="2872515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2" name="Овал 41"/>
          <p:cNvSpPr/>
          <p:nvPr/>
        </p:nvSpPr>
        <p:spPr>
          <a:xfrm>
            <a:off x="9034412" y="2901804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  <a:endParaRPr lang="ru-RU" dirty="0">
              <a:solidFill>
                <a:schemeClr val="tx1"/>
              </a:solidFill>
            </a:endParaRPr>
          </a:p>
        </p:txBody>
      </p:sp>
      <p:grpSp>
        <p:nvGrpSpPr>
          <p:cNvPr id="44" name="Группа 43"/>
          <p:cNvGrpSpPr/>
          <p:nvPr/>
        </p:nvGrpSpPr>
        <p:grpSpPr>
          <a:xfrm>
            <a:off x="10152237" y="2901804"/>
            <a:ext cx="510639" cy="484961"/>
            <a:chOff x="10266298" y="2461784"/>
            <a:chExt cx="510639" cy="484961"/>
          </a:xfrm>
          <a:solidFill>
            <a:srgbClr val="92D050"/>
          </a:solidFill>
        </p:grpSpPr>
        <p:sp>
          <p:nvSpPr>
            <p:cNvPr id="45" name="Овал 44"/>
            <p:cNvSpPr/>
            <p:nvPr/>
          </p:nvSpPr>
          <p:spPr>
            <a:xfrm>
              <a:off x="10266298" y="2461784"/>
              <a:ext cx="510639" cy="484961"/>
            </a:xfrm>
            <a:prstGeom prst="ellipse">
              <a:avLst/>
            </a:prstGeom>
            <a:grpFill/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0372097" y="2506392"/>
              <a:ext cx="189992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7</a:t>
              </a:r>
              <a:endParaRPr lang="ru-RU" dirty="0"/>
            </a:p>
          </p:txBody>
        </p:sp>
      </p:grpSp>
      <p:sp>
        <p:nvSpPr>
          <p:cNvPr id="48" name="Овал 47"/>
          <p:cNvSpPr/>
          <p:nvPr/>
        </p:nvSpPr>
        <p:spPr>
          <a:xfrm>
            <a:off x="7465388" y="3722389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1" name="Овал 50"/>
          <p:cNvSpPr/>
          <p:nvPr/>
        </p:nvSpPr>
        <p:spPr>
          <a:xfrm>
            <a:off x="8386680" y="3722389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4" name="Овал 53"/>
          <p:cNvSpPr/>
          <p:nvPr/>
        </p:nvSpPr>
        <p:spPr>
          <a:xfrm>
            <a:off x="9875057" y="3722389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7" name="Овал 56"/>
          <p:cNvSpPr/>
          <p:nvPr/>
        </p:nvSpPr>
        <p:spPr>
          <a:xfrm>
            <a:off x="10662876" y="3722389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68" name="Прямая со стрелкой 67"/>
          <p:cNvCxnSpPr>
            <a:cxnSpLocks/>
            <a:stCxn id="30" idx="4"/>
            <a:endCxn id="36" idx="0"/>
          </p:cNvCxnSpPr>
          <p:nvPr/>
        </p:nvCxnSpPr>
        <p:spPr>
          <a:xfrm flipH="1">
            <a:off x="6977276" y="2591445"/>
            <a:ext cx="638496" cy="319512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 стрелкой 69"/>
          <p:cNvCxnSpPr>
            <a:cxnSpLocks/>
            <a:stCxn id="30" idx="4"/>
            <a:endCxn id="39" idx="0"/>
          </p:cNvCxnSpPr>
          <p:nvPr/>
        </p:nvCxnSpPr>
        <p:spPr>
          <a:xfrm>
            <a:off x="7615772" y="2591445"/>
            <a:ext cx="573534" cy="281070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Прямая со стрелкой 71"/>
          <p:cNvCxnSpPr>
            <a:cxnSpLocks/>
            <a:stCxn id="33" idx="4"/>
            <a:endCxn id="42" idx="0"/>
          </p:cNvCxnSpPr>
          <p:nvPr/>
        </p:nvCxnSpPr>
        <p:spPr>
          <a:xfrm flipH="1">
            <a:off x="9286440" y="2620698"/>
            <a:ext cx="527460" cy="281106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 стрелкой 73"/>
          <p:cNvCxnSpPr>
            <a:cxnSpLocks/>
            <a:stCxn id="33" idx="4"/>
            <a:endCxn id="45" idx="0"/>
          </p:cNvCxnSpPr>
          <p:nvPr/>
        </p:nvCxnSpPr>
        <p:spPr>
          <a:xfrm>
            <a:off x="9813900" y="2620698"/>
            <a:ext cx="593657" cy="281106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 стрелкой 75"/>
          <p:cNvCxnSpPr>
            <a:cxnSpLocks/>
            <a:stCxn id="39" idx="4"/>
            <a:endCxn id="48" idx="0"/>
          </p:cNvCxnSpPr>
          <p:nvPr/>
        </p:nvCxnSpPr>
        <p:spPr>
          <a:xfrm flipH="1">
            <a:off x="7717416" y="3376571"/>
            <a:ext cx="471890" cy="345818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cxnSpLocks/>
            <a:stCxn id="39" idx="4"/>
            <a:endCxn id="51" idx="0"/>
          </p:cNvCxnSpPr>
          <p:nvPr/>
        </p:nvCxnSpPr>
        <p:spPr>
          <a:xfrm>
            <a:off x="8189306" y="3376571"/>
            <a:ext cx="449402" cy="345818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 стрелкой 79"/>
          <p:cNvCxnSpPr>
            <a:cxnSpLocks/>
            <a:stCxn id="45" idx="4"/>
            <a:endCxn id="54" idx="0"/>
          </p:cNvCxnSpPr>
          <p:nvPr/>
        </p:nvCxnSpPr>
        <p:spPr>
          <a:xfrm flipH="1">
            <a:off x="10127085" y="3386765"/>
            <a:ext cx="280472" cy="335624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Прямая со стрелкой 81"/>
          <p:cNvCxnSpPr>
            <a:cxnSpLocks/>
          </p:cNvCxnSpPr>
          <p:nvPr/>
        </p:nvCxnSpPr>
        <p:spPr>
          <a:xfrm>
            <a:off x="10407557" y="3358652"/>
            <a:ext cx="507347" cy="335624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Прямая со стрелкой 83"/>
          <p:cNvCxnSpPr>
            <a:cxnSpLocks/>
            <a:stCxn id="3" idx="4"/>
            <a:endCxn id="30" idx="0"/>
          </p:cNvCxnSpPr>
          <p:nvPr/>
        </p:nvCxnSpPr>
        <p:spPr>
          <a:xfrm flipH="1">
            <a:off x="7615772" y="1829961"/>
            <a:ext cx="1082470" cy="257428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Прямая со стрелкой 85"/>
          <p:cNvCxnSpPr>
            <a:cxnSpLocks/>
            <a:stCxn id="3" idx="4"/>
            <a:endCxn id="33" idx="0"/>
          </p:cNvCxnSpPr>
          <p:nvPr/>
        </p:nvCxnSpPr>
        <p:spPr>
          <a:xfrm>
            <a:off x="8698242" y="1829961"/>
            <a:ext cx="1115658" cy="286681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8114337" y="145514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45201" y="2200499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260528" y="2305684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44021" y="299902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15868" y="2988373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687056" y="2988188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913837" y="2970274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572969" y="4207349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10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444512" y="4207348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11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906656" y="4207350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14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718853" y="4215857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/>
              <p:cNvSpPr txBox="1"/>
              <p:nvPr/>
            </p:nvSpPr>
            <p:spPr>
              <a:xfrm>
                <a:off x="4335397" y="1377849"/>
                <a:ext cx="8041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ru-RU" i="1" dirty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0" name="TextBox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5397" y="1377849"/>
                <a:ext cx="80419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/>
              <p:cNvSpPr txBox="1"/>
              <p:nvPr/>
            </p:nvSpPr>
            <p:spPr>
              <a:xfrm>
                <a:off x="215050" y="5690183"/>
                <a:ext cx="11569583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800" dirty="0"/>
                  <a:t>Количество реально занятых ячеек: </a:t>
                </a:r>
                <a14:m>
                  <m:oMath xmlns:m="http://schemas.openxmlformats.org/officeDocument/2006/math">
                    <m:r>
                      <a:rPr lang="ru-RU" sz="28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ru-R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−1=2⋅6−1=11</m:t>
                    </m:r>
                  </m:oMath>
                </a14:m>
                <a:r>
                  <a:rPr lang="ru-RU" sz="2800" dirty="0"/>
                  <a:t>.</a:t>
                </a:r>
              </a:p>
              <a:p>
                <a:r>
                  <a:rPr lang="ru-RU" sz="2800" dirty="0"/>
                  <a:t>Сколько всего ячеек надо зарезервировать в массиве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ru-RU" sz="2800" dirty="0"/>
                  <a:t>? </a:t>
                </a:r>
              </a:p>
            </p:txBody>
          </p:sp>
        </mc:Choice>
        <mc:Fallback xmlns="">
          <p:sp>
            <p:nvSpPr>
              <p:cNvPr id="101" name="TextBox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50" y="5690183"/>
                <a:ext cx="11569583" cy="954107"/>
              </a:xfrm>
              <a:prstGeom prst="rect">
                <a:avLst/>
              </a:prstGeom>
              <a:blipFill>
                <a:blip r:embed="rId3"/>
                <a:stretch>
                  <a:fillRect l="-1054" t="-5732" b="-1719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/>
              <p:cNvSpPr txBox="1"/>
              <p:nvPr/>
            </p:nvSpPr>
            <p:spPr>
              <a:xfrm>
                <a:off x="-80224" y="1924265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2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0224" y="1924265"/>
                <a:ext cx="38568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/>
              <p:cNvSpPr txBox="1"/>
              <p:nvPr/>
            </p:nvSpPr>
            <p:spPr>
              <a:xfrm>
                <a:off x="1768520" y="4882849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8520" y="4882849"/>
                <a:ext cx="38048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Овал 33">
            <a:extLst>
              <a:ext uri="{FF2B5EF4-FFF2-40B4-BE49-F238E27FC236}">
                <a16:creationId xmlns:a16="http://schemas.microsoft.com/office/drawing/2014/main" id="{6B0DDD3B-A372-DC1B-BDFE-B28ED6299BCB}"/>
              </a:ext>
            </a:extLst>
          </p:cNvPr>
          <p:cNvSpPr/>
          <p:nvPr/>
        </p:nvSpPr>
        <p:spPr>
          <a:xfrm>
            <a:off x="8995001" y="3982692"/>
            <a:ext cx="268880" cy="243753"/>
          </a:xfrm>
          <a:prstGeom prst="ellipse">
            <a:avLst/>
          </a:prstGeom>
          <a:noFill/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id="{3B5B43CD-C7BF-8E63-C58A-888C89B13F2E}"/>
              </a:ext>
            </a:extLst>
          </p:cNvPr>
          <p:cNvSpPr/>
          <p:nvPr/>
        </p:nvSpPr>
        <p:spPr>
          <a:xfrm>
            <a:off x="9380493" y="3982692"/>
            <a:ext cx="268880" cy="243753"/>
          </a:xfrm>
          <a:prstGeom prst="ellipse">
            <a:avLst/>
          </a:prstGeom>
          <a:noFill/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7" name="Овал 36">
            <a:extLst>
              <a:ext uri="{FF2B5EF4-FFF2-40B4-BE49-F238E27FC236}">
                <a16:creationId xmlns:a16="http://schemas.microsoft.com/office/drawing/2014/main" id="{3F8D62F5-F835-EC19-72CC-44C0E22B8B7D}"/>
              </a:ext>
            </a:extLst>
          </p:cNvPr>
          <p:cNvSpPr/>
          <p:nvPr/>
        </p:nvSpPr>
        <p:spPr>
          <a:xfrm>
            <a:off x="6456368" y="3982692"/>
            <a:ext cx="268880" cy="243753"/>
          </a:xfrm>
          <a:prstGeom prst="ellipse">
            <a:avLst/>
          </a:prstGeom>
          <a:noFill/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378BF192-B8E1-6F43-9B8F-9BD22E2F2108}"/>
              </a:ext>
            </a:extLst>
          </p:cNvPr>
          <p:cNvSpPr/>
          <p:nvPr/>
        </p:nvSpPr>
        <p:spPr>
          <a:xfrm>
            <a:off x="7094864" y="3982692"/>
            <a:ext cx="268880" cy="243753"/>
          </a:xfrm>
          <a:prstGeom prst="ellipse">
            <a:avLst/>
          </a:prstGeom>
          <a:noFill/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DA9F563B-E0C8-39B1-0CCA-4C1099787900}"/>
              </a:ext>
            </a:extLst>
          </p:cNvPr>
          <p:cNvCxnSpPr>
            <a:cxnSpLocks/>
            <a:stCxn id="36" idx="4"/>
            <a:endCxn id="37" idx="0"/>
          </p:cNvCxnSpPr>
          <p:nvPr/>
        </p:nvCxnSpPr>
        <p:spPr>
          <a:xfrm flipH="1">
            <a:off x="6590808" y="3415013"/>
            <a:ext cx="386468" cy="5676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Прямая со стрелкой 54">
            <a:extLst>
              <a:ext uri="{FF2B5EF4-FFF2-40B4-BE49-F238E27FC236}">
                <a16:creationId xmlns:a16="http://schemas.microsoft.com/office/drawing/2014/main" id="{4CCCE3EA-6503-3892-B85F-EEECA212DFB0}"/>
              </a:ext>
            </a:extLst>
          </p:cNvPr>
          <p:cNvCxnSpPr>
            <a:stCxn id="36" idx="4"/>
            <a:endCxn id="38" idx="0"/>
          </p:cNvCxnSpPr>
          <p:nvPr/>
        </p:nvCxnSpPr>
        <p:spPr>
          <a:xfrm>
            <a:off x="6977276" y="3415013"/>
            <a:ext cx="252028" cy="5676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id="{AB1E77BD-1EDA-6FD9-3D38-282A4A89DBE4}"/>
              </a:ext>
            </a:extLst>
          </p:cNvPr>
          <p:cNvCxnSpPr>
            <a:stCxn id="42" idx="4"/>
            <a:endCxn id="34" idx="0"/>
          </p:cNvCxnSpPr>
          <p:nvPr/>
        </p:nvCxnSpPr>
        <p:spPr>
          <a:xfrm flipH="1">
            <a:off x="9129441" y="3405860"/>
            <a:ext cx="156999" cy="576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Прямая со стрелкой 60">
            <a:extLst>
              <a:ext uri="{FF2B5EF4-FFF2-40B4-BE49-F238E27FC236}">
                <a16:creationId xmlns:a16="http://schemas.microsoft.com/office/drawing/2014/main" id="{6666CB52-89AE-EB8D-AD07-6FADB35CEE9B}"/>
              </a:ext>
            </a:extLst>
          </p:cNvPr>
          <p:cNvCxnSpPr>
            <a:stCxn id="42" idx="4"/>
            <a:endCxn id="35" idx="0"/>
          </p:cNvCxnSpPr>
          <p:nvPr/>
        </p:nvCxnSpPr>
        <p:spPr>
          <a:xfrm>
            <a:off x="9286440" y="3405860"/>
            <a:ext cx="228493" cy="576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DD67AEAB-74E4-A342-D059-1768E3579867}"/>
              </a:ext>
            </a:extLst>
          </p:cNvPr>
          <p:cNvSpPr txBox="1"/>
          <p:nvPr/>
        </p:nvSpPr>
        <p:spPr>
          <a:xfrm>
            <a:off x="6463184" y="420065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8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032CDA21-1BC5-1B79-3710-62257DC9A07E}"/>
              </a:ext>
            </a:extLst>
          </p:cNvPr>
          <p:cNvSpPr txBox="1"/>
          <p:nvPr/>
        </p:nvSpPr>
        <p:spPr>
          <a:xfrm>
            <a:off x="7110248" y="420065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9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7795A36D-1DDB-0135-D382-B1AB38BBBE17}"/>
              </a:ext>
            </a:extLst>
          </p:cNvPr>
          <p:cNvSpPr txBox="1"/>
          <p:nvPr/>
        </p:nvSpPr>
        <p:spPr>
          <a:xfrm>
            <a:off x="9010941" y="4219476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12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253EB2F-7E6F-C91A-6FB9-FD82B22B69AD}"/>
              </a:ext>
            </a:extLst>
          </p:cNvPr>
          <p:cNvSpPr txBox="1"/>
          <p:nvPr/>
        </p:nvSpPr>
        <p:spPr>
          <a:xfrm>
            <a:off x="9383326" y="4207348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64385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1" grpId="0"/>
      <p:bldP spid="103" grpId="0"/>
      <p:bldP spid="34" grpId="0" animBg="1"/>
      <p:bldP spid="35" grpId="0" animBg="1"/>
      <p:bldP spid="37" grpId="0" animBg="1"/>
      <p:bldP spid="38" grpId="0" animBg="1"/>
      <p:bldP spid="116" grpId="0"/>
      <p:bldP spid="117" grpId="0"/>
      <p:bldP spid="118" grpId="0"/>
      <p:bldP spid="11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92178" y="258155"/>
            <a:ext cx="7022571" cy="954360"/>
          </a:xfrm>
        </p:spPr>
        <p:txBody>
          <a:bodyPr/>
          <a:lstStyle/>
          <a:p>
            <a:r>
              <a:rPr lang="ru-RU" dirty="0"/>
              <a:t>Дерево отрезков. Хранение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199475"/>
              </p:ext>
            </p:extLst>
          </p:nvPr>
        </p:nvGraphicFramePr>
        <p:xfrm>
          <a:off x="281322" y="5836064"/>
          <a:ext cx="11503312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1827947526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4083107174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5932519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706424943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1277034328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817705820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102764583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688982425"/>
                    </a:ext>
                  </a:extLst>
                </a:gridCol>
              </a:tblGrid>
              <a:tr h="294033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34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34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023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16                   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. . .</a:t>
                      </a:r>
                      <a:endParaRPr lang="ru-RU" sz="12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Овал 2"/>
          <p:cNvSpPr/>
          <p:nvPr/>
        </p:nvSpPr>
        <p:spPr>
          <a:xfrm>
            <a:off x="2713177" y="1307663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74</a:t>
            </a:r>
          </a:p>
        </p:txBody>
      </p:sp>
      <p:sp>
        <p:nvSpPr>
          <p:cNvPr id="30" name="Овал 29"/>
          <p:cNvSpPr/>
          <p:nvPr/>
        </p:nvSpPr>
        <p:spPr>
          <a:xfrm>
            <a:off x="1442607" y="2124665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34</a:t>
            </a:r>
          </a:p>
        </p:txBody>
      </p:sp>
      <p:sp>
        <p:nvSpPr>
          <p:cNvPr id="33" name="Овал 32"/>
          <p:cNvSpPr/>
          <p:nvPr/>
        </p:nvSpPr>
        <p:spPr>
          <a:xfrm>
            <a:off x="3698032" y="2007874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40</a:t>
            </a:r>
          </a:p>
        </p:txBody>
      </p:sp>
      <p:sp>
        <p:nvSpPr>
          <p:cNvPr id="36" name="Овал 35"/>
          <p:cNvSpPr/>
          <p:nvPr/>
        </p:nvSpPr>
        <p:spPr>
          <a:xfrm>
            <a:off x="782420" y="2833915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39" name="Овал 38"/>
          <p:cNvSpPr/>
          <p:nvPr/>
        </p:nvSpPr>
        <p:spPr>
          <a:xfrm>
            <a:off x="1959638" y="2823041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42" name="Овал 41"/>
          <p:cNvSpPr/>
          <p:nvPr/>
        </p:nvSpPr>
        <p:spPr>
          <a:xfrm>
            <a:off x="3193976" y="2847916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8" name="Овал 47"/>
          <p:cNvSpPr/>
          <p:nvPr/>
        </p:nvSpPr>
        <p:spPr>
          <a:xfrm>
            <a:off x="1655731" y="3630857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1" name="Овал 50"/>
          <p:cNvSpPr/>
          <p:nvPr/>
        </p:nvSpPr>
        <p:spPr>
          <a:xfrm>
            <a:off x="2325837" y="3636442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68" name="Прямая со стрелкой 67"/>
          <p:cNvCxnSpPr>
            <a:cxnSpLocks/>
            <a:stCxn id="30" idx="4"/>
            <a:endCxn id="36" idx="0"/>
          </p:cNvCxnSpPr>
          <p:nvPr/>
        </p:nvCxnSpPr>
        <p:spPr>
          <a:xfrm flipH="1">
            <a:off x="1034448" y="2628721"/>
            <a:ext cx="660187" cy="205194"/>
          </a:xfrm>
          <a:prstGeom prst="straightConnector1">
            <a:avLst/>
          </a:prstGeom>
          <a:ln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 стрелкой 73"/>
          <p:cNvCxnSpPr>
            <a:cxnSpLocks/>
            <a:stCxn id="33" idx="4"/>
            <a:endCxn id="45" idx="0"/>
          </p:cNvCxnSpPr>
          <p:nvPr/>
        </p:nvCxnSpPr>
        <p:spPr>
          <a:xfrm>
            <a:off x="3950060" y="2511930"/>
            <a:ext cx="738070" cy="372678"/>
          </a:xfrm>
          <a:prstGeom prst="straightConnector1">
            <a:avLst/>
          </a:prstGeom>
          <a:ln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 стрелкой 75"/>
          <p:cNvCxnSpPr>
            <a:cxnSpLocks/>
            <a:stCxn id="39" idx="4"/>
            <a:endCxn id="48" idx="0"/>
          </p:cNvCxnSpPr>
          <p:nvPr/>
        </p:nvCxnSpPr>
        <p:spPr>
          <a:xfrm flipH="1">
            <a:off x="1907759" y="3327097"/>
            <a:ext cx="303907" cy="303760"/>
          </a:xfrm>
          <a:prstGeom prst="straightConnector1">
            <a:avLst/>
          </a:prstGeom>
          <a:ln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cxnSpLocks/>
            <a:stCxn id="39" idx="4"/>
            <a:endCxn id="51" idx="0"/>
          </p:cNvCxnSpPr>
          <p:nvPr/>
        </p:nvCxnSpPr>
        <p:spPr>
          <a:xfrm>
            <a:off x="2211666" y="3327097"/>
            <a:ext cx="366199" cy="309345"/>
          </a:xfrm>
          <a:prstGeom prst="straightConnector1">
            <a:avLst/>
          </a:prstGeom>
          <a:ln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Прямая со стрелкой 83"/>
          <p:cNvCxnSpPr>
            <a:cxnSpLocks/>
            <a:stCxn id="3" idx="4"/>
            <a:endCxn id="30" idx="0"/>
          </p:cNvCxnSpPr>
          <p:nvPr/>
        </p:nvCxnSpPr>
        <p:spPr>
          <a:xfrm flipH="1">
            <a:off x="1694635" y="1811719"/>
            <a:ext cx="1270570" cy="312946"/>
          </a:xfrm>
          <a:prstGeom prst="straightConnector1">
            <a:avLst/>
          </a:prstGeom>
          <a:ln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Прямая со стрелкой 85"/>
          <p:cNvCxnSpPr>
            <a:cxnSpLocks/>
            <a:stCxn id="3" idx="4"/>
            <a:endCxn id="33" idx="0"/>
          </p:cNvCxnSpPr>
          <p:nvPr/>
        </p:nvCxnSpPr>
        <p:spPr>
          <a:xfrm>
            <a:off x="2965205" y="1811719"/>
            <a:ext cx="984855" cy="196155"/>
          </a:xfrm>
          <a:prstGeom prst="straightConnector1">
            <a:avLst/>
          </a:prstGeom>
          <a:ln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2787915" y="1826756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38006" y="2184115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151593" y="2135745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3017" y="2860645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 flipH="1">
            <a:off x="1693888" y="2893728"/>
            <a:ext cx="3022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935702" y="292872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99198" y="3412038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9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556901" y="3430926"/>
            <a:ext cx="341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/>
              <p:cNvSpPr txBox="1"/>
              <p:nvPr/>
            </p:nvSpPr>
            <p:spPr>
              <a:xfrm>
                <a:off x="-18236" y="5824946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236" y="5824946"/>
                <a:ext cx="38048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Овал 46">
            <a:extLst>
              <a:ext uri="{FF2B5EF4-FFF2-40B4-BE49-F238E27FC236}">
                <a16:creationId xmlns:a16="http://schemas.microsoft.com/office/drawing/2014/main" id="{1195CB1E-A38A-4594-83FF-33530BF862A6}"/>
              </a:ext>
            </a:extLst>
          </p:cNvPr>
          <p:cNvSpPr/>
          <p:nvPr/>
        </p:nvSpPr>
        <p:spPr>
          <a:xfrm>
            <a:off x="162077" y="3592414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</a:t>
            </a:r>
            <a:r>
              <a:rPr lang="ru-RU" sz="1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9" name="Овал 48">
            <a:extLst>
              <a:ext uri="{FF2B5EF4-FFF2-40B4-BE49-F238E27FC236}">
                <a16:creationId xmlns:a16="http://schemas.microsoft.com/office/drawing/2014/main" id="{B20DD1E1-254C-44B7-8514-EE6FD2D45FF1}"/>
              </a:ext>
            </a:extLst>
          </p:cNvPr>
          <p:cNvSpPr/>
          <p:nvPr/>
        </p:nvSpPr>
        <p:spPr>
          <a:xfrm>
            <a:off x="1051767" y="3609663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777CDEB5-8086-4027-AABC-71F89BCBAE44}"/>
              </a:ext>
            </a:extLst>
          </p:cNvPr>
          <p:cNvCxnSpPr>
            <a:cxnSpLocks/>
            <a:stCxn id="36" idx="4"/>
            <a:endCxn id="47" idx="0"/>
          </p:cNvCxnSpPr>
          <p:nvPr/>
        </p:nvCxnSpPr>
        <p:spPr>
          <a:xfrm flipH="1">
            <a:off x="414105" y="3337971"/>
            <a:ext cx="620343" cy="254443"/>
          </a:xfrm>
          <a:prstGeom prst="straightConnector1">
            <a:avLst/>
          </a:prstGeom>
          <a:ln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5CB7BC22-2563-4248-AE14-CB7900859FCD}"/>
              </a:ext>
            </a:extLst>
          </p:cNvPr>
          <p:cNvCxnSpPr>
            <a:cxnSpLocks/>
            <a:stCxn id="36" idx="4"/>
            <a:endCxn id="49" idx="0"/>
          </p:cNvCxnSpPr>
          <p:nvPr/>
        </p:nvCxnSpPr>
        <p:spPr>
          <a:xfrm>
            <a:off x="1034448" y="3337971"/>
            <a:ext cx="269347" cy="271692"/>
          </a:xfrm>
          <a:prstGeom prst="straightConnector1">
            <a:avLst/>
          </a:prstGeom>
          <a:ln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41618484-CB02-488B-BE93-726BF94640AA}"/>
              </a:ext>
            </a:extLst>
          </p:cNvPr>
          <p:cNvCxnSpPr>
            <a:cxnSpLocks/>
            <a:stCxn id="30" idx="4"/>
            <a:endCxn id="39" idx="0"/>
          </p:cNvCxnSpPr>
          <p:nvPr/>
        </p:nvCxnSpPr>
        <p:spPr>
          <a:xfrm>
            <a:off x="1694635" y="2628721"/>
            <a:ext cx="517031" cy="194320"/>
          </a:xfrm>
          <a:prstGeom prst="straightConnector1">
            <a:avLst/>
          </a:prstGeom>
          <a:ln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Овал 61">
            <a:extLst>
              <a:ext uri="{FF2B5EF4-FFF2-40B4-BE49-F238E27FC236}">
                <a16:creationId xmlns:a16="http://schemas.microsoft.com/office/drawing/2014/main" id="{7B7F5002-7866-452D-9B9D-9F75B9F0F57C}"/>
              </a:ext>
            </a:extLst>
          </p:cNvPr>
          <p:cNvSpPr/>
          <p:nvPr/>
        </p:nvSpPr>
        <p:spPr>
          <a:xfrm>
            <a:off x="4300575" y="3691902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3" name="Овал 62">
            <a:extLst>
              <a:ext uri="{FF2B5EF4-FFF2-40B4-BE49-F238E27FC236}">
                <a16:creationId xmlns:a16="http://schemas.microsoft.com/office/drawing/2014/main" id="{64EF3140-BABE-4064-BB7A-28B477D84346}"/>
              </a:ext>
            </a:extLst>
          </p:cNvPr>
          <p:cNvSpPr/>
          <p:nvPr/>
        </p:nvSpPr>
        <p:spPr>
          <a:xfrm>
            <a:off x="5120605" y="3683885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33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C6BA548-9987-4328-9CBE-A3C0AC98648B}"/>
              </a:ext>
            </a:extLst>
          </p:cNvPr>
          <p:cNvSpPr txBox="1"/>
          <p:nvPr/>
        </p:nvSpPr>
        <p:spPr>
          <a:xfrm>
            <a:off x="2771582" y="3415009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12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9E4ECE9-BCEE-4C8B-8BDC-1B62D3D65CC8}"/>
              </a:ext>
            </a:extLst>
          </p:cNvPr>
          <p:cNvSpPr txBox="1"/>
          <p:nvPr/>
        </p:nvSpPr>
        <p:spPr>
          <a:xfrm>
            <a:off x="2178266" y="3440625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11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5BCD58B-076E-4F86-A08C-700CF0623125}"/>
              </a:ext>
            </a:extLst>
          </p:cNvPr>
          <p:cNvSpPr txBox="1"/>
          <p:nvPr/>
        </p:nvSpPr>
        <p:spPr>
          <a:xfrm>
            <a:off x="4058465" y="2953856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2C16C1F-F1D6-4151-A54B-61FA1267A00B}"/>
              </a:ext>
            </a:extLst>
          </p:cNvPr>
          <p:cNvSpPr txBox="1"/>
          <p:nvPr/>
        </p:nvSpPr>
        <p:spPr>
          <a:xfrm>
            <a:off x="181746" y="3364267"/>
            <a:ext cx="2632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8</a:t>
            </a:r>
          </a:p>
        </p:txBody>
      </p:sp>
      <p:sp>
        <p:nvSpPr>
          <p:cNvPr id="81" name="Овал 80">
            <a:extLst>
              <a:ext uri="{FF2B5EF4-FFF2-40B4-BE49-F238E27FC236}">
                <a16:creationId xmlns:a16="http://schemas.microsoft.com/office/drawing/2014/main" id="{AEE032B5-5A6B-4E95-8609-0FDA3FF47FFE}"/>
              </a:ext>
            </a:extLst>
          </p:cNvPr>
          <p:cNvSpPr/>
          <p:nvPr/>
        </p:nvSpPr>
        <p:spPr>
          <a:xfrm>
            <a:off x="3616072" y="3705248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3" name="Овал 82">
            <a:extLst>
              <a:ext uri="{FF2B5EF4-FFF2-40B4-BE49-F238E27FC236}">
                <a16:creationId xmlns:a16="http://schemas.microsoft.com/office/drawing/2014/main" id="{84C999C2-883A-4DE6-A4E4-5BB22CF6C793}"/>
              </a:ext>
            </a:extLst>
          </p:cNvPr>
          <p:cNvSpPr/>
          <p:nvPr/>
        </p:nvSpPr>
        <p:spPr>
          <a:xfrm>
            <a:off x="2865020" y="3638566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6</a:t>
            </a:r>
          </a:p>
        </p:txBody>
      </p:sp>
      <p:cxnSp>
        <p:nvCxnSpPr>
          <p:cNvPr id="50" name="Прямая со стрелкой 49">
            <a:extLst>
              <a:ext uri="{FF2B5EF4-FFF2-40B4-BE49-F238E27FC236}">
                <a16:creationId xmlns:a16="http://schemas.microsoft.com/office/drawing/2014/main" id="{95783D59-EE1D-4BDC-9040-42F458223E0C}"/>
              </a:ext>
            </a:extLst>
          </p:cNvPr>
          <p:cNvCxnSpPr>
            <a:cxnSpLocks/>
            <a:stCxn id="42" idx="4"/>
            <a:endCxn id="81" idx="0"/>
          </p:cNvCxnSpPr>
          <p:nvPr/>
        </p:nvCxnSpPr>
        <p:spPr>
          <a:xfrm>
            <a:off x="3446004" y="3351972"/>
            <a:ext cx="422096" cy="353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id="{C906AFE7-D246-4392-B74A-FA8C1446C0E2}"/>
              </a:ext>
            </a:extLst>
          </p:cNvPr>
          <p:cNvCxnSpPr>
            <a:cxnSpLocks/>
            <a:stCxn id="42" idx="4"/>
            <a:endCxn id="83" idx="0"/>
          </p:cNvCxnSpPr>
          <p:nvPr/>
        </p:nvCxnSpPr>
        <p:spPr>
          <a:xfrm flipH="1">
            <a:off x="3117048" y="3351972"/>
            <a:ext cx="328956" cy="2865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Прямая со стрелкой 59">
            <a:extLst>
              <a:ext uri="{FF2B5EF4-FFF2-40B4-BE49-F238E27FC236}">
                <a16:creationId xmlns:a16="http://schemas.microsoft.com/office/drawing/2014/main" id="{6B03C094-94F5-458C-ABD4-6167296573DB}"/>
              </a:ext>
            </a:extLst>
          </p:cNvPr>
          <p:cNvCxnSpPr>
            <a:stCxn id="33" idx="4"/>
            <a:endCxn id="42" idx="0"/>
          </p:cNvCxnSpPr>
          <p:nvPr/>
        </p:nvCxnSpPr>
        <p:spPr>
          <a:xfrm flipH="1">
            <a:off x="3446004" y="2511930"/>
            <a:ext cx="504056" cy="335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Овал 103">
            <a:extLst>
              <a:ext uri="{FF2B5EF4-FFF2-40B4-BE49-F238E27FC236}">
                <a16:creationId xmlns:a16="http://schemas.microsoft.com/office/drawing/2014/main" id="{F3A8C1FA-C641-4DBC-B81E-DA24C5CA03E1}"/>
              </a:ext>
            </a:extLst>
          </p:cNvPr>
          <p:cNvSpPr/>
          <p:nvPr/>
        </p:nvSpPr>
        <p:spPr>
          <a:xfrm>
            <a:off x="4990552" y="4386392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105" name="Овал 104">
            <a:extLst>
              <a:ext uri="{FF2B5EF4-FFF2-40B4-BE49-F238E27FC236}">
                <a16:creationId xmlns:a16="http://schemas.microsoft.com/office/drawing/2014/main" id="{24FF1778-5E36-4302-A5DB-A0A055FDEB36}"/>
              </a:ext>
            </a:extLst>
          </p:cNvPr>
          <p:cNvSpPr/>
          <p:nvPr/>
        </p:nvSpPr>
        <p:spPr>
          <a:xfrm>
            <a:off x="5536991" y="4385321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11</a:t>
            </a:r>
          </a:p>
        </p:txBody>
      </p:sp>
      <p:cxnSp>
        <p:nvCxnSpPr>
          <p:cNvPr id="66" name="Прямая со стрелкой 65">
            <a:extLst>
              <a:ext uri="{FF2B5EF4-FFF2-40B4-BE49-F238E27FC236}">
                <a16:creationId xmlns:a16="http://schemas.microsoft.com/office/drawing/2014/main" id="{1406ABE5-EC0F-4C6A-8886-57297B953336}"/>
              </a:ext>
            </a:extLst>
          </p:cNvPr>
          <p:cNvCxnSpPr>
            <a:stCxn id="63" idx="4"/>
            <a:endCxn id="104" idx="0"/>
          </p:cNvCxnSpPr>
          <p:nvPr/>
        </p:nvCxnSpPr>
        <p:spPr>
          <a:xfrm flipH="1">
            <a:off x="5242580" y="4187941"/>
            <a:ext cx="130053" cy="198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Прямая со стрелкой 84">
            <a:extLst>
              <a:ext uri="{FF2B5EF4-FFF2-40B4-BE49-F238E27FC236}">
                <a16:creationId xmlns:a16="http://schemas.microsoft.com/office/drawing/2014/main" id="{937281CC-B62A-40DA-B2CE-77CEDBA16924}"/>
              </a:ext>
            </a:extLst>
          </p:cNvPr>
          <p:cNvCxnSpPr>
            <a:stCxn id="63" idx="4"/>
            <a:endCxn id="105" idx="0"/>
          </p:cNvCxnSpPr>
          <p:nvPr/>
        </p:nvCxnSpPr>
        <p:spPr>
          <a:xfrm>
            <a:off x="5372633" y="4187941"/>
            <a:ext cx="416386" cy="197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Прямая со стрелкой 87">
            <a:extLst>
              <a:ext uri="{FF2B5EF4-FFF2-40B4-BE49-F238E27FC236}">
                <a16:creationId xmlns:a16="http://schemas.microsoft.com/office/drawing/2014/main" id="{A44D12B3-4CE8-4A85-B5DA-F9F320A55636}"/>
              </a:ext>
            </a:extLst>
          </p:cNvPr>
          <p:cNvCxnSpPr>
            <a:stCxn id="45" idx="4"/>
            <a:endCxn id="62" idx="0"/>
          </p:cNvCxnSpPr>
          <p:nvPr/>
        </p:nvCxnSpPr>
        <p:spPr>
          <a:xfrm flipH="1">
            <a:off x="4552603" y="3369569"/>
            <a:ext cx="135527" cy="322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Прямая со стрелкой 106">
            <a:extLst>
              <a:ext uri="{FF2B5EF4-FFF2-40B4-BE49-F238E27FC236}">
                <a16:creationId xmlns:a16="http://schemas.microsoft.com/office/drawing/2014/main" id="{C19AC9C3-75DB-46A5-A526-0BA3596FB490}"/>
              </a:ext>
            </a:extLst>
          </p:cNvPr>
          <p:cNvCxnSpPr>
            <a:stCxn id="45" idx="4"/>
            <a:endCxn id="63" idx="0"/>
          </p:cNvCxnSpPr>
          <p:nvPr/>
        </p:nvCxnSpPr>
        <p:spPr>
          <a:xfrm>
            <a:off x="4688130" y="3369569"/>
            <a:ext cx="684503" cy="3143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Овал 44"/>
          <p:cNvSpPr/>
          <p:nvPr/>
        </p:nvSpPr>
        <p:spPr>
          <a:xfrm>
            <a:off x="4432810" y="2884608"/>
            <a:ext cx="510639" cy="484961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34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4CD9B2B-4E80-456B-B17A-0BDCFCAEE0EF}"/>
              </a:ext>
            </a:extLst>
          </p:cNvPr>
          <p:cNvSpPr txBox="1"/>
          <p:nvPr/>
        </p:nvSpPr>
        <p:spPr>
          <a:xfrm>
            <a:off x="3739025" y="3406812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13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A480B76C-74E4-4B04-BF31-659EA37616C6}"/>
              </a:ext>
            </a:extLst>
          </p:cNvPr>
          <p:cNvSpPr txBox="1"/>
          <p:nvPr/>
        </p:nvSpPr>
        <p:spPr>
          <a:xfrm>
            <a:off x="4210402" y="3423329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14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70B8EC8-426D-4C6A-B448-60885D7E38EC}"/>
              </a:ext>
            </a:extLst>
          </p:cNvPr>
          <p:cNvSpPr txBox="1"/>
          <p:nvPr/>
        </p:nvSpPr>
        <p:spPr>
          <a:xfrm>
            <a:off x="4939569" y="3391146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15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BA9F79F-89F8-4487-B3EB-C09BA09ECAD4}"/>
              </a:ext>
            </a:extLst>
          </p:cNvPr>
          <p:cNvSpPr txBox="1"/>
          <p:nvPr/>
        </p:nvSpPr>
        <p:spPr>
          <a:xfrm>
            <a:off x="5133504" y="4897118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30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2D7325F-48C7-4F6D-A2B8-B6A26B82421F}"/>
              </a:ext>
            </a:extLst>
          </p:cNvPr>
          <p:cNvSpPr txBox="1"/>
          <p:nvPr/>
        </p:nvSpPr>
        <p:spPr>
          <a:xfrm>
            <a:off x="5670540" y="4871164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31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EF47391D-CE69-4810-B1F2-55FA80F7E5C8}"/>
                  </a:ext>
                </a:extLst>
              </p:cNvPr>
              <p:cNvSpPr txBox="1"/>
              <p:nvPr/>
            </p:nvSpPr>
            <p:spPr>
              <a:xfrm>
                <a:off x="5252840" y="1526831"/>
                <a:ext cx="6862893" cy="24929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        </m:t>
                    </m:r>
                  </m:oMath>
                </a14:m>
                <a:r>
                  <a:rPr lang="en-US" b="0" i="0" dirty="0">
                    <a:latin typeface="+mj-lt"/>
                  </a:rPr>
                  <a:t> </a:t>
                </a:r>
                <a:r>
                  <a:rPr lang="en-US" b="0" i="0" dirty="0"/>
                  <a:t>число </a:t>
                </a:r>
                <a:r>
                  <a:rPr lang="en-US" b="0" i="0" dirty="0" err="1"/>
                  <a:t>листьев</a:t>
                </a:r>
                <a:r>
                  <a:rPr lang="en-US" b="0" i="0" dirty="0"/>
                  <a:t> в </a:t>
                </a:r>
                <a:r>
                  <a:rPr lang="en-US" b="0" i="0" dirty="0" err="1"/>
                  <a:t>дереве</a:t>
                </a:r>
                <a:r>
                  <a:rPr lang="en-US" b="0" i="0" dirty="0"/>
                  <a:t> (</a:t>
                </a:r>
                <a:r>
                  <a:rPr lang="en-US" b="0" i="0" dirty="0" err="1"/>
                  <a:t>число</a:t>
                </a:r>
                <a:r>
                  <a:rPr lang="en-US" b="0" i="0" dirty="0"/>
                  <a:t> </a:t>
                </a:r>
                <a:r>
                  <a:rPr lang="en-US" b="0" i="0" dirty="0" err="1"/>
                  <a:t>элементов</a:t>
                </a:r>
                <a:r>
                  <a:rPr lang="en-US" b="0" i="0" dirty="0"/>
                  <a:t> </a:t>
                </a:r>
                <a:r>
                  <a:rPr lang="ru-RU" b="0" i="0" dirty="0"/>
                  <a:t>в массиве)</a:t>
                </a:r>
                <a:endParaRPr lang="ru-RU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1    </m:t>
                    </m:r>
                  </m:oMath>
                </a14:m>
                <a:r>
                  <a:rPr lang="ru-RU" b="0" i="0" dirty="0"/>
                  <a:t>число реально занятых ячеек массива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(</a:t>
                </a:r>
                <a:r>
                  <a:rPr lang="ru-RU" dirty="0"/>
                  <a:t>по теореме)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ru-RU" dirty="0"/>
                  <a:t>         </a:t>
                </a:r>
                <a:r>
                  <a:rPr lang="ru-RU" i="0" dirty="0"/>
                  <a:t>число листьев на предпоследнем слое</a:t>
                </a:r>
                <a:endParaRPr lang="ru-RU" dirty="0"/>
              </a:p>
              <a:p>
                <a14:m>
                  <m:oMath xmlns:m="http://schemas.openxmlformats.org/officeDocument/2006/math">
                    <m:r>
                      <a:rPr lang="ru-RU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2) </m:t>
                    </m:r>
                  </m:oMath>
                </a14:m>
                <a:r>
                  <a:rPr lang="ru-RU" b="0" i="0" dirty="0"/>
                  <a:t>число свободных элементов в массиве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dirty="0"/>
              </a:p>
              <a:p>
                <a:r>
                  <a:rPr lang="en-US" dirty="0"/>
                  <a:t>__________________________________________________________</a:t>
                </a:r>
              </a:p>
              <a:p>
                <a:r>
                  <a:rPr lang="ru-RU" dirty="0"/>
                  <a:t>требуемая память для массива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:</a:t>
                </a:r>
              </a:p>
              <a:p>
                <a:endParaRPr lang="en-US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RU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2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RU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−5</m:t>
                    </m:r>
                  </m:oMath>
                </a14:m>
                <a:r>
                  <a:rPr lang="ru-RU" dirty="0"/>
                  <a:t> </a:t>
                </a:r>
                <a:endParaRPr lang="en-US" dirty="0"/>
              </a:p>
              <a:p>
                <a:endParaRPr lang="ru-BY" dirty="0"/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EF47391D-CE69-4810-B1F2-55FA80F7E5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2840" y="1526831"/>
                <a:ext cx="6862893" cy="2492990"/>
              </a:xfrm>
              <a:prstGeom prst="rect">
                <a:avLst/>
              </a:prstGeom>
              <a:blipFill>
                <a:blip r:embed="rId3"/>
                <a:stretch>
                  <a:fillRect l="-2133" t="-317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Левая фигурная скобка 3">
            <a:extLst>
              <a:ext uri="{FF2B5EF4-FFF2-40B4-BE49-F238E27FC236}">
                <a16:creationId xmlns:a16="http://schemas.microsoft.com/office/drawing/2014/main" id="{617D8BC9-3BCF-4D11-9127-86CC4EEE2D52}"/>
              </a:ext>
            </a:extLst>
          </p:cNvPr>
          <p:cNvSpPr/>
          <p:nvPr/>
        </p:nvSpPr>
        <p:spPr>
          <a:xfrm rot="16200000">
            <a:off x="6574005" y="3474374"/>
            <a:ext cx="325368" cy="105074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57" name="Левая фигурная скобка 56">
            <a:extLst>
              <a:ext uri="{FF2B5EF4-FFF2-40B4-BE49-F238E27FC236}">
                <a16:creationId xmlns:a16="http://schemas.microsoft.com/office/drawing/2014/main" id="{578C8C5B-F1DD-4AD3-9007-0F5B09100519}"/>
              </a:ext>
            </a:extLst>
          </p:cNvPr>
          <p:cNvSpPr/>
          <p:nvPr/>
        </p:nvSpPr>
        <p:spPr>
          <a:xfrm rot="16200000">
            <a:off x="7892692" y="3467509"/>
            <a:ext cx="325368" cy="105074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610F70-1F86-4AA8-A962-21849203348C}"/>
              </a:ext>
            </a:extLst>
          </p:cNvPr>
          <p:cNvSpPr txBox="1"/>
          <p:nvPr/>
        </p:nvSpPr>
        <p:spPr>
          <a:xfrm>
            <a:off x="6409371" y="4185269"/>
            <a:ext cx="1303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используемая память</a:t>
            </a:r>
            <a:endParaRPr lang="ru-BY" sz="12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0A8119F-30B4-4722-B2B5-BE6E71C4987F}"/>
              </a:ext>
            </a:extLst>
          </p:cNvPr>
          <p:cNvSpPr txBox="1"/>
          <p:nvPr/>
        </p:nvSpPr>
        <p:spPr>
          <a:xfrm>
            <a:off x="7654788" y="4177932"/>
            <a:ext cx="1303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неиспользуемая память</a:t>
            </a:r>
            <a:endParaRPr lang="ru-BY" sz="1200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2656407C-DA94-1B0D-4EB3-2EEFCBF8E1B1}"/>
              </a:ext>
            </a:extLst>
          </p:cNvPr>
          <p:cNvSpPr/>
          <p:nvPr/>
        </p:nvSpPr>
        <p:spPr>
          <a:xfrm>
            <a:off x="44708" y="4670785"/>
            <a:ext cx="268880" cy="243753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3394876A-72B6-80B8-8551-5729EA5E2E6A}"/>
              </a:ext>
            </a:extLst>
          </p:cNvPr>
          <p:cNvSpPr/>
          <p:nvPr/>
        </p:nvSpPr>
        <p:spPr>
          <a:xfrm>
            <a:off x="3274798" y="4689582"/>
            <a:ext cx="268880" cy="243753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91E1F9AE-63D3-61F6-DC8D-F32986AF8078}"/>
              </a:ext>
            </a:extLst>
          </p:cNvPr>
          <p:cNvSpPr/>
          <p:nvPr/>
        </p:nvSpPr>
        <p:spPr>
          <a:xfrm>
            <a:off x="2922145" y="4689583"/>
            <a:ext cx="268880" cy="243753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AF3A6B40-77D5-45B1-EA5F-0C25B811256F}"/>
              </a:ext>
            </a:extLst>
          </p:cNvPr>
          <p:cNvSpPr/>
          <p:nvPr/>
        </p:nvSpPr>
        <p:spPr>
          <a:xfrm>
            <a:off x="2569538" y="4670784"/>
            <a:ext cx="268880" cy="243753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B9EFB0D0-931E-2703-C8F8-DF987C765BD9}"/>
              </a:ext>
            </a:extLst>
          </p:cNvPr>
          <p:cNvSpPr/>
          <p:nvPr/>
        </p:nvSpPr>
        <p:spPr>
          <a:xfrm>
            <a:off x="2235685" y="4670784"/>
            <a:ext cx="268880" cy="243753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8B0165A0-E4F0-0E75-5D7A-34D3C91A01E0}"/>
              </a:ext>
            </a:extLst>
          </p:cNvPr>
          <p:cNvSpPr/>
          <p:nvPr/>
        </p:nvSpPr>
        <p:spPr>
          <a:xfrm>
            <a:off x="1864873" y="4637086"/>
            <a:ext cx="268880" cy="243753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B189AB69-8EAE-6442-3CC1-E479143B8282}"/>
              </a:ext>
            </a:extLst>
          </p:cNvPr>
          <p:cNvSpPr/>
          <p:nvPr/>
        </p:nvSpPr>
        <p:spPr>
          <a:xfrm>
            <a:off x="1530499" y="4653365"/>
            <a:ext cx="268880" cy="243753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803A0B1A-E5C1-3C13-A032-9AE09416681B}"/>
              </a:ext>
            </a:extLst>
          </p:cNvPr>
          <p:cNvSpPr/>
          <p:nvPr/>
        </p:nvSpPr>
        <p:spPr>
          <a:xfrm>
            <a:off x="1219916" y="4670784"/>
            <a:ext cx="268880" cy="243753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ED353C68-B825-96A8-483C-AD5E44748E1E}"/>
              </a:ext>
            </a:extLst>
          </p:cNvPr>
          <p:cNvSpPr/>
          <p:nvPr/>
        </p:nvSpPr>
        <p:spPr>
          <a:xfrm>
            <a:off x="810948" y="4663170"/>
            <a:ext cx="268880" cy="243753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F08C3110-495C-C6F2-FC60-2E461E50FC57}"/>
              </a:ext>
            </a:extLst>
          </p:cNvPr>
          <p:cNvSpPr/>
          <p:nvPr/>
        </p:nvSpPr>
        <p:spPr>
          <a:xfrm>
            <a:off x="406630" y="4683645"/>
            <a:ext cx="268880" cy="243753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F286FCF9-2E45-0792-B435-19FFB3C70C4D}"/>
              </a:ext>
            </a:extLst>
          </p:cNvPr>
          <p:cNvSpPr/>
          <p:nvPr/>
        </p:nvSpPr>
        <p:spPr>
          <a:xfrm>
            <a:off x="3632006" y="4683645"/>
            <a:ext cx="268880" cy="243753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20AF6324-220E-7C9B-DC68-14CA5FAEF97D}"/>
              </a:ext>
            </a:extLst>
          </p:cNvPr>
          <p:cNvSpPr/>
          <p:nvPr/>
        </p:nvSpPr>
        <p:spPr>
          <a:xfrm>
            <a:off x="4312079" y="4665431"/>
            <a:ext cx="268880" cy="243753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D63CF3DC-AF30-1925-D5D2-189C10B31BB9}"/>
              </a:ext>
            </a:extLst>
          </p:cNvPr>
          <p:cNvSpPr/>
          <p:nvPr/>
        </p:nvSpPr>
        <p:spPr>
          <a:xfrm>
            <a:off x="3981503" y="4690433"/>
            <a:ext cx="268880" cy="243753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56" name="Прямая со стрелкой 55">
            <a:extLst>
              <a:ext uri="{FF2B5EF4-FFF2-40B4-BE49-F238E27FC236}">
                <a16:creationId xmlns:a16="http://schemas.microsoft.com/office/drawing/2014/main" id="{52EBFBF4-901D-BF42-B96D-A8566F3DEC8B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179148" y="4096470"/>
            <a:ext cx="208570" cy="5743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Прямая со стрелкой 63">
            <a:extLst>
              <a:ext uri="{FF2B5EF4-FFF2-40B4-BE49-F238E27FC236}">
                <a16:creationId xmlns:a16="http://schemas.microsoft.com/office/drawing/2014/main" id="{A4121BF1-0306-DAD9-5464-571AFE7D0C30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387718" y="4096470"/>
            <a:ext cx="153352" cy="5871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 стрелкой 66">
            <a:extLst>
              <a:ext uri="{FF2B5EF4-FFF2-40B4-BE49-F238E27FC236}">
                <a16:creationId xmlns:a16="http://schemas.microsoft.com/office/drawing/2014/main" id="{DA6350EB-E27A-805F-47D9-BF920D14C14C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945388" y="4113719"/>
            <a:ext cx="332020" cy="549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Прямая со стрелкой 71">
            <a:extLst>
              <a:ext uri="{FF2B5EF4-FFF2-40B4-BE49-F238E27FC236}">
                <a16:creationId xmlns:a16="http://schemas.microsoft.com/office/drawing/2014/main" id="{C45F05FF-2819-E75D-BDA3-F1A2FEA04219}"/>
              </a:ext>
            </a:extLst>
          </p:cNvPr>
          <p:cNvCxnSpPr>
            <a:stCxn id="49" idx="4"/>
            <a:endCxn id="16" idx="0"/>
          </p:cNvCxnSpPr>
          <p:nvPr/>
        </p:nvCxnSpPr>
        <p:spPr>
          <a:xfrm>
            <a:off x="1303795" y="4113719"/>
            <a:ext cx="50561" cy="5570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Прямая со стрелкой 76">
            <a:extLst>
              <a:ext uri="{FF2B5EF4-FFF2-40B4-BE49-F238E27FC236}">
                <a16:creationId xmlns:a16="http://schemas.microsoft.com/office/drawing/2014/main" id="{117A1B7E-61BC-0DE9-E10E-AC110686EC7F}"/>
              </a:ext>
            </a:extLst>
          </p:cNvPr>
          <p:cNvCxnSpPr>
            <a:cxnSpLocks/>
            <a:endCxn id="14" idx="0"/>
          </p:cNvCxnSpPr>
          <p:nvPr/>
        </p:nvCxnSpPr>
        <p:spPr>
          <a:xfrm flipH="1">
            <a:off x="1664939" y="4134913"/>
            <a:ext cx="216433" cy="518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Прямая со стрелкой 93">
            <a:extLst>
              <a:ext uri="{FF2B5EF4-FFF2-40B4-BE49-F238E27FC236}">
                <a16:creationId xmlns:a16="http://schemas.microsoft.com/office/drawing/2014/main" id="{04DEEF4C-6E99-582E-6AA7-B6DAC6583EAC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1881372" y="4134913"/>
            <a:ext cx="117941" cy="5021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Прямая со стрелкой 98">
            <a:extLst>
              <a:ext uri="{FF2B5EF4-FFF2-40B4-BE49-F238E27FC236}">
                <a16:creationId xmlns:a16="http://schemas.microsoft.com/office/drawing/2014/main" id="{F1445DF3-E0CD-C4BC-0773-CC3C68502A66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2370125" y="4140498"/>
            <a:ext cx="181353" cy="530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Прямая со стрелкой 101">
            <a:extLst>
              <a:ext uri="{FF2B5EF4-FFF2-40B4-BE49-F238E27FC236}">
                <a16:creationId xmlns:a16="http://schemas.microsoft.com/office/drawing/2014/main" id="{B0559B7A-D8FC-3818-5922-1DCCF210EE79}"/>
              </a:ext>
            </a:extLst>
          </p:cNvPr>
          <p:cNvCxnSpPr>
            <a:cxnSpLocks/>
            <a:stCxn id="51" idx="4"/>
          </p:cNvCxnSpPr>
          <p:nvPr/>
        </p:nvCxnSpPr>
        <p:spPr>
          <a:xfrm>
            <a:off x="2577865" y="4140498"/>
            <a:ext cx="215653" cy="522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Овал 111">
            <a:extLst>
              <a:ext uri="{FF2B5EF4-FFF2-40B4-BE49-F238E27FC236}">
                <a16:creationId xmlns:a16="http://schemas.microsoft.com/office/drawing/2014/main" id="{8BD47159-BDA4-CFEC-4AA8-562F0A807C9E}"/>
              </a:ext>
            </a:extLst>
          </p:cNvPr>
          <p:cNvSpPr/>
          <p:nvPr/>
        </p:nvSpPr>
        <p:spPr>
          <a:xfrm>
            <a:off x="4652902" y="4653365"/>
            <a:ext cx="268880" cy="243753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25" name="Прямая со стрелкой 124">
            <a:extLst>
              <a:ext uri="{FF2B5EF4-FFF2-40B4-BE49-F238E27FC236}">
                <a16:creationId xmlns:a16="http://schemas.microsoft.com/office/drawing/2014/main" id="{E73F2732-95DF-6731-AAD9-02487A6AB7C5}"/>
              </a:ext>
            </a:extLst>
          </p:cNvPr>
          <p:cNvCxnSpPr>
            <a:stCxn id="83" idx="4"/>
            <a:endCxn id="9" idx="0"/>
          </p:cNvCxnSpPr>
          <p:nvPr/>
        </p:nvCxnSpPr>
        <p:spPr>
          <a:xfrm flipH="1">
            <a:off x="3056585" y="4142622"/>
            <a:ext cx="60463" cy="546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Прямая со стрелкой 126">
            <a:extLst>
              <a:ext uri="{FF2B5EF4-FFF2-40B4-BE49-F238E27FC236}">
                <a16:creationId xmlns:a16="http://schemas.microsoft.com/office/drawing/2014/main" id="{EE8BCD17-355E-838B-21EA-A534C56AC5E6}"/>
              </a:ext>
            </a:extLst>
          </p:cNvPr>
          <p:cNvCxnSpPr>
            <a:stCxn id="83" idx="4"/>
            <a:endCxn id="8" idx="0"/>
          </p:cNvCxnSpPr>
          <p:nvPr/>
        </p:nvCxnSpPr>
        <p:spPr>
          <a:xfrm>
            <a:off x="3117048" y="4142622"/>
            <a:ext cx="292190" cy="546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Прямая со стрелкой 128">
            <a:extLst>
              <a:ext uri="{FF2B5EF4-FFF2-40B4-BE49-F238E27FC236}">
                <a16:creationId xmlns:a16="http://schemas.microsoft.com/office/drawing/2014/main" id="{45BFB8BF-F5E1-4F35-A70D-2C38E63B9BA7}"/>
              </a:ext>
            </a:extLst>
          </p:cNvPr>
          <p:cNvCxnSpPr>
            <a:stCxn id="81" idx="4"/>
            <a:endCxn id="20" idx="0"/>
          </p:cNvCxnSpPr>
          <p:nvPr/>
        </p:nvCxnSpPr>
        <p:spPr>
          <a:xfrm flipH="1">
            <a:off x="3766446" y="4209304"/>
            <a:ext cx="101654" cy="474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Прямая со стрелкой 130">
            <a:extLst>
              <a:ext uri="{FF2B5EF4-FFF2-40B4-BE49-F238E27FC236}">
                <a16:creationId xmlns:a16="http://schemas.microsoft.com/office/drawing/2014/main" id="{BAE2B403-0105-1084-70EE-0FE649BB4C6F}"/>
              </a:ext>
            </a:extLst>
          </p:cNvPr>
          <p:cNvCxnSpPr>
            <a:stCxn id="81" idx="4"/>
            <a:endCxn id="27" idx="0"/>
          </p:cNvCxnSpPr>
          <p:nvPr/>
        </p:nvCxnSpPr>
        <p:spPr>
          <a:xfrm>
            <a:off x="3868100" y="4209304"/>
            <a:ext cx="247843" cy="481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Прямая со стрелкой 132">
            <a:extLst>
              <a:ext uri="{FF2B5EF4-FFF2-40B4-BE49-F238E27FC236}">
                <a16:creationId xmlns:a16="http://schemas.microsoft.com/office/drawing/2014/main" id="{BF4CF32C-3B62-FE23-8181-10B1B73052DE}"/>
              </a:ext>
            </a:extLst>
          </p:cNvPr>
          <p:cNvCxnSpPr>
            <a:stCxn id="62" idx="4"/>
            <a:endCxn id="26" idx="0"/>
          </p:cNvCxnSpPr>
          <p:nvPr/>
        </p:nvCxnSpPr>
        <p:spPr>
          <a:xfrm flipH="1">
            <a:off x="4446519" y="4195958"/>
            <a:ext cx="106084" cy="4694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Прямая со стрелкой 136">
            <a:extLst>
              <a:ext uri="{FF2B5EF4-FFF2-40B4-BE49-F238E27FC236}">
                <a16:creationId xmlns:a16="http://schemas.microsoft.com/office/drawing/2014/main" id="{DACF707D-CE34-0BBF-49DA-7DC34061B56F}"/>
              </a:ext>
            </a:extLst>
          </p:cNvPr>
          <p:cNvCxnSpPr>
            <a:stCxn id="62" idx="4"/>
            <a:endCxn id="112" idx="0"/>
          </p:cNvCxnSpPr>
          <p:nvPr/>
        </p:nvCxnSpPr>
        <p:spPr>
          <a:xfrm>
            <a:off x="4552603" y="4195958"/>
            <a:ext cx="234739" cy="457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6482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7" grpId="0" animBg="1"/>
      <p:bldP spid="6" grpId="0"/>
      <p:bldP spid="59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6" grpId="0" animBg="1"/>
      <p:bldP spid="17" grpId="0" animBg="1"/>
      <p:bldP spid="18" grpId="0" animBg="1"/>
      <p:bldP spid="20" grpId="0" animBg="1"/>
      <p:bldP spid="26" grpId="0" animBg="1"/>
      <p:bldP spid="27" grpId="0" animBg="1"/>
      <p:bldP spid="1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Дерево отрезков. Хранение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695400" y="1844824"/>
                <a:ext cx="5400600" cy="3744416"/>
              </a:xfrm>
            </p:spPr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ru-RU" dirty="0"/>
                  <a:t>В том случае, когда </a:t>
                </a:r>
                <a:r>
                  <a:rPr lang="en-US" dirty="0"/>
                  <a:t>n </a:t>
                </a:r>
                <a:r>
                  <a:rPr lang="ru-RU" dirty="0"/>
                  <a:t>не является степенью 2, дерево не является полным, из-за чего в массиве могут быть неиспользуемые ячейки.</a:t>
                </a:r>
              </a:p>
              <a:p>
                <a:pPr marL="0" indent="0" algn="just">
                  <a:buNone/>
                </a:pPr>
                <a:endParaRPr lang="ru-RU" dirty="0"/>
              </a:p>
              <a:p>
                <a:pPr marL="0" indent="0" algn="just">
                  <a:buNone/>
                </a:pPr>
                <a:r>
                  <a:rPr lang="ru-RU" dirty="0"/>
                  <a:t>Чтобы места гарантированно хватило, можно выставить размер массива </a:t>
                </a:r>
                <a14:m>
                  <m:oMath xmlns:m="http://schemas.openxmlformats.org/officeDocument/2006/math">
                    <m:r>
                      <a:rPr lang="ru-RU" b="1" i="1" dirty="0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ru-RU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dirty="0"/>
                  <a:t>.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95400" y="1844824"/>
                <a:ext cx="5400600" cy="3744416"/>
              </a:xfrm>
              <a:blipFill>
                <a:blip r:embed="rId2"/>
                <a:stretch>
                  <a:fillRect l="-2257" t="-2769" r="-2370" b="-4072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Диаграмма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0067755"/>
              </p:ext>
            </p:extLst>
          </p:nvPr>
        </p:nvGraphicFramePr>
        <p:xfrm>
          <a:off x="6848450" y="1600202"/>
          <a:ext cx="4925973" cy="43490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02506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/>
        </p:bldSub>
      </p:bldGraphic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Дерево отрезков. Построение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620648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DoBuild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tr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t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m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DoBuild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DoBuild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t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7104112" y="1600203"/>
            <a:ext cx="4478288" cy="4525963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Build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t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DoBuild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</a:t>
            </a:r>
            <a:endParaRPr lang="ru-RU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244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401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51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52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03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92178" y="258155"/>
            <a:ext cx="7022571" cy="954360"/>
          </a:xfrm>
        </p:spPr>
        <p:txBody>
          <a:bodyPr/>
          <a:lstStyle/>
          <a:p>
            <a:r>
              <a:rPr lang="ru-RU" dirty="0"/>
              <a:t>Дерево отрезков. Построение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586482"/>
              </p:ext>
            </p:extLst>
          </p:nvPr>
        </p:nvGraphicFramePr>
        <p:xfrm>
          <a:off x="332341" y="5833169"/>
          <a:ext cx="750216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845317700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57271481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478932143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489016150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1736466460"/>
                    </a:ext>
                  </a:extLst>
                </a:gridCol>
              </a:tblGrid>
              <a:tr h="294033"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023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Овал 2"/>
          <p:cNvSpPr/>
          <p:nvPr/>
        </p:nvSpPr>
        <p:spPr>
          <a:xfrm>
            <a:off x="2478649" y="1327569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61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1393326" y="2124665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23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33" name="Овал 32"/>
          <p:cNvSpPr/>
          <p:nvPr/>
        </p:nvSpPr>
        <p:spPr>
          <a:xfrm>
            <a:off x="3706848" y="2035533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38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36" name="Овал 35"/>
          <p:cNvSpPr/>
          <p:nvPr/>
        </p:nvSpPr>
        <p:spPr>
          <a:xfrm>
            <a:off x="733139" y="2833915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9" name="Овал 38"/>
          <p:cNvSpPr/>
          <p:nvPr/>
        </p:nvSpPr>
        <p:spPr>
          <a:xfrm>
            <a:off x="1910357" y="2823041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21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42" name="Овал 41"/>
          <p:cNvSpPr/>
          <p:nvPr/>
        </p:nvSpPr>
        <p:spPr>
          <a:xfrm>
            <a:off x="3144695" y="2847916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9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48" name="Овал 47"/>
          <p:cNvSpPr/>
          <p:nvPr/>
        </p:nvSpPr>
        <p:spPr>
          <a:xfrm>
            <a:off x="1655731" y="3630857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7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51" name="Овал 50"/>
          <p:cNvSpPr/>
          <p:nvPr/>
        </p:nvSpPr>
        <p:spPr>
          <a:xfrm>
            <a:off x="2325837" y="3636442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  <a:r>
              <a:rPr lang="ru-RU" sz="1200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68" name="Прямая со стрелкой 67"/>
          <p:cNvCxnSpPr>
            <a:cxnSpLocks/>
            <a:stCxn id="30" idx="4"/>
            <a:endCxn id="36" idx="0"/>
          </p:cNvCxnSpPr>
          <p:nvPr/>
        </p:nvCxnSpPr>
        <p:spPr>
          <a:xfrm flipH="1">
            <a:off x="985167" y="2628721"/>
            <a:ext cx="660187" cy="205194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 стрелкой 73"/>
          <p:cNvCxnSpPr>
            <a:cxnSpLocks/>
            <a:stCxn id="33" idx="4"/>
            <a:endCxn id="45" idx="0"/>
          </p:cNvCxnSpPr>
          <p:nvPr/>
        </p:nvCxnSpPr>
        <p:spPr>
          <a:xfrm>
            <a:off x="3958876" y="2539589"/>
            <a:ext cx="745440" cy="394359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 стрелкой 75"/>
          <p:cNvCxnSpPr>
            <a:cxnSpLocks/>
            <a:stCxn id="39" idx="4"/>
            <a:endCxn id="48" idx="0"/>
          </p:cNvCxnSpPr>
          <p:nvPr/>
        </p:nvCxnSpPr>
        <p:spPr>
          <a:xfrm flipH="1">
            <a:off x="1907759" y="3327097"/>
            <a:ext cx="254626" cy="303760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cxnSpLocks/>
            <a:stCxn id="39" idx="4"/>
            <a:endCxn id="51" idx="0"/>
          </p:cNvCxnSpPr>
          <p:nvPr/>
        </p:nvCxnSpPr>
        <p:spPr>
          <a:xfrm>
            <a:off x="2162385" y="3327097"/>
            <a:ext cx="415480" cy="309345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Прямая со стрелкой 83"/>
          <p:cNvCxnSpPr>
            <a:cxnSpLocks/>
            <a:stCxn id="3" idx="4"/>
            <a:endCxn id="30" idx="0"/>
          </p:cNvCxnSpPr>
          <p:nvPr/>
        </p:nvCxnSpPr>
        <p:spPr>
          <a:xfrm flipH="1">
            <a:off x="1645354" y="1831625"/>
            <a:ext cx="1085323" cy="293040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Прямая со стрелкой 85"/>
          <p:cNvCxnSpPr>
            <a:cxnSpLocks/>
            <a:stCxn id="3" idx="4"/>
            <a:endCxn id="33" idx="0"/>
          </p:cNvCxnSpPr>
          <p:nvPr/>
        </p:nvCxnSpPr>
        <p:spPr>
          <a:xfrm>
            <a:off x="2730677" y="1831625"/>
            <a:ext cx="1228199" cy="203908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1987497" y="1269327"/>
                <a:ext cx="59368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7497" y="1269327"/>
                <a:ext cx="593689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932903" y="1966763"/>
                <a:ext cx="62735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 2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903" y="1966763"/>
                <a:ext cx="627351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3134519" y="1998187"/>
                <a:ext cx="61153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4519" y="1998187"/>
                <a:ext cx="611532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105897" y="2783261"/>
                <a:ext cx="6601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97" y="2783261"/>
                <a:ext cx="660186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 flipH="1">
                <a:off x="1374078" y="2783261"/>
                <a:ext cx="6843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74078" y="2783261"/>
                <a:ext cx="684351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2698940" y="2743215"/>
                <a:ext cx="59368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8940" y="2743215"/>
                <a:ext cx="593689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/>
              <p:cNvSpPr txBox="1"/>
              <p:nvPr/>
            </p:nvSpPr>
            <p:spPr>
              <a:xfrm>
                <a:off x="971886" y="3770068"/>
                <a:ext cx="74172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7" name="TextBox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886" y="3770068"/>
                <a:ext cx="741727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/>
              <p:cNvSpPr txBox="1"/>
              <p:nvPr/>
            </p:nvSpPr>
            <p:spPr>
              <a:xfrm>
                <a:off x="19854" y="5824946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54" y="5824946"/>
                <a:ext cx="38048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41618484-CB02-488B-BE93-726BF94640AA}"/>
              </a:ext>
            </a:extLst>
          </p:cNvPr>
          <p:cNvCxnSpPr>
            <a:cxnSpLocks/>
            <a:stCxn id="30" idx="4"/>
            <a:endCxn id="39" idx="0"/>
          </p:cNvCxnSpPr>
          <p:nvPr/>
        </p:nvCxnSpPr>
        <p:spPr>
          <a:xfrm>
            <a:off x="1645354" y="2628721"/>
            <a:ext cx="517031" cy="194320"/>
          </a:xfrm>
          <a:prstGeom prst="straightConnector1">
            <a:avLst/>
          </a:prstGeom>
          <a:ln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Овал 61">
            <a:extLst>
              <a:ext uri="{FF2B5EF4-FFF2-40B4-BE49-F238E27FC236}">
                <a16:creationId xmlns:a16="http://schemas.microsoft.com/office/drawing/2014/main" id="{7B7F5002-7866-452D-9B9D-9F75B9F0F57C}"/>
              </a:ext>
            </a:extLst>
          </p:cNvPr>
          <p:cNvSpPr/>
          <p:nvPr/>
        </p:nvSpPr>
        <p:spPr>
          <a:xfrm>
            <a:off x="4129110" y="3687906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16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3" name="Овал 62">
            <a:extLst>
              <a:ext uri="{FF2B5EF4-FFF2-40B4-BE49-F238E27FC236}">
                <a16:creationId xmlns:a16="http://schemas.microsoft.com/office/drawing/2014/main" id="{64EF3140-BABE-4064-BB7A-28B477D84346}"/>
              </a:ext>
            </a:extLst>
          </p:cNvPr>
          <p:cNvSpPr/>
          <p:nvPr/>
        </p:nvSpPr>
        <p:spPr>
          <a:xfrm>
            <a:off x="4707607" y="3683653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13</a:t>
            </a:r>
            <a:endParaRPr lang="ru-RU" sz="1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9E4ECE9-BCEE-4C8B-8BDC-1B62D3D65CC8}"/>
                  </a:ext>
                </a:extLst>
              </p:cNvPr>
              <p:cNvSpPr txBox="1"/>
              <p:nvPr/>
            </p:nvSpPr>
            <p:spPr>
              <a:xfrm>
                <a:off x="2841693" y="3791036"/>
                <a:ext cx="6786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=11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9E4ECE9-BCEE-4C8B-8BDC-1B62D3D65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1693" y="3791036"/>
                <a:ext cx="678647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Прямая со стрелкой 59">
            <a:extLst>
              <a:ext uri="{FF2B5EF4-FFF2-40B4-BE49-F238E27FC236}">
                <a16:creationId xmlns:a16="http://schemas.microsoft.com/office/drawing/2014/main" id="{6B03C094-94F5-458C-ABD4-6167296573DB}"/>
              </a:ext>
            </a:extLst>
          </p:cNvPr>
          <p:cNvCxnSpPr>
            <a:stCxn id="33" idx="4"/>
            <a:endCxn id="42" idx="0"/>
          </p:cNvCxnSpPr>
          <p:nvPr/>
        </p:nvCxnSpPr>
        <p:spPr>
          <a:xfrm flipH="1">
            <a:off x="3396723" y="2539589"/>
            <a:ext cx="562153" cy="3083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Прямая со стрелкой 87">
            <a:extLst>
              <a:ext uri="{FF2B5EF4-FFF2-40B4-BE49-F238E27FC236}">
                <a16:creationId xmlns:a16="http://schemas.microsoft.com/office/drawing/2014/main" id="{A44D12B3-4CE8-4A85-B5DA-F9F320A55636}"/>
              </a:ext>
            </a:extLst>
          </p:cNvPr>
          <p:cNvCxnSpPr>
            <a:cxnSpLocks/>
            <a:stCxn id="45" idx="4"/>
            <a:endCxn id="62" idx="0"/>
          </p:cNvCxnSpPr>
          <p:nvPr/>
        </p:nvCxnSpPr>
        <p:spPr>
          <a:xfrm flipH="1">
            <a:off x="4381138" y="3418909"/>
            <a:ext cx="323178" cy="268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Прямая со стрелкой 106">
            <a:extLst>
              <a:ext uri="{FF2B5EF4-FFF2-40B4-BE49-F238E27FC236}">
                <a16:creationId xmlns:a16="http://schemas.microsoft.com/office/drawing/2014/main" id="{C19AC9C3-75DB-46A5-A526-0BA3596FB490}"/>
              </a:ext>
            </a:extLst>
          </p:cNvPr>
          <p:cNvCxnSpPr>
            <a:cxnSpLocks/>
            <a:stCxn id="45" idx="4"/>
            <a:endCxn id="63" idx="0"/>
          </p:cNvCxnSpPr>
          <p:nvPr/>
        </p:nvCxnSpPr>
        <p:spPr>
          <a:xfrm>
            <a:off x="4704316" y="3418909"/>
            <a:ext cx="255319" cy="264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Овал 44"/>
          <p:cNvSpPr/>
          <p:nvPr/>
        </p:nvSpPr>
        <p:spPr>
          <a:xfrm>
            <a:off x="4448996" y="2933948"/>
            <a:ext cx="510639" cy="484961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29</a:t>
            </a:r>
            <a:endParaRPr lang="ru-RU" sz="1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A480B76C-74E4-4B04-BF31-659EA37616C6}"/>
                  </a:ext>
                </a:extLst>
              </p:cNvPr>
              <p:cNvSpPr txBox="1"/>
              <p:nvPr/>
            </p:nvSpPr>
            <p:spPr>
              <a:xfrm>
                <a:off x="3511799" y="3809794"/>
                <a:ext cx="6786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=14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A480B76C-74E4-4B04-BF31-659EA3761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1799" y="3809794"/>
                <a:ext cx="678647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70B8EC8-426D-4C6A-B448-60885D7E38EC}"/>
                  </a:ext>
                </a:extLst>
              </p:cNvPr>
              <p:cNvSpPr txBox="1"/>
              <p:nvPr/>
            </p:nvSpPr>
            <p:spPr>
              <a:xfrm>
                <a:off x="5270376" y="3858721"/>
                <a:ext cx="6786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=15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70B8EC8-426D-4C6A-B448-60885D7E3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0376" y="3858721"/>
                <a:ext cx="678647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D9B96F62-18E8-4D71-A7B6-2FC4F6A256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074307"/>
              </p:ext>
            </p:extLst>
          </p:nvPr>
        </p:nvGraphicFramePr>
        <p:xfrm>
          <a:off x="474102" y="5019671"/>
          <a:ext cx="300086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144">
                  <a:extLst>
                    <a:ext uri="{9D8B030D-6E8A-4147-A177-3AD203B41FA5}">
                      <a16:colId xmlns:a16="http://schemas.microsoft.com/office/drawing/2014/main" val="3333962665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3568347458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150607796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1278484228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603389566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1443179518"/>
                    </a:ext>
                  </a:extLst>
                </a:gridCol>
              </a:tblGrid>
              <a:tr h="2940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09445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EFD332C5-66EF-4D1D-ABC5-8AE9E6C700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1574225"/>
              </p:ext>
            </p:extLst>
          </p:nvPr>
        </p:nvGraphicFramePr>
        <p:xfrm>
          <a:off x="402651" y="5389722"/>
          <a:ext cx="3000864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144">
                  <a:extLst>
                    <a:ext uri="{9D8B030D-6E8A-4147-A177-3AD203B41FA5}">
                      <a16:colId xmlns:a16="http://schemas.microsoft.com/office/drawing/2014/main" val="1652681310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1529731482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588584378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753402991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3163138531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3631667243"/>
                    </a:ext>
                  </a:extLst>
                </a:gridCol>
              </a:tblGrid>
              <a:tr h="21002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00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ru-RU" sz="12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200" dirty="0"/>
                        <a:t>1</a:t>
                      </a:r>
                      <a:endParaRPr lang="ru-RU" sz="1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1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ru-RU" sz="12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ru-RU" sz="12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ru-RU" sz="12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39182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875B61-62ED-4FBB-8C01-BDA7FF60A2AF}"/>
                  </a:ext>
                </a:extLst>
              </p:cNvPr>
              <p:cNvSpPr txBox="1"/>
              <p:nvPr/>
            </p:nvSpPr>
            <p:spPr>
              <a:xfrm>
                <a:off x="95737" y="5020390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875B61-62ED-4FBB-8C01-BDA7FF60A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37" y="5020390"/>
                <a:ext cx="385683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6FE3D20-6C79-4B8D-8059-EB213EF8DDE2}"/>
              </a:ext>
            </a:extLst>
          </p:cNvPr>
          <p:cNvSpPr txBox="1"/>
          <p:nvPr/>
        </p:nvSpPr>
        <p:spPr>
          <a:xfrm>
            <a:off x="2969906" y="1499949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[0,6)</a:t>
            </a:r>
            <a:endParaRPr lang="ru-BY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1E7D733-932D-47DD-B799-391D5637CFE0}"/>
              </a:ext>
            </a:extLst>
          </p:cNvPr>
          <p:cNvSpPr txBox="1"/>
          <p:nvPr/>
        </p:nvSpPr>
        <p:spPr>
          <a:xfrm>
            <a:off x="1861172" y="219170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[0,3)</a:t>
            </a:r>
            <a:endParaRPr lang="ru-BY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733A046-3557-4ADC-B8BE-8F0600893333}"/>
              </a:ext>
            </a:extLst>
          </p:cNvPr>
          <p:cNvSpPr txBox="1"/>
          <p:nvPr/>
        </p:nvSpPr>
        <p:spPr>
          <a:xfrm>
            <a:off x="4207033" y="2130051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[3,6)</a:t>
            </a:r>
            <a:endParaRPr lang="ru-BY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D9B7B4F-69F0-4B49-B60E-DA05CF8EF1BA}"/>
              </a:ext>
            </a:extLst>
          </p:cNvPr>
          <p:cNvSpPr txBox="1"/>
          <p:nvPr/>
        </p:nvSpPr>
        <p:spPr>
          <a:xfrm>
            <a:off x="6970253" y="2718918"/>
            <a:ext cx="576230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DoBuild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tr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tr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t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m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tr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DoBuild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tr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DoBuild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tr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t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2D7352E-F842-4FCC-9354-BAB63E84CCBB}"/>
              </a:ext>
            </a:extLst>
          </p:cNvPr>
          <p:cNvSpPr txBox="1"/>
          <p:nvPr/>
        </p:nvSpPr>
        <p:spPr>
          <a:xfrm>
            <a:off x="4924335" y="295224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</a:t>
            </a:r>
            <a:r>
              <a:rPr lang="ru-RU" dirty="0"/>
              <a:t>4</a:t>
            </a:r>
            <a:r>
              <a:rPr lang="en-US" dirty="0"/>
              <a:t>,6)</a:t>
            </a:r>
            <a:endParaRPr lang="ru-BY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A767186-5EC6-4AF2-96B6-6C567BCEA526}"/>
              </a:ext>
            </a:extLst>
          </p:cNvPr>
          <p:cNvSpPr txBox="1"/>
          <p:nvPr/>
        </p:nvSpPr>
        <p:spPr>
          <a:xfrm>
            <a:off x="4754183" y="419842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[5,6)</a:t>
            </a:r>
            <a:endParaRPr lang="ru-BY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843DFA2-A18A-4A36-867C-0C38BE49A205}"/>
              </a:ext>
            </a:extLst>
          </p:cNvPr>
          <p:cNvSpPr txBox="1"/>
          <p:nvPr/>
        </p:nvSpPr>
        <p:spPr>
          <a:xfrm>
            <a:off x="4101245" y="4200473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[4,5)</a:t>
            </a:r>
            <a:endParaRPr lang="ru-BY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4E53D75-83F7-4A82-ACD5-026EDA128A94}"/>
              </a:ext>
            </a:extLst>
          </p:cNvPr>
          <p:cNvSpPr txBox="1"/>
          <p:nvPr/>
        </p:nvSpPr>
        <p:spPr>
          <a:xfrm>
            <a:off x="3062637" y="3321696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[3,4)</a:t>
            </a:r>
            <a:endParaRPr lang="ru-BY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2F73F93-89C4-4224-B58C-D745A65278C0}"/>
              </a:ext>
            </a:extLst>
          </p:cNvPr>
          <p:cNvSpPr txBox="1"/>
          <p:nvPr/>
        </p:nvSpPr>
        <p:spPr>
          <a:xfrm>
            <a:off x="668711" y="3329953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[0,1)</a:t>
            </a:r>
            <a:endParaRPr lang="ru-BY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D985156-1CDB-461C-909B-342DAC8CEC64}"/>
              </a:ext>
            </a:extLst>
          </p:cNvPr>
          <p:cNvSpPr txBox="1"/>
          <p:nvPr/>
        </p:nvSpPr>
        <p:spPr>
          <a:xfrm>
            <a:off x="2317903" y="4191754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[2,3)</a:t>
            </a:r>
            <a:endParaRPr lang="ru-BY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E6CBE12-50D2-47DB-9964-C70A87083EA4}"/>
              </a:ext>
            </a:extLst>
          </p:cNvPr>
          <p:cNvSpPr txBox="1"/>
          <p:nvPr/>
        </p:nvSpPr>
        <p:spPr>
          <a:xfrm>
            <a:off x="1585231" y="415640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[1,2)</a:t>
            </a:r>
            <a:endParaRPr lang="ru-BY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83ED1F2-A6D6-4099-8707-B550F9EB6052}"/>
              </a:ext>
            </a:extLst>
          </p:cNvPr>
          <p:cNvSpPr txBox="1"/>
          <p:nvPr/>
        </p:nvSpPr>
        <p:spPr>
          <a:xfrm>
            <a:off x="260948" y="5817147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61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67E70D1-743A-4363-8366-52C6A88BB81B}"/>
              </a:ext>
            </a:extLst>
          </p:cNvPr>
          <p:cNvSpPr txBox="1"/>
          <p:nvPr/>
        </p:nvSpPr>
        <p:spPr>
          <a:xfrm>
            <a:off x="591971" y="5824946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6537847-4B7B-4476-9992-90FAB13EF225}"/>
              </a:ext>
            </a:extLst>
          </p:cNvPr>
          <p:cNvSpPr txBox="1"/>
          <p:nvPr/>
        </p:nvSpPr>
        <p:spPr>
          <a:xfrm>
            <a:off x="985368" y="5833169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38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1564654-8BF7-4230-B9EB-DD69D3B39DFC}"/>
              </a:ext>
            </a:extLst>
          </p:cNvPr>
          <p:cNvSpPr txBox="1"/>
          <p:nvPr/>
        </p:nvSpPr>
        <p:spPr>
          <a:xfrm>
            <a:off x="1357057" y="5814906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A51E37E-03EB-4680-9C99-B2C819AE6D17}"/>
              </a:ext>
            </a:extLst>
          </p:cNvPr>
          <p:cNvSpPr txBox="1"/>
          <p:nvPr/>
        </p:nvSpPr>
        <p:spPr>
          <a:xfrm>
            <a:off x="1765333" y="5834308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20BD034-654C-49F0-9EA4-ABF19347224C}"/>
              </a:ext>
            </a:extLst>
          </p:cNvPr>
          <p:cNvSpPr txBox="1"/>
          <p:nvPr/>
        </p:nvSpPr>
        <p:spPr>
          <a:xfrm>
            <a:off x="2111628" y="5842700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9D6E0A9-E314-46E3-8048-0752515A4C28}"/>
              </a:ext>
            </a:extLst>
          </p:cNvPr>
          <p:cNvSpPr txBox="1"/>
          <p:nvPr/>
        </p:nvSpPr>
        <p:spPr>
          <a:xfrm>
            <a:off x="2458968" y="5836553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29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3D0815F-24F7-4484-A6C2-8F8B034F0600}"/>
              </a:ext>
            </a:extLst>
          </p:cNvPr>
          <p:cNvSpPr txBox="1"/>
          <p:nvPr/>
        </p:nvSpPr>
        <p:spPr>
          <a:xfrm>
            <a:off x="3544620" y="5852766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7F60158-A542-4FB6-85A5-60D9F03C133C}"/>
              </a:ext>
            </a:extLst>
          </p:cNvPr>
          <p:cNvSpPr txBox="1"/>
          <p:nvPr/>
        </p:nvSpPr>
        <p:spPr>
          <a:xfrm>
            <a:off x="3926249" y="5833695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7D4768D-D1CC-4693-950D-DD9377252084}"/>
              </a:ext>
            </a:extLst>
          </p:cNvPr>
          <p:cNvSpPr txBox="1"/>
          <p:nvPr/>
        </p:nvSpPr>
        <p:spPr>
          <a:xfrm>
            <a:off x="5088059" y="5842700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2B0FEF24-FCA0-4AD3-8C2C-288D7AF8C840}"/>
              </a:ext>
            </a:extLst>
          </p:cNvPr>
          <p:cNvSpPr txBox="1"/>
          <p:nvPr/>
        </p:nvSpPr>
        <p:spPr>
          <a:xfrm>
            <a:off x="5468190" y="5842700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E2DFDAF-4A87-4995-B32D-F3C325EA032F}"/>
              </a:ext>
            </a:extLst>
          </p:cNvPr>
          <p:cNvSpPr txBox="1"/>
          <p:nvPr/>
        </p:nvSpPr>
        <p:spPr>
          <a:xfrm>
            <a:off x="2356897" y="288591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</a:t>
            </a:r>
            <a:r>
              <a:rPr lang="ru-RU" dirty="0"/>
              <a:t>1</a:t>
            </a:r>
            <a:r>
              <a:rPr lang="en-US" dirty="0"/>
              <a:t>,3)</a:t>
            </a:r>
            <a:endParaRPr lang="ru-BY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FD4489C-4005-488C-B176-F932BEBCD1ED}"/>
              </a:ext>
            </a:extLst>
          </p:cNvPr>
          <p:cNvSpPr txBox="1"/>
          <p:nvPr/>
        </p:nvSpPr>
        <p:spPr>
          <a:xfrm>
            <a:off x="6888088" y="1496915"/>
            <a:ext cx="45710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Build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t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DoBuild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tr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</a:t>
            </a:r>
            <a:endParaRPr lang="ru-RU" sz="1400" dirty="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1BDD82E-6196-429F-A41B-6CDE0AEE587B}"/>
                  </a:ext>
                </a:extLst>
              </p:cNvPr>
              <p:cNvSpPr txBox="1"/>
              <p:nvPr/>
            </p:nvSpPr>
            <p:spPr>
              <a:xfrm>
                <a:off x="3703677" y="5065428"/>
                <a:ext cx="8041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1BDD82E-6196-429F-A41B-6CDE0AEE5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677" y="5065428"/>
                <a:ext cx="80419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D2ECAC10-C369-2EF4-0FD0-59C4966CE2FD}"/>
              </a:ext>
            </a:extLst>
          </p:cNvPr>
          <p:cNvCxnSpPr/>
          <p:nvPr/>
        </p:nvCxnSpPr>
        <p:spPr>
          <a:xfrm flipV="1">
            <a:off x="6866031" y="2419654"/>
            <a:ext cx="5278641" cy="586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2FEC29-541C-9D75-F8D3-23F1DFDC8603}"/>
                  </a:ext>
                </a:extLst>
              </p:cNvPr>
              <p:cNvSpPr txBox="1"/>
              <p:nvPr/>
            </p:nvSpPr>
            <p:spPr>
              <a:xfrm>
                <a:off x="4012994" y="2823041"/>
                <a:ext cx="59368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2FEC29-541C-9D75-F8D3-23F1DFDC8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994" y="2823041"/>
                <a:ext cx="593689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7835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0" grpId="0" animBg="1"/>
      <p:bldP spid="33" grpId="0" animBg="1"/>
      <p:bldP spid="36" grpId="0" animBg="1"/>
      <p:bldP spid="39" grpId="0" animBg="1"/>
      <p:bldP spid="42" grpId="0" animBg="1"/>
      <p:bldP spid="48" grpId="0" animBg="1"/>
      <p:bldP spid="51" grpId="0" animBg="1"/>
      <p:bldP spid="89" grpId="0"/>
      <p:bldP spid="90" grpId="0"/>
      <p:bldP spid="91" grpId="0"/>
      <p:bldP spid="92" grpId="0"/>
      <p:bldP spid="93" grpId="0"/>
      <p:bldP spid="95" grpId="0"/>
      <p:bldP spid="97" grpId="0"/>
      <p:bldP spid="62" grpId="0" animBg="1"/>
      <p:bldP spid="63" grpId="0" animBg="1"/>
      <p:bldP spid="71" grpId="0"/>
      <p:bldP spid="45" grpId="0" animBg="1"/>
      <p:bldP spid="116" grpId="0"/>
      <p:bldP spid="117" grpId="0"/>
      <p:bldP spid="9" grpId="0"/>
      <p:bldP spid="61" grpId="0"/>
      <p:bldP spid="64" grpId="0"/>
      <p:bldP spid="65" grpId="0"/>
      <p:bldP spid="67" grpId="0"/>
      <p:bldP spid="70" grpId="0"/>
      <p:bldP spid="72" grpId="0"/>
      <p:bldP spid="75" grpId="0"/>
      <p:bldP spid="77" grpId="0"/>
      <p:bldP spid="80" grpId="0"/>
      <p:bldP spid="82" grpId="0"/>
      <p:bldP spid="94" grpId="0"/>
      <p:bldP spid="98" grpId="0"/>
      <p:bldP spid="99" grpId="0"/>
      <p:bldP spid="100" grpId="0"/>
      <p:bldP spid="102" grpId="0"/>
      <p:bldP spid="106" grpId="0"/>
      <p:bldP spid="108" grpId="0"/>
      <p:bldP spid="109" grpId="0"/>
      <p:bldP spid="110" grpId="0"/>
      <p:bldP spid="111" grpId="0"/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Дерево отрезков. Модификация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258669" y="2060848"/>
            <a:ext cx="6350496" cy="348498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DoAdd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t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m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DoAdd</a:t>
            </a:r>
            <a:r>
              <a:rPr lang="nn-NO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nn-NO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nn-NO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n-NO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nn-NO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nn-NO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tl</a:t>
            </a:r>
            <a:r>
              <a:rPr lang="nn-NO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nn-NO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tr</a:t>
            </a:r>
            <a:r>
              <a:rPr lang="nn-NO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</a:t>
            </a:r>
            <a:r>
              <a:rPr lang="nn-NO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</a:t>
            </a:r>
            <a:r>
              <a:rPr lang="nn-NO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nn-NO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</a:t>
            </a:r>
            <a:r>
              <a:rPr lang="nn-NO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nn-NO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nn-NO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DoAdd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t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6600056" y="1600203"/>
            <a:ext cx="5174366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Add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DoAdd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ru-RU" sz="1800" dirty="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FD768B-2DEF-4706-B105-C52331C2B6D0}"/>
                  </a:ext>
                </a:extLst>
              </p:cNvPr>
              <p:cNvSpPr txBox="1"/>
              <p:nvPr/>
            </p:nvSpPr>
            <p:spPr>
              <a:xfrm>
                <a:off x="260121" y="1456548"/>
                <a:ext cx="11037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𝐀𝐝𝐝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𝐢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BY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FD768B-2DEF-4706-B105-C52331C2B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121" y="1456548"/>
                <a:ext cx="1103784" cy="461665"/>
              </a:xfrm>
              <a:prstGeom prst="rect">
                <a:avLst/>
              </a:prstGeom>
              <a:blipFill>
                <a:blip r:embed="rId2"/>
                <a:stretch>
                  <a:fillRect l="-2210" r="-30387" b="-1710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7500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802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1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51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Дерево отрезков. Модификация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596667" y="2168354"/>
            <a:ext cx="5174366" cy="26928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DoAdd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m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DoAdd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n-NO" sz="1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tl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tr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n-NO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nn-NO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nn-NO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DoAdd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6592509" y="1348950"/>
            <a:ext cx="5174366" cy="7757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Add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DoAdd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ru-RU" sz="1400" dirty="0">
              <a:latin typeface="Consolas" panose="020B0609020204030204" pitchFamily="49" charset="0"/>
            </a:endParaRP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355EA9F5-5E5B-4C4E-B8B8-62FA3590AC8A}"/>
              </a:ext>
            </a:extLst>
          </p:cNvPr>
          <p:cNvSpPr/>
          <p:nvPr/>
        </p:nvSpPr>
        <p:spPr>
          <a:xfrm>
            <a:off x="2298950" y="2294001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6</a:t>
            </a:r>
            <a:r>
              <a:rPr lang="en-US" sz="1200" dirty="0">
                <a:solidFill>
                  <a:schemeClr val="tx1"/>
                </a:solidFill>
              </a:rPr>
              <a:t>1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06D3C67C-B788-409C-A4E4-7FC5B8E4A894}"/>
              </a:ext>
            </a:extLst>
          </p:cNvPr>
          <p:cNvSpPr/>
          <p:nvPr/>
        </p:nvSpPr>
        <p:spPr>
          <a:xfrm>
            <a:off x="1340692" y="2976045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23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29837235-6996-4C63-8CF7-5C2B6EB800F9}"/>
              </a:ext>
            </a:extLst>
          </p:cNvPr>
          <p:cNvSpPr/>
          <p:nvPr/>
        </p:nvSpPr>
        <p:spPr>
          <a:xfrm>
            <a:off x="3184876" y="2840795"/>
            <a:ext cx="504056" cy="471400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38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7BF74288-5DBC-4CF9-9A65-662C81092CD9}"/>
              </a:ext>
            </a:extLst>
          </p:cNvPr>
          <p:cNvSpPr/>
          <p:nvPr/>
        </p:nvSpPr>
        <p:spPr>
          <a:xfrm>
            <a:off x="680505" y="3685295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7EED581A-4437-4C98-9F27-24390EDE41E8}"/>
              </a:ext>
            </a:extLst>
          </p:cNvPr>
          <p:cNvSpPr/>
          <p:nvPr/>
        </p:nvSpPr>
        <p:spPr>
          <a:xfrm>
            <a:off x="1857723" y="3674421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21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878F936E-D963-471F-988F-7302B23B99A7}"/>
              </a:ext>
            </a:extLst>
          </p:cNvPr>
          <p:cNvSpPr/>
          <p:nvPr/>
        </p:nvSpPr>
        <p:spPr>
          <a:xfrm>
            <a:off x="3092061" y="3699296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9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B86CBC6B-125E-417D-9560-742042FEFF92}"/>
              </a:ext>
            </a:extLst>
          </p:cNvPr>
          <p:cNvSpPr/>
          <p:nvPr/>
        </p:nvSpPr>
        <p:spPr>
          <a:xfrm>
            <a:off x="1603097" y="4482237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7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A9DB542E-E930-45DD-B906-D0C6D09413D5}"/>
              </a:ext>
            </a:extLst>
          </p:cNvPr>
          <p:cNvSpPr/>
          <p:nvPr/>
        </p:nvSpPr>
        <p:spPr>
          <a:xfrm>
            <a:off x="2273203" y="4487822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  <a:r>
              <a:rPr lang="ru-RU" sz="1200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60C55635-F0E6-4C6A-B04C-6A063A1AADF8}"/>
              </a:ext>
            </a:extLst>
          </p:cNvPr>
          <p:cNvCxnSpPr>
            <a:cxnSpLocks/>
            <a:stCxn id="7" idx="4"/>
            <a:endCxn id="9" idx="0"/>
          </p:cNvCxnSpPr>
          <p:nvPr/>
        </p:nvCxnSpPr>
        <p:spPr>
          <a:xfrm flipH="1">
            <a:off x="932533" y="3480101"/>
            <a:ext cx="660187" cy="205194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16D59688-EF53-47F3-B979-735537A74056}"/>
              </a:ext>
            </a:extLst>
          </p:cNvPr>
          <p:cNvCxnSpPr>
            <a:cxnSpLocks/>
            <a:stCxn id="8" idx="4"/>
          </p:cNvCxnSpPr>
          <p:nvPr/>
        </p:nvCxnSpPr>
        <p:spPr>
          <a:xfrm>
            <a:off x="3436904" y="3312195"/>
            <a:ext cx="979965" cy="512729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85E6C670-B61A-4B67-8C39-2DA72D511155}"/>
              </a:ext>
            </a:extLst>
          </p:cNvPr>
          <p:cNvCxnSpPr>
            <a:cxnSpLocks/>
            <a:stCxn id="10" idx="4"/>
            <a:endCxn id="12" idx="0"/>
          </p:cNvCxnSpPr>
          <p:nvPr/>
        </p:nvCxnSpPr>
        <p:spPr>
          <a:xfrm flipH="1">
            <a:off x="1855125" y="4178477"/>
            <a:ext cx="254626" cy="303760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2A9EBB14-DFC5-4599-B454-7C657DBE31F6}"/>
              </a:ext>
            </a:extLst>
          </p:cNvPr>
          <p:cNvCxnSpPr>
            <a:cxnSpLocks/>
            <a:stCxn id="10" idx="4"/>
            <a:endCxn id="13" idx="0"/>
          </p:cNvCxnSpPr>
          <p:nvPr/>
        </p:nvCxnSpPr>
        <p:spPr>
          <a:xfrm>
            <a:off x="2109751" y="4178477"/>
            <a:ext cx="415480" cy="309345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037F026A-7F07-4A00-96B0-D261587ED940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 flipH="1">
            <a:off x="1592720" y="2798057"/>
            <a:ext cx="958258" cy="177988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0A5E7AE9-6E60-4D63-A127-CB791C60C20F}"/>
              </a:ext>
            </a:extLst>
          </p:cNvPr>
          <p:cNvCxnSpPr>
            <a:cxnSpLocks/>
            <a:stCxn id="6" idx="4"/>
            <a:endCxn id="79" idx="2"/>
          </p:cNvCxnSpPr>
          <p:nvPr/>
        </p:nvCxnSpPr>
        <p:spPr>
          <a:xfrm>
            <a:off x="2550978" y="2798057"/>
            <a:ext cx="630027" cy="197426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7A8387A-5D52-4DE2-9D45-E2F40008906F}"/>
                  </a:ext>
                </a:extLst>
              </p:cNvPr>
              <p:cNvSpPr txBox="1"/>
              <p:nvPr/>
            </p:nvSpPr>
            <p:spPr>
              <a:xfrm>
                <a:off x="1777746" y="2393764"/>
                <a:ext cx="59368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7A8387A-5D52-4DE2-9D45-E2F400089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7746" y="2393764"/>
                <a:ext cx="593689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8DC7A9C-E73D-42FB-92C0-4F78A346DB22}"/>
                  </a:ext>
                </a:extLst>
              </p:cNvPr>
              <p:cNvSpPr txBox="1"/>
              <p:nvPr/>
            </p:nvSpPr>
            <p:spPr>
              <a:xfrm>
                <a:off x="711405" y="3052153"/>
                <a:ext cx="62735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 2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8DC7A9C-E73D-42FB-92C0-4F78A346D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405" y="3052153"/>
                <a:ext cx="627351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FF286D8-4E52-46B1-89DD-60700384AE7F}"/>
                  </a:ext>
                </a:extLst>
              </p:cNvPr>
              <p:cNvSpPr txBox="1"/>
              <p:nvPr/>
            </p:nvSpPr>
            <p:spPr>
              <a:xfrm>
                <a:off x="2544067" y="3002881"/>
                <a:ext cx="67158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FF286D8-4E52-46B1-89DD-60700384A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067" y="3002881"/>
                <a:ext cx="671588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2253012-394A-4242-9F3D-4C40D4FEC2B6}"/>
                  </a:ext>
                </a:extLst>
              </p:cNvPr>
              <p:cNvSpPr txBox="1"/>
              <p:nvPr/>
            </p:nvSpPr>
            <p:spPr>
              <a:xfrm>
                <a:off x="125950" y="3758766"/>
                <a:ext cx="59368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2253012-394A-4242-9F3D-4C40D4FEC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50" y="3758766"/>
                <a:ext cx="593689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C8B4D14-BD27-460D-8D85-717B8DFFE89C}"/>
                  </a:ext>
                </a:extLst>
              </p:cNvPr>
              <p:cNvSpPr txBox="1"/>
              <p:nvPr/>
            </p:nvSpPr>
            <p:spPr>
              <a:xfrm flipH="1">
                <a:off x="1252419" y="3800945"/>
                <a:ext cx="6985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C8B4D14-BD27-460D-8D85-717B8DFFE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52419" y="3800945"/>
                <a:ext cx="698551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7452569-28C8-42C2-BE4B-30408A75DFD2}"/>
                  </a:ext>
                </a:extLst>
              </p:cNvPr>
              <p:cNvSpPr txBox="1"/>
              <p:nvPr/>
            </p:nvSpPr>
            <p:spPr>
              <a:xfrm>
                <a:off x="2576769" y="3827283"/>
                <a:ext cx="59368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7452569-28C8-42C2-BE4B-30408A75D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6769" y="3827283"/>
                <a:ext cx="593689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4F27035-05E2-4443-B125-DD54BB6F740A}"/>
                  </a:ext>
                </a:extLst>
              </p:cNvPr>
              <p:cNvSpPr txBox="1"/>
              <p:nvPr/>
            </p:nvSpPr>
            <p:spPr>
              <a:xfrm>
                <a:off x="875566" y="4601350"/>
                <a:ext cx="74643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4F27035-05E2-4443-B125-DD54BB6F7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566" y="4601350"/>
                <a:ext cx="74643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D2D368EB-26E7-4B78-BFD2-1F4C6614A95E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>
            <a:off x="1592720" y="3480101"/>
            <a:ext cx="517031" cy="194320"/>
          </a:xfrm>
          <a:prstGeom prst="straightConnector1">
            <a:avLst/>
          </a:prstGeom>
          <a:ln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Овал 27">
            <a:extLst>
              <a:ext uri="{FF2B5EF4-FFF2-40B4-BE49-F238E27FC236}">
                <a16:creationId xmlns:a16="http://schemas.microsoft.com/office/drawing/2014/main" id="{AFC41CFE-8D61-421F-9D81-E05E79EB867A}"/>
              </a:ext>
            </a:extLst>
          </p:cNvPr>
          <p:cNvSpPr/>
          <p:nvPr/>
        </p:nvSpPr>
        <p:spPr>
          <a:xfrm>
            <a:off x="4030787" y="4489946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16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2DEF46D3-B4BA-4341-A129-5A541EC66F09}"/>
              </a:ext>
            </a:extLst>
          </p:cNvPr>
          <p:cNvSpPr/>
          <p:nvPr/>
        </p:nvSpPr>
        <p:spPr>
          <a:xfrm>
            <a:off x="4609284" y="4485693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13</a:t>
            </a:r>
            <a:endParaRPr lang="ru-RU" sz="1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55A1A86-516F-4DCF-A9A8-CC6CD0EF968F}"/>
                  </a:ext>
                </a:extLst>
              </p:cNvPr>
              <p:cNvSpPr txBox="1"/>
              <p:nvPr/>
            </p:nvSpPr>
            <p:spPr>
              <a:xfrm>
                <a:off x="2815622" y="4660761"/>
                <a:ext cx="6786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=11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55A1A86-516F-4DCF-A9A8-CC6CD0EF9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5622" y="4660761"/>
                <a:ext cx="678647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BF95BFC-BF69-4BEF-85B9-9C45994D3BB8}"/>
                  </a:ext>
                </a:extLst>
              </p:cNvPr>
              <p:cNvSpPr txBox="1"/>
              <p:nvPr/>
            </p:nvSpPr>
            <p:spPr>
              <a:xfrm>
                <a:off x="3677832" y="3813979"/>
                <a:ext cx="85921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BF95BFC-BF69-4BEF-85B9-9C45994D3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7832" y="3813979"/>
                <a:ext cx="859212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1FE4B6C9-4C64-4CDB-BCF2-F54C6FE20786}"/>
              </a:ext>
            </a:extLst>
          </p:cNvPr>
          <p:cNvCxnSpPr>
            <a:cxnSpLocks/>
            <a:stCxn id="8" idx="4"/>
            <a:endCxn id="11" idx="0"/>
          </p:cNvCxnSpPr>
          <p:nvPr/>
        </p:nvCxnSpPr>
        <p:spPr>
          <a:xfrm flipH="1">
            <a:off x="3344089" y="3312195"/>
            <a:ext cx="92815" cy="387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0CDD2E4A-6563-457D-BCC7-106716D94A23}"/>
              </a:ext>
            </a:extLst>
          </p:cNvPr>
          <p:cNvCxnSpPr>
            <a:cxnSpLocks/>
            <a:stCxn id="35" idx="4"/>
            <a:endCxn id="28" idx="0"/>
          </p:cNvCxnSpPr>
          <p:nvPr/>
        </p:nvCxnSpPr>
        <p:spPr>
          <a:xfrm flipH="1">
            <a:off x="4282815" y="4220949"/>
            <a:ext cx="323178" cy="268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40AFFB36-B183-40D5-8FC7-2813E6A91CA4}"/>
              </a:ext>
            </a:extLst>
          </p:cNvPr>
          <p:cNvCxnSpPr>
            <a:cxnSpLocks/>
            <a:stCxn id="35" idx="4"/>
            <a:endCxn id="29" idx="0"/>
          </p:cNvCxnSpPr>
          <p:nvPr/>
        </p:nvCxnSpPr>
        <p:spPr>
          <a:xfrm>
            <a:off x="4605993" y="4220949"/>
            <a:ext cx="255319" cy="264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Овал 34">
            <a:extLst>
              <a:ext uri="{FF2B5EF4-FFF2-40B4-BE49-F238E27FC236}">
                <a16:creationId xmlns:a16="http://schemas.microsoft.com/office/drawing/2014/main" id="{C9C11937-CAE5-471B-BCBC-D035A82ED86D}"/>
              </a:ext>
            </a:extLst>
          </p:cNvPr>
          <p:cNvSpPr/>
          <p:nvPr/>
        </p:nvSpPr>
        <p:spPr>
          <a:xfrm>
            <a:off x="4350673" y="3735988"/>
            <a:ext cx="510639" cy="484961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29</a:t>
            </a:r>
            <a:endParaRPr lang="ru-RU" sz="1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3FABDAD-BCD0-4F6B-A6A9-A5A9369DB90F}"/>
                  </a:ext>
                </a:extLst>
              </p:cNvPr>
              <p:cNvSpPr txBox="1"/>
              <p:nvPr/>
            </p:nvSpPr>
            <p:spPr>
              <a:xfrm>
                <a:off x="3423205" y="4654438"/>
                <a:ext cx="6786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=14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3FABDAD-BCD0-4F6B-A6A9-A5A9369DB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3205" y="4654438"/>
                <a:ext cx="678647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FFC70DD-C4C5-42D6-9498-B4FCCD8DBE59}"/>
                  </a:ext>
                </a:extLst>
              </p:cNvPr>
              <p:cNvSpPr txBox="1"/>
              <p:nvPr/>
            </p:nvSpPr>
            <p:spPr>
              <a:xfrm>
                <a:off x="5172053" y="4660761"/>
                <a:ext cx="6786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=15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FFC70DD-C4C5-42D6-9498-B4FCCD8DB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2053" y="4660761"/>
                <a:ext cx="678647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8" name="Таблица 37">
            <a:extLst>
              <a:ext uri="{FF2B5EF4-FFF2-40B4-BE49-F238E27FC236}">
                <a16:creationId xmlns:a16="http://schemas.microsoft.com/office/drawing/2014/main" id="{DEC299C9-908B-47DD-862F-1391F41477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835297"/>
              </p:ext>
            </p:extLst>
          </p:nvPr>
        </p:nvGraphicFramePr>
        <p:xfrm>
          <a:off x="1793481" y="1533371"/>
          <a:ext cx="300086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144">
                  <a:extLst>
                    <a:ext uri="{9D8B030D-6E8A-4147-A177-3AD203B41FA5}">
                      <a16:colId xmlns:a16="http://schemas.microsoft.com/office/drawing/2014/main" val="3333962665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3568347458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150607796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1278484228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2603389566"/>
                    </a:ext>
                  </a:extLst>
                </a:gridCol>
                <a:gridCol w="500144">
                  <a:extLst>
                    <a:ext uri="{9D8B030D-6E8A-4147-A177-3AD203B41FA5}">
                      <a16:colId xmlns:a16="http://schemas.microsoft.com/office/drawing/2014/main" val="1443179518"/>
                    </a:ext>
                  </a:extLst>
                </a:gridCol>
              </a:tblGrid>
              <a:tr h="2940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09445"/>
                  </a:ext>
                </a:extLst>
              </a:tr>
            </a:tbl>
          </a:graphicData>
        </a:graphic>
      </p:graphicFrame>
      <p:graphicFrame>
        <p:nvGraphicFramePr>
          <p:cNvPr id="39" name="Таблица 38">
            <a:extLst>
              <a:ext uri="{FF2B5EF4-FFF2-40B4-BE49-F238E27FC236}">
                <a16:creationId xmlns:a16="http://schemas.microsoft.com/office/drawing/2014/main" id="{BED947C7-3BDD-494E-8656-86E5A5BC09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320473"/>
              </p:ext>
            </p:extLst>
          </p:nvPr>
        </p:nvGraphicFramePr>
        <p:xfrm>
          <a:off x="1734177" y="1235687"/>
          <a:ext cx="298065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775">
                  <a:extLst>
                    <a:ext uri="{9D8B030D-6E8A-4147-A177-3AD203B41FA5}">
                      <a16:colId xmlns:a16="http://schemas.microsoft.com/office/drawing/2014/main" val="1652681310"/>
                    </a:ext>
                  </a:extLst>
                </a:gridCol>
                <a:gridCol w="496775">
                  <a:extLst>
                    <a:ext uri="{9D8B030D-6E8A-4147-A177-3AD203B41FA5}">
                      <a16:colId xmlns:a16="http://schemas.microsoft.com/office/drawing/2014/main" val="1529731482"/>
                    </a:ext>
                  </a:extLst>
                </a:gridCol>
                <a:gridCol w="496775">
                  <a:extLst>
                    <a:ext uri="{9D8B030D-6E8A-4147-A177-3AD203B41FA5}">
                      <a16:colId xmlns:a16="http://schemas.microsoft.com/office/drawing/2014/main" val="588584378"/>
                    </a:ext>
                  </a:extLst>
                </a:gridCol>
                <a:gridCol w="496775">
                  <a:extLst>
                    <a:ext uri="{9D8B030D-6E8A-4147-A177-3AD203B41FA5}">
                      <a16:colId xmlns:a16="http://schemas.microsoft.com/office/drawing/2014/main" val="2753402991"/>
                    </a:ext>
                  </a:extLst>
                </a:gridCol>
                <a:gridCol w="496775">
                  <a:extLst>
                    <a:ext uri="{9D8B030D-6E8A-4147-A177-3AD203B41FA5}">
                      <a16:colId xmlns:a16="http://schemas.microsoft.com/office/drawing/2014/main" val="3163138531"/>
                    </a:ext>
                  </a:extLst>
                </a:gridCol>
                <a:gridCol w="496775">
                  <a:extLst>
                    <a:ext uri="{9D8B030D-6E8A-4147-A177-3AD203B41FA5}">
                      <a16:colId xmlns:a16="http://schemas.microsoft.com/office/drawing/2014/main" val="3631667243"/>
                    </a:ext>
                  </a:extLst>
                </a:gridCol>
              </a:tblGrid>
              <a:tr h="21002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00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ru-RU" sz="12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200" dirty="0"/>
                        <a:t>1</a:t>
                      </a:r>
                      <a:endParaRPr lang="ru-RU" sz="1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1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ru-RU" sz="12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ru-RU" sz="12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ru-RU" sz="12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39182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1E6E8CE-16D7-4C41-9803-E661E3307840}"/>
                  </a:ext>
                </a:extLst>
              </p:cNvPr>
              <p:cNvSpPr txBox="1"/>
              <p:nvPr/>
            </p:nvSpPr>
            <p:spPr>
              <a:xfrm>
                <a:off x="1482472" y="1524095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1E6E8CE-16D7-4C41-9803-E661E33078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472" y="1524095"/>
                <a:ext cx="385683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D073D5A-A3C1-4CEE-8A12-6E25B68398B8}"/>
                  </a:ext>
                </a:extLst>
              </p:cNvPr>
              <p:cNvSpPr txBox="1"/>
              <p:nvPr/>
            </p:nvSpPr>
            <p:spPr>
              <a:xfrm>
                <a:off x="2797190" y="2334614"/>
                <a:ext cx="13556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[0,6),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ru-BY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D073D5A-A3C1-4CEE-8A12-6E25B6839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7190" y="2334614"/>
                <a:ext cx="1355628" cy="369332"/>
              </a:xfrm>
              <a:prstGeom prst="rect">
                <a:avLst/>
              </a:prstGeom>
              <a:blipFill>
                <a:blip r:embed="rId14"/>
                <a:stretch>
                  <a:fillRect l="-4054" t="-9836" b="-24590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E48A687-2B06-4BD4-BA35-F96C19606FDE}"/>
                  </a:ext>
                </a:extLst>
              </p:cNvPr>
              <p:cNvSpPr txBox="1"/>
              <p:nvPr/>
            </p:nvSpPr>
            <p:spPr>
              <a:xfrm>
                <a:off x="3685061" y="2935313"/>
                <a:ext cx="13556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[3,6),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ru-BY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E48A687-2B06-4BD4-BA35-F96C19606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5061" y="2935313"/>
                <a:ext cx="1355628" cy="369332"/>
              </a:xfrm>
              <a:prstGeom prst="rect">
                <a:avLst/>
              </a:prstGeom>
              <a:blipFill>
                <a:blip r:embed="rId15"/>
                <a:stretch>
                  <a:fillRect l="-4054" t="-10000" b="-2666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388FF7D-A76F-45F5-8199-10D481364FE3}"/>
                  </a:ext>
                </a:extLst>
              </p:cNvPr>
              <p:cNvSpPr txBox="1"/>
              <p:nvPr/>
            </p:nvSpPr>
            <p:spPr>
              <a:xfrm>
                <a:off x="4826012" y="3754280"/>
                <a:ext cx="13556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[</a:t>
                </a:r>
                <a:r>
                  <a:rPr lang="ru-RU" dirty="0"/>
                  <a:t>4</a:t>
                </a:r>
                <a:r>
                  <a:rPr lang="en-US" dirty="0"/>
                  <a:t>,6),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ru-BY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388FF7D-A76F-45F5-8199-10D481364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012" y="3754280"/>
                <a:ext cx="1355628" cy="369332"/>
              </a:xfrm>
              <a:prstGeom prst="rect">
                <a:avLst/>
              </a:prstGeom>
              <a:blipFill>
                <a:blip r:embed="rId16"/>
                <a:stretch>
                  <a:fillRect l="-4054" t="-10000" b="-2666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0C7A2694-E08F-4758-9EE7-C9035B15B04A}"/>
              </a:ext>
            </a:extLst>
          </p:cNvPr>
          <p:cNvSpPr txBox="1"/>
          <p:nvPr/>
        </p:nvSpPr>
        <p:spPr>
          <a:xfrm>
            <a:off x="4843055" y="71596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[4,5)</a:t>
            </a:r>
            <a:endParaRPr lang="ru-BY" dirty="0"/>
          </a:p>
        </p:txBody>
      </p:sp>
      <p:graphicFrame>
        <p:nvGraphicFramePr>
          <p:cNvPr id="64" name="Таблица 63">
            <a:extLst>
              <a:ext uri="{FF2B5EF4-FFF2-40B4-BE49-F238E27FC236}">
                <a16:creationId xmlns:a16="http://schemas.microsoft.com/office/drawing/2014/main" id="{9F787598-6EF9-4C52-871E-4AD1B2FDE5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6811725"/>
              </p:ext>
            </p:extLst>
          </p:nvPr>
        </p:nvGraphicFramePr>
        <p:xfrm>
          <a:off x="431380" y="5661462"/>
          <a:ext cx="750216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845317700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057271481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478932143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2489016150"/>
                    </a:ext>
                  </a:extLst>
                </a:gridCol>
                <a:gridCol w="375108">
                  <a:extLst>
                    <a:ext uri="{9D8B030D-6E8A-4147-A177-3AD203B41FA5}">
                      <a16:colId xmlns:a16="http://schemas.microsoft.com/office/drawing/2014/main" val="1736466460"/>
                    </a:ext>
                  </a:extLst>
                </a:gridCol>
              </a:tblGrid>
              <a:tr h="294033"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023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DB221DA8-7B65-49DF-AED9-CA72C454DFC6}"/>
              </a:ext>
            </a:extLst>
          </p:cNvPr>
          <p:cNvSpPr txBox="1"/>
          <p:nvPr/>
        </p:nvSpPr>
        <p:spPr>
          <a:xfrm>
            <a:off x="359987" y="5645440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61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325A770-C3A0-4FFD-B71B-69E44B9A096D}"/>
              </a:ext>
            </a:extLst>
          </p:cNvPr>
          <p:cNvSpPr txBox="1"/>
          <p:nvPr/>
        </p:nvSpPr>
        <p:spPr>
          <a:xfrm>
            <a:off x="691010" y="5653239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320BCB-68DF-4635-9886-D40AB9142BB2}"/>
              </a:ext>
            </a:extLst>
          </p:cNvPr>
          <p:cNvSpPr txBox="1"/>
          <p:nvPr/>
        </p:nvSpPr>
        <p:spPr>
          <a:xfrm>
            <a:off x="1084407" y="5661462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38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FF43308-30CD-4ED7-8672-19C3CBB2468A}"/>
              </a:ext>
            </a:extLst>
          </p:cNvPr>
          <p:cNvSpPr txBox="1"/>
          <p:nvPr/>
        </p:nvSpPr>
        <p:spPr>
          <a:xfrm>
            <a:off x="1456096" y="5643199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AEEC3A7-4CEA-4649-BDAE-19C50394DE5B}"/>
              </a:ext>
            </a:extLst>
          </p:cNvPr>
          <p:cNvSpPr txBox="1"/>
          <p:nvPr/>
        </p:nvSpPr>
        <p:spPr>
          <a:xfrm>
            <a:off x="1864372" y="5662601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F14A0BA-0E64-4967-AD78-941105EF698A}"/>
              </a:ext>
            </a:extLst>
          </p:cNvPr>
          <p:cNvSpPr txBox="1"/>
          <p:nvPr/>
        </p:nvSpPr>
        <p:spPr>
          <a:xfrm>
            <a:off x="2210667" y="5670993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1E33C6C-CF59-4918-A201-2CDA331AA682}"/>
              </a:ext>
            </a:extLst>
          </p:cNvPr>
          <p:cNvSpPr txBox="1"/>
          <p:nvPr/>
        </p:nvSpPr>
        <p:spPr>
          <a:xfrm>
            <a:off x="2558007" y="5664846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29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1EAAD52-C765-4CE3-BC5A-B5E25702D723}"/>
              </a:ext>
            </a:extLst>
          </p:cNvPr>
          <p:cNvSpPr txBox="1"/>
          <p:nvPr/>
        </p:nvSpPr>
        <p:spPr>
          <a:xfrm>
            <a:off x="3643659" y="5681059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E765AA4-D4DE-41C5-89DE-62DFC7826F99}"/>
              </a:ext>
            </a:extLst>
          </p:cNvPr>
          <p:cNvSpPr txBox="1"/>
          <p:nvPr/>
        </p:nvSpPr>
        <p:spPr>
          <a:xfrm>
            <a:off x="4025288" y="5661988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B8CEE3E-8C98-4727-A375-F57F17D5CB0F}"/>
              </a:ext>
            </a:extLst>
          </p:cNvPr>
          <p:cNvSpPr txBox="1"/>
          <p:nvPr/>
        </p:nvSpPr>
        <p:spPr>
          <a:xfrm>
            <a:off x="5187098" y="5670993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C529EB3-BFBA-4E9F-B7FA-CF41DF00B329}"/>
              </a:ext>
            </a:extLst>
          </p:cNvPr>
          <p:cNvSpPr txBox="1"/>
          <p:nvPr/>
        </p:nvSpPr>
        <p:spPr>
          <a:xfrm>
            <a:off x="5567229" y="5670993"/>
            <a:ext cx="617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548F347-0E03-48C1-8717-3005A812F80D}"/>
              </a:ext>
            </a:extLst>
          </p:cNvPr>
          <p:cNvSpPr/>
          <p:nvPr/>
        </p:nvSpPr>
        <p:spPr>
          <a:xfrm>
            <a:off x="3851226" y="1790830"/>
            <a:ext cx="484180" cy="332771"/>
          </a:xfrm>
          <a:prstGeom prst="rect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21</a:t>
            </a:r>
            <a:endParaRPr lang="ru-BY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D4894AA5-B2A1-46AB-9BC0-80301EC8C2C7}"/>
                  </a:ext>
                </a:extLst>
              </p:cNvPr>
              <p:cNvSpPr txBox="1"/>
              <p:nvPr/>
            </p:nvSpPr>
            <p:spPr>
              <a:xfrm>
                <a:off x="127176" y="1633094"/>
                <a:ext cx="14205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ru-BY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D4894AA5-B2A1-46AB-9BC0-80301EC8C2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76" y="1633094"/>
                <a:ext cx="1420582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Овал 76">
            <a:extLst>
              <a:ext uri="{FF2B5EF4-FFF2-40B4-BE49-F238E27FC236}">
                <a16:creationId xmlns:a16="http://schemas.microsoft.com/office/drawing/2014/main" id="{478E3E5F-3017-4A51-94DA-E84870B79C53}"/>
              </a:ext>
            </a:extLst>
          </p:cNvPr>
          <p:cNvSpPr/>
          <p:nvPr/>
        </p:nvSpPr>
        <p:spPr>
          <a:xfrm>
            <a:off x="4018699" y="4405254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21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78" name="Овал 77">
            <a:extLst>
              <a:ext uri="{FF2B5EF4-FFF2-40B4-BE49-F238E27FC236}">
                <a16:creationId xmlns:a16="http://schemas.microsoft.com/office/drawing/2014/main" id="{0777B196-1D37-4302-B58C-D0588481EBC1}"/>
              </a:ext>
            </a:extLst>
          </p:cNvPr>
          <p:cNvSpPr/>
          <p:nvPr/>
        </p:nvSpPr>
        <p:spPr>
          <a:xfrm>
            <a:off x="4356443" y="3640438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34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79" name="Овал 78">
            <a:extLst>
              <a:ext uri="{FF2B5EF4-FFF2-40B4-BE49-F238E27FC236}">
                <a16:creationId xmlns:a16="http://schemas.microsoft.com/office/drawing/2014/main" id="{4FA60827-D67B-4E00-9538-F8F70F05DCC4}"/>
              </a:ext>
            </a:extLst>
          </p:cNvPr>
          <p:cNvSpPr/>
          <p:nvPr/>
        </p:nvSpPr>
        <p:spPr>
          <a:xfrm>
            <a:off x="3181005" y="2743455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43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80" name="Овал 79">
            <a:extLst>
              <a:ext uri="{FF2B5EF4-FFF2-40B4-BE49-F238E27FC236}">
                <a16:creationId xmlns:a16="http://schemas.microsoft.com/office/drawing/2014/main" id="{703A942C-634F-4D75-AE75-7B83A80A93C8}"/>
              </a:ext>
            </a:extLst>
          </p:cNvPr>
          <p:cNvSpPr/>
          <p:nvPr/>
        </p:nvSpPr>
        <p:spPr>
          <a:xfrm>
            <a:off x="2324088" y="2186546"/>
            <a:ext cx="504056" cy="504056"/>
          </a:xfrm>
          <a:prstGeom prst="ellipse">
            <a:avLst/>
          </a:prstGeom>
          <a:solidFill>
            <a:srgbClr val="92D05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66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81" name="Прямоугольник 80">
            <a:extLst>
              <a:ext uri="{FF2B5EF4-FFF2-40B4-BE49-F238E27FC236}">
                <a16:creationId xmlns:a16="http://schemas.microsoft.com/office/drawing/2014/main" id="{97A76638-523D-49B2-A3E9-4CCD677FF5BB}"/>
              </a:ext>
            </a:extLst>
          </p:cNvPr>
          <p:cNvSpPr/>
          <p:nvPr/>
        </p:nvSpPr>
        <p:spPr>
          <a:xfrm>
            <a:off x="5255176" y="5395408"/>
            <a:ext cx="426656" cy="332771"/>
          </a:xfrm>
          <a:prstGeom prst="rect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21</a:t>
            </a:r>
            <a:endParaRPr lang="ru-BY" dirty="0">
              <a:solidFill>
                <a:srgbClr val="FF0000"/>
              </a:solidFill>
            </a:endParaRPr>
          </a:p>
        </p:txBody>
      </p:sp>
      <p:sp>
        <p:nvSpPr>
          <p:cNvPr id="83" name="Прямоугольник 82">
            <a:extLst>
              <a:ext uri="{FF2B5EF4-FFF2-40B4-BE49-F238E27FC236}">
                <a16:creationId xmlns:a16="http://schemas.microsoft.com/office/drawing/2014/main" id="{2D75351B-9A95-435F-BCC5-0229F9B0A066}"/>
              </a:ext>
            </a:extLst>
          </p:cNvPr>
          <p:cNvSpPr/>
          <p:nvPr/>
        </p:nvSpPr>
        <p:spPr>
          <a:xfrm>
            <a:off x="2644337" y="5405906"/>
            <a:ext cx="426657" cy="332771"/>
          </a:xfrm>
          <a:prstGeom prst="rect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34</a:t>
            </a:r>
            <a:endParaRPr lang="ru-BY" dirty="0">
              <a:solidFill>
                <a:srgbClr val="FF0000"/>
              </a:solidFill>
            </a:endParaRPr>
          </a:p>
        </p:txBody>
      </p:sp>
      <p:sp>
        <p:nvSpPr>
          <p:cNvPr id="84" name="Прямоугольник 83">
            <a:extLst>
              <a:ext uri="{FF2B5EF4-FFF2-40B4-BE49-F238E27FC236}">
                <a16:creationId xmlns:a16="http://schemas.microsoft.com/office/drawing/2014/main" id="{4CDEB165-C7C3-4E54-90B4-3CDF4B82DAF8}"/>
              </a:ext>
            </a:extLst>
          </p:cNvPr>
          <p:cNvSpPr/>
          <p:nvPr/>
        </p:nvSpPr>
        <p:spPr>
          <a:xfrm>
            <a:off x="1164308" y="5363154"/>
            <a:ext cx="426656" cy="332771"/>
          </a:xfrm>
          <a:prstGeom prst="rect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43</a:t>
            </a:r>
            <a:endParaRPr lang="ru-BY" dirty="0">
              <a:solidFill>
                <a:srgbClr val="FF0000"/>
              </a:solidFill>
            </a:endParaRPr>
          </a:p>
        </p:txBody>
      </p:sp>
      <p:sp>
        <p:nvSpPr>
          <p:cNvPr id="85" name="Прямоугольник 84">
            <a:extLst>
              <a:ext uri="{FF2B5EF4-FFF2-40B4-BE49-F238E27FC236}">
                <a16:creationId xmlns:a16="http://schemas.microsoft.com/office/drawing/2014/main" id="{D84F7E67-9073-4B63-840D-7CF067B62839}"/>
              </a:ext>
            </a:extLst>
          </p:cNvPr>
          <p:cNvSpPr/>
          <p:nvPr/>
        </p:nvSpPr>
        <p:spPr>
          <a:xfrm>
            <a:off x="385727" y="5388503"/>
            <a:ext cx="415633" cy="332771"/>
          </a:xfrm>
          <a:prstGeom prst="rect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66</a:t>
            </a:r>
            <a:endParaRPr lang="ru-BY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B661DA7-6DC6-43CD-9F3D-585D097D64BF}"/>
                  </a:ext>
                </a:extLst>
              </p:cNvPr>
              <p:cNvSpPr txBox="1"/>
              <p:nvPr/>
            </p:nvSpPr>
            <p:spPr>
              <a:xfrm>
                <a:off x="17795" y="1242453"/>
                <a:ext cx="11037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𝐀𝐝𝐝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BY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B661DA7-6DC6-43CD-9F3D-585D097D6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5" y="1242453"/>
                <a:ext cx="1103784" cy="461665"/>
              </a:xfrm>
              <a:prstGeom prst="rect">
                <a:avLst/>
              </a:prstGeom>
              <a:blipFill>
                <a:blip r:embed="rId18"/>
                <a:stretch>
                  <a:fillRect l="-2210" r="-39779" b="-1710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3C94747A-FCB0-4F92-BF80-5ECED877274D}"/>
              </a:ext>
            </a:extLst>
          </p:cNvPr>
          <p:cNvCxnSpPr>
            <a:cxnSpLocks/>
          </p:cNvCxnSpPr>
          <p:nvPr/>
        </p:nvCxnSpPr>
        <p:spPr>
          <a:xfrm flipV="1">
            <a:off x="171058" y="2169840"/>
            <a:ext cx="6097289" cy="69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036B47D7-CE68-4E91-A443-3EC2E22C54F6}"/>
              </a:ext>
            </a:extLst>
          </p:cNvPr>
          <p:cNvSpPr txBox="1"/>
          <p:nvPr/>
        </p:nvSpPr>
        <p:spPr>
          <a:xfrm>
            <a:off x="4004639" y="4974437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</a:t>
            </a:r>
            <a:r>
              <a:rPr lang="ru-RU" dirty="0"/>
              <a:t>4</a:t>
            </a:r>
            <a:r>
              <a:rPr lang="en-US" dirty="0"/>
              <a:t>,5)</a:t>
            </a:r>
            <a:endParaRPr lang="ru-BY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023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2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F816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3" grpId="0"/>
      <p:bldP spid="44" grpId="0"/>
      <p:bldP spid="46" grpId="0"/>
      <p:bldP spid="2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3" grpId="0" animBg="1"/>
      <p:bldP spid="84" grpId="0" animBg="1"/>
      <p:bldP spid="85" grpId="0" animBg="1"/>
      <p:bldP spid="8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AAC75ACB-BFE0-4555-920C-4B9465A7E288}"/>
              </a:ext>
            </a:extLst>
          </p:cNvPr>
          <p:cNvSpPr txBox="1"/>
          <p:nvPr/>
        </p:nvSpPr>
        <p:spPr>
          <a:xfrm>
            <a:off x="11203254" y="4658988"/>
            <a:ext cx="443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endParaRPr lang="ru-BY" dirty="0">
              <a:solidFill>
                <a:srgbClr val="FF00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D5EBB97-45AE-43BB-9B86-D05EA5045F90}"/>
              </a:ext>
            </a:extLst>
          </p:cNvPr>
          <p:cNvSpPr txBox="1"/>
          <p:nvPr/>
        </p:nvSpPr>
        <p:spPr>
          <a:xfrm>
            <a:off x="10012824" y="4660103"/>
            <a:ext cx="690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=m</a:t>
            </a:r>
            <a:endParaRPr lang="ru-BY" dirty="0">
              <a:solidFill>
                <a:srgbClr val="FF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BF223A1-510F-48AC-98D9-A68383200D04}"/>
              </a:ext>
            </a:extLst>
          </p:cNvPr>
          <p:cNvSpPr txBox="1"/>
          <p:nvPr/>
        </p:nvSpPr>
        <p:spPr>
          <a:xfrm>
            <a:off x="9504986" y="4658319"/>
            <a:ext cx="690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tr=m</a:t>
            </a:r>
            <a:endParaRPr lang="ru-BY" dirty="0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3CCBB3-C058-47E6-9A16-B0477DC64CAF}"/>
              </a:ext>
            </a:extLst>
          </p:cNvPr>
          <p:cNvSpPr txBox="1"/>
          <p:nvPr/>
        </p:nvSpPr>
        <p:spPr>
          <a:xfrm>
            <a:off x="8782158" y="4621960"/>
            <a:ext cx="443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endParaRPr lang="ru-BY" dirty="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1F100B-0BEC-48B0-8A28-3E7912CF59A5}"/>
              </a:ext>
            </a:extLst>
          </p:cNvPr>
          <p:cNvSpPr txBox="1"/>
          <p:nvPr/>
        </p:nvSpPr>
        <p:spPr>
          <a:xfrm>
            <a:off x="8732497" y="3543964"/>
            <a:ext cx="443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endParaRPr lang="ru-BY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C4AF7B-F360-4CBB-A300-71ADFE4E5743}"/>
              </a:ext>
            </a:extLst>
          </p:cNvPr>
          <p:cNvSpPr txBox="1"/>
          <p:nvPr/>
        </p:nvSpPr>
        <p:spPr>
          <a:xfrm>
            <a:off x="11376742" y="3522741"/>
            <a:ext cx="443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endParaRPr lang="ru-BY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9B44A2-5255-4137-A50A-5DCCB53CC52C}"/>
              </a:ext>
            </a:extLst>
          </p:cNvPr>
          <p:cNvSpPr txBox="1"/>
          <p:nvPr/>
        </p:nvSpPr>
        <p:spPr>
          <a:xfrm>
            <a:off x="9507369" y="3482166"/>
            <a:ext cx="695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=m</a:t>
            </a:r>
            <a:endParaRPr lang="ru-BY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A9F6D3-E542-46ED-B76A-EE385B410776}"/>
              </a:ext>
            </a:extLst>
          </p:cNvPr>
          <p:cNvSpPr txBox="1"/>
          <p:nvPr/>
        </p:nvSpPr>
        <p:spPr>
          <a:xfrm>
            <a:off x="8499637" y="2367573"/>
            <a:ext cx="443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endParaRPr lang="ru-BY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20C764-97DF-4743-A69D-EAB1747B68E4}"/>
              </a:ext>
            </a:extLst>
          </p:cNvPr>
          <p:cNvSpPr txBox="1"/>
          <p:nvPr/>
        </p:nvSpPr>
        <p:spPr>
          <a:xfrm>
            <a:off x="11328896" y="2387486"/>
            <a:ext cx="443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endParaRPr lang="ru-BY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FDFB30-570C-4AAC-83CD-E69C9D581EA7}"/>
              </a:ext>
            </a:extLst>
          </p:cNvPr>
          <p:cNvSpPr txBox="1"/>
          <p:nvPr/>
        </p:nvSpPr>
        <p:spPr>
          <a:xfrm>
            <a:off x="10130566" y="2414245"/>
            <a:ext cx="717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tr=m</a:t>
            </a:r>
            <a:endParaRPr lang="ru-BY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9B9EFF-89D0-4D95-8B19-4FDFCB60E7CB}"/>
              </a:ext>
            </a:extLst>
          </p:cNvPr>
          <p:cNvSpPr txBox="1"/>
          <p:nvPr/>
        </p:nvSpPr>
        <p:spPr>
          <a:xfrm>
            <a:off x="11203254" y="4101684"/>
            <a:ext cx="287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ighlight>
                  <a:srgbClr val="FFFFFF"/>
                </a:highlight>
                <a:latin typeface="Consolas" panose="020B0609020204030204" pitchFamily="49" charset="0"/>
              </a:rPr>
              <a:t>r</a:t>
            </a:r>
            <a:endParaRPr lang="ru-BY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7A39CE-AB76-431F-8826-7C697751A84C}"/>
              </a:ext>
            </a:extLst>
          </p:cNvPr>
          <p:cNvSpPr txBox="1"/>
          <p:nvPr/>
        </p:nvSpPr>
        <p:spPr>
          <a:xfrm>
            <a:off x="10255093" y="4139367"/>
            <a:ext cx="287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ighlight>
                  <a:srgbClr val="FFFFFF"/>
                </a:highlight>
                <a:latin typeface="Consolas" panose="020B0609020204030204" pitchFamily="49" charset="0"/>
              </a:rPr>
              <a:t>l</a:t>
            </a:r>
            <a:endParaRPr lang="ru-BY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101A7D-E2C4-4113-ACE1-1301472B27D1}"/>
              </a:ext>
            </a:extLst>
          </p:cNvPr>
          <p:cNvSpPr txBox="1"/>
          <p:nvPr/>
        </p:nvSpPr>
        <p:spPr>
          <a:xfrm>
            <a:off x="9869711" y="2982195"/>
            <a:ext cx="287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ighlight>
                  <a:srgbClr val="FFFFFF"/>
                </a:highlight>
                <a:latin typeface="Consolas" panose="020B0609020204030204" pitchFamily="49" charset="0"/>
              </a:rPr>
              <a:t>r</a:t>
            </a:r>
            <a:endParaRPr lang="ru-BY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F43DBB-BC29-4E5B-B0CA-265D6F0530E3}"/>
              </a:ext>
            </a:extLst>
          </p:cNvPr>
          <p:cNvSpPr txBox="1"/>
          <p:nvPr/>
        </p:nvSpPr>
        <p:spPr>
          <a:xfrm>
            <a:off x="9004098" y="3019375"/>
            <a:ext cx="287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ighlight>
                  <a:srgbClr val="FFFFFF"/>
                </a:highlight>
                <a:latin typeface="Consolas" panose="020B0609020204030204" pitchFamily="49" charset="0"/>
              </a:rPr>
              <a:t>l</a:t>
            </a:r>
            <a:endParaRPr lang="ru-BY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6C10E4-202E-4E68-9C68-D0EA5FC593E8}"/>
              </a:ext>
            </a:extLst>
          </p:cNvPr>
          <p:cNvSpPr txBox="1"/>
          <p:nvPr/>
        </p:nvSpPr>
        <p:spPr>
          <a:xfrm>
            <a:off x="9696759" y="1333653"/>
            <a:ext cx="287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ighlight>
                  <a:srgbClr val="FFFFFF"/>
                </a:highlight>
                <a:latin typeface="Consolas" panose="020B0609020204030204" pitchFamily="49" charset="0"/>
              </a:rPr>
              <a:t>l</a:t>
            </a:r>
            <a:endParaRPr lang="ru-BY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A630825-37D4-4B77-8D04-DA89E9AEAE25}"/>
              </a:ext>
            </a:extLst>
          </p:cNvPr>
          <p:cNvSpPr txBox="1"/>
          <p:nvPr/>
        </p:nvSpPr>
        <p:spPr>
          <a:xfrm>
            <a:off x="10703791" y="1286850"/>
            <a:ext cx="287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ighlight>
                  <a:srgbClr val="FFFFFF"/>
                </a:highlight>
                <a:latin typeface="Consolas" panose="020B0609020204030204" pitchFamily="49" charset="0"/>
              </a:rPr>
              <a:t>r</a:t>
            </a:r>
            <a:endParaRPr lang="ru-BY" dirty="0"/>
          </a:p>
        </p:txBody>
      </p:sp>
      <p:graphicFrame>
        <p:nvGraphicFramePr>
          <p:cNvPr id="19" name="Таблица 18">
            <a:extLst>
              <a:ext uri="{FF2B5EF4-FFF2-40B4-BE49-F238E27FC236}">
                <a16:creationId xmlns:a16="http://schemas.microsoft.com/office/drawing/2014/main" id="{2243B688-7C8E-49C6-B24E-4E21CF0F6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392230"/>
              </p:ext>
            </p:extLst>
          </p:nvPr>
        </p:nvGraphicFramePr>
        <p:xfrm>
          <a:off x="8592255" y="4973921"/>
          <a:ext cx="326438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2">
                  <a:extLst>
                    <a:ext uri="{9D8B030D-6E8A-4147-A177-3AD203B41FA5}">
                      <a16:colId xmlns:a16="http://schemas.microsoft.com/office/drawing/2014/main" val="3333962665"/>
                    </a:ext>
                  </a:extLst>
                </a:gridCol>
                <a:gridCol w="272032">
                  <a:extLst>
                    <a:ext uri="{9D8B030D-6E8A-4147-A177-3AD203B41FA5}">
                      <a16:colId xmlns:a16="http://schemas.microsoft.com/office/drawing/2014/main" val="3568347458"/>
                    </a:ext>
                  </a:extLst>
                </a:gridCol>
                <a:gridCol w="272032">
                  <a:extLst>
                    <a:ext uri="{9D8B030D-6E8A-4147-A177-3AD203B41FA5}">
                      <a16:colId xmlns:a16="http://schemas.microsoft.com/office/drawing/2014/main" val="2150607796"/>
                    </a:ext>
                  </a:extLst>
                </a:gridCol>
                <a:gridCol w="272032">
                  <a:extLst>
                    <a:ext uri="{9D8B030D-6E8A-4147-A177-3AD203B41FA5}">
                      <a16:colId xmlns:a16="http://schemas.microsoft.com/office/drawing/2014/main" val="1278484228"/>
                    </a:ext>
                  </a:extLst>
                </a:gridCol>
                <a:gridCol w="272032">
                  <a:extLst>
                    <a:ext uri="{9D8B030D-6E8A-4147-A177-3AD203B41FA5}">
                      <a16:colId xmlns:a16="http://schemas.microsoft.com/office/drawing/2014/main" val="2603389566"/>
                    </a:ext>
                  </a:extLst>
                </a:gridCol>
                <a:gridCol w="272032">
                  <a:extLst>
                    <a:ext uri="{9D8B030D-6E8A-4147-A177-3AD203B41FA5}">
                      <a16:colId xmlns:a16="http://schemas.microsoft.com/office/drawing/2014/main" val="1443179518"/>
                    </a:ext>
                  </a:extLst>
                </a:gridCol>
                <a:gridCol w="272032">
                  <a:extLst>
                    <a:ext uri="{9D8B030D-6E8A-4147-A177-3AD203B41FA5}">
                      <a16:colId xmlns:a16="http://schemas.microsoft.com/office/drawing/2014/main" val="1129611575"/>
                    </a:ext>
                  </a:extLst>
                </a:gridCol>
                <a:gridCol w="272032">
                  <a:extLst>
                    <a:ext uri="{9D8B030D-6E8A-4147-A177-3AD203B41FA5}">
                      <a16:colId xmlns:a16="http://schemas.microsoft.com/office/drawing/2014/main" val="1958620380"/>
                    </a:ext>
                  </a:extLst>
                </a:gridCol>
                <a:gridCol w="272032">
                  <a:extLst>
                    <a:ext uri="{9D8B030D-6E8A-4147-A177-3AD203B41FA5}">
                      <a16:colId xmlns:a16="http://schemas.microsoft.com/office/drawing/2014/main" val="2158602705"/>
                    </a:ext>
                  </a:extLst>
                </a:gridCol>
                <a:gridCol w="272032">
                  <a:extLst>
                    <a:ext uri="{9D8B030D-6E8A-4147-A177-3AD203B41FA5}">
                      <a16:colId xmlns:a16="http://schemas.microsoft.com/office/drawing/2014/main" val="438023543"/>
                    </a:ext>
                  </a:extLst>
                </a:gridCol>
                <a:gridCol w="272032">
                  <a:extLst>
                    <a:ext uri="{9D8B030D-6E8A-4147-A177-3AD203B41FA5}">
                      <a16:colId xmlns:a16="http://schemas.microsoft.com/office/drawing/2014/main" val="762763616"/>
                    </a:ext>
                  </a:extLst>
                </a:gridCol>
                <a:gridCol w="272032">
                  <a:extLst>
                    <a:ext uri="{9D8B030D-6E8A-4147-A177-3AD203B41FA5}">
                      <a16:colId xmlns:a16="http://schemas.microsoft.com/office/drawing/2014/main" val="543508044"/>
                    </a:ext>
                  </a:extLst>
                </a:gridCol>
              </a:tblGrid>
              <a:tr h="2940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09445"/>
                  </a:ext>
                </a:extLst>
              </a:tr>
            </a:tbl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Дерево отрезков. Сумма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3219" y="1624668"/>
            <a:ext cx="7617192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DoFindSum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m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pt-BR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DoFindSum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pt-BR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tl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tr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pt-BR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DoFindSum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pt-BR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pt-BR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tl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tr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8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e-D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de-D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DoFindSum</a:t>
            </a:r>
            <a:r>
              <a:rPr lang="de-DE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de-D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de-DE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de-D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de-DE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de-DE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de-DE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de-D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de-DE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de-D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de-D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de-DE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de-D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tl</a:t>
            </a:r>
            <a:r>
              <a:rPr lang="de-DE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de-D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de-D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de-DE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de-D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</a:t>
            </a:r>
            <a:r>
              <a:rPr lang="de-DE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de-D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</a:t>
            </a:r>
            <a:r>
              <a:rPr lang="de-DE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de-D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</a:t>
            </a:r>
            <a:r>
              <a:rPr lang="de-DE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de-D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</a:t>
            </a:r>
            <a:r>
              <a:rPr lang="de-DE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de-D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</a:t>
            </a:r>
            <a:r>
              <a:rPr lang="de-DE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de-D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de-DE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endParaRPr lang="de-DE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DoFindSum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pt-BR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pt-BR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tl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tr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</a:t>
            </a:r>
            <a:r>
              <a:rPr lang="pt-BR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pt-BR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ru-RU" sz="18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ECC5791C-E0FD-4B35-84B7-646B693612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119923"/>
              </p:ext>
            </p:extLst>
          </p:nvPr>
        </p:nvGraphicFramePr>
        <p:xfrm>
          <a:off x="8596322" y="2721609"/>
          <a:ext cx="3279703" cy="371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309">
                  <a:extLst>
                    <a:ext uri="{9D8B030D-6E8A-4147-A177-3AD203B41FA5}">
                      <a16:colId xmlns:a16="http://schemas.microsoft.com/office/drawing/2014/main" val="4120191202"/>
                    </a:ext>
                  </a:extLst>
                </a:gridCol>
                <a:gridCol w="218309">
                  <a:extLst>
                    <a:ext uri="{9D8B030D-6E8A-4147-A177-3AD203B41FA5}">
                      <a16:colId xmlns:a16="http://schemas.microsoft.com/office/drawing/2014/main" val="677853929"/>
                    </a:ext>
                  </a:extLst>
                </a:gridCol>
                <a:gridCol w="218309">
                  <a:extLst>
                    <a:ext uri="{9D8B030D-6E8A-4147-A177-3AD203B41FA5}">
                      <a16:colId xmlns:a16="http://schemas.microsoft.com/office/drawing/2014/main" val="3333962665"/>
                    </a:ext>
                  </a:extLst>
                </a:gridCol>
                <a:gridCol w="218309">
                  <a:extLst>
                    <a:ext uri="{9D8B030D-6E8A-4147-A177-3AD203B41FA5}">
                      <a16:colId xmlns:a16="http://schemas.microsoft.com/office/drawing/2014/main" val="3568347458"/>
                    </a:ext>
                  </a:extLst>
                </a:gridCol>
                <a:gridCol w="218309">
                  <a:extLst>
                    <a:ext uri="{9D8B030D-6E8A-4147-A177-3AD203B41FA5}">
                      <a16:colId xmlns:a16="http://schemas.microsoft.com/office/drawing/2014/main" val="2150607796"/>
                    </a:ext>
                  </a:extLst>
                </a:gridCol>
                <a:gridCol w="218309">
                  <a:extLst>
                    <a:ext uri="{9D8B030D-6E8A-4147-A177-3AD203B41FA5}">
                      <a16:colId xmlns:a16="http://schemas.microsoft.com/office/drawing/2014/main" val="1278484228"/>
                    </a:ext>
                  </a:extLst>
                </a:gridCol>
                <a:gridCol w="218309">
                  <a:extLst>
                    <a:ext uri="{9D8B030D-6E8A-4147-A177-3AD203B41FA5}">
                      <a16:colId xmlns:a16="http://schemas.microsoft.com/office/drawing/2014/main" val="669069647"/>
                    </a:ext>
                  </a:extLst>
                </a:gridCol>
                <a:gridCol w="218309">
                  <a:extLst>
                    <a:ext uri="{9D8B030D-6E8A-4147-A177-3AD203B41FA5}">
                      <a16:colId xmlns:a16="http://schemas.microsoft.com/office/drawing/2014/main" val="260338956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43179518"/>
                    </a:ext>
                  </a:extLst>
                </a:gridCol>
                <a:gridCol w="233406">
                  <a:extLst>
                    <a:ext uri="{9D8B030D-6E8A-4147-A177-3AD203B41FA5}">
                      <a16:colId xmlns:a16="http://schemas.microsoft.com/office/drawing/2014/main" val="1129611575"/>
                    </a:ext>
                  </a:extLst>
                </a:gridCol>
                <a:gridCol w="218309">
                  <a:extLst>
                    <a:ext uri="{9D8B030D-6E8A-4147-A177-3AD203B41FA5}">
                      <a16:colId xmlns:a16="http://schemas.microsoft.com/office/drawing/2014/main" val="3076844269"/>
                    </a:ext>
                  </a:extLst>
                </a:gridCol>
                <a:gridCol w="218309">
                  <a:extLst>
                    <a:ext uri="{9D8B030D-6E8A-4147-A177-3AD203B41FA5}">
                      <a16:colId xmlns:a16="http://schemas.microsoft.com/office/drawing/2014/main" val="1958620380"/>
                    </a:ext>
                  </a:extLst>
                </a:gridCol>
                <a:gridCol w="218309">
                  <a:extLst>
                    <a:ext uri="{9D8B030D-6E8A-4147-A177-3AD203B41FA5}">
                      <a16:colId xmlns:a16="http://schemas.microsoft.com/office/drawing/2014/main" val="2158602705"/>
                    </a:ext>
                  </a:extLst>
                </a:gridCol>
                <a:gridCol w="218309">
                  <a:extLst>
                    <a:ext uri="{9D8B030D-6E8A-4147-A177-3AD203B41FA5}">
                      <a16:colId xmlns:a16="http://schemas.microsoft.com/office/drawing/2014/main" val="762763616"/>
                    </a:ext>
                  </a:extLst>
                </a:gridCol>
                <a:gridCol w="218309">
                  <a:extLst>
                    <a:ext uri="{9D8B030D-6E8A-4147-A177-3AD203B41FA5}">
                      <a16:colId xmlns:a16="http://schemas.microsoft.com/office/drawing/2014/main" val="1906691625"/>
                    </a:ext>
                  </a:extLst>
                </a:gridCol>
              </a:tblGrid>
              <a:tr h="371912"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809445"/>
                  </a:ext>
                </a:extLst>
              </a:tr>
            </a:tbl>
          </a:graphicData>
        </a:graphic>
      </p:graphicFrame>
      <p:graphicFrame>
        <p:nvGraphicFramePr>
          <p:cNvPr id="15" name="Таблица 14">
            <a:extLst>
              <a:ext uri="{FF2B5EF4-FFF2-40B4-BE49-F238E27FC236}">
                <a16:creationId xmlns:a16="http://schemas.microsoft.com/office/drawing/2014/main" id="{426CA40F-7A8F-47AB-8E6A-D070CBB04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075233"/>
              </p:ext>
            </p:extLst>
          </p:nvPr>
        </p:nvGraphicFramePr>
        <p:xfrm>
          <a:off x="8572341" y="3842101"/>
          <a:ext cx="33655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130">
                  <a:extLst>
                    <a:ext uri="{9D8B030D-6E8A-4147-A177-3AD203B41FA5}">
                      <a16:colId xmlns:a16="http://schemas.microsoft.com/office/drawing/2014/main" val="3333962665"/>
                    </a:ext>
                  </a:extLst>
                </a:gridCol>
                <a:gridCol w="268657">
                  <a:extLst>
                    <a:ext uri="{9D8B030D-6E8A-4147-A177-3AD203B41FA5}">
                      <a16:colId xmlns:a16="http://schemas.microsoft.com/office/drawing/2014/main" val="2855785621"/>
                    </a:ext>
                  </a:extLst>
                </a:gridCol>
                <a:gridCol w="240393">
                  <a:extLst>
                    <a:ext uri="{9D8B030D-6E8A-4147-A177-3AD203B41FA5}">
                      <a16:colId xmlns:a16="http://schemas.microsoft.com/office/drawing/2014/main" val="3568347458"/>
                    </a:ext>
                  </a:extLst>
                </a:gridCol>
                <a:gridCol w="240393">
                  <a:extLst>
                    <a:ext uri="{9D8B030D-6E8A-4147-A177-3AD203B41FA5}">
                      <a16:colId xmlns:a16="http://schemas.microsoft.com/office/drawing/2014/main" val="2150607796"/>
                    </a:ext>
                  </a:extLst>
                </a:gridCol>
                <a:gridCol w="240393">
                  <a:extLst>
                    <a:ext uri="{9D8B030D-6E8A-4147-A177-3AD203B41FA5}">
                      <a16:colId xmlns:a16="http://schemas.microsoft.com/office/drawing/2014/main" val="1278484228"/>
                    </a:ext>
                  </a:extLst>
                </a:gridCol>
                <a:gridCol w="240393">
                  <a:extLst>
                    <a:ext uri="{9D8B030D-6E8A-4147-A177-3AD203B41FA5}">
                      <a16:colId xmlns:a16="http://schemas.microsoft.com/office/drawing/2014/main" val="2603389566"/>
                    </a:ext>
                  </a:extLst>
                </a:gridCol>
                <a:gridCol w="240393">
                  <a:extLst>
                    <a:ext uri="{9D8B030D-6E8A-4147-A177-3AD203B41FA5}">
                      <a16:colId xmlns:a16="http://schemas.microsoft.com/office/drawing/2014/main" val="1443179518"/>
                    </a:ext>
                  </a:extLst>
                </a:gridCol>
                <a:gridCol w="240393">
                  <a:extLst>
                    <a:ext uri="{9D8B030D-6E8A-4147-A177-3AD203B41FA5}">
                      <a16:colId xmlns:a16="http://schemas.microsoft.com/office/drawing/2014/main" val="1129611575"/>
                    </a:ext>
                  </a:extLst>
                </a:gridCol>
                <a:gridCol w="240393">
                  <a:extLst>
                    <a:ext uri="{9D8B030D-6E8A-4147-A177-3AD203B41FA5}">
                      <a16:colId xmlns:a16="http://schemas.microsoft.com/office/drawing/2014/main" val="1958620380"/>
                    </a:ext>
                  </a:extLst>
                </a:gridCol>
                <a:gridCol w="240393">
                  <a:extLst>
                    <a:ext uri="{9D8B030D-6E8A-4147-A177-3AD203B41FA5}">
                      <a16:colId xmlns:a16="http://schemas.microsoft.com/office/drawing/2014/main" val="2158602705"/>
                    </a:ext>
                  </a:extLst>
                </a:gridCol>
                <a:gridCol w="240393">
                  <a:extLst>
                    <a:ext uri="{9D8B030D-6E8A-4147-A177-3AD203B41FA5}">
                      <a16:colId xmlns:a16="http://schemas.microsoft.com/office/drawing/2014/main" val="762763616"/>
                    </a:ext>
                  </a:extLst>
                </a:gridCol>
                <a:gridCol w="240393">
                  <a:extLst>
                    <a:ext uri="{9D8B030D-6E8A-4147-A177-3AD203B41FA5}">
                      <a16:colId xmlns:a16="http://schemas.microsoft.com/office/drawing/2014/main" val="3885188529"/>
                    </a:ext>
                  </a:extLst>
                </a:gridCol>
                <a:gridCol w="240393">
                  <a:extLst>
                    <a:ext uri="{9D8B030D-6E8A-4147-A177-3AD203B41FA5}">
                      <a16:colId xmlns:a16="http://schemas.microsoft.com/office/drawing/2014/main" val="3928116094"/>
                    </a:ext>
                  </a:extLst>
                </a:gridCol>
                <a:gridCol w="240393">
                  <a:extLst>
                    <a:ext uri="{9D8B030D-6E8A-4147-A177-3AD203B41FA5}">
                      <a16:colId xmlns:a16="http://schemas.microsoft.com/office/drawing/2014/main" val="2374255385"/>
                    </a:ext>
                  </a:extLst>
                </a:gridCol>
              </a:tblGrid>
              <a:tr h="35708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09445"/>
                  </a:ext>
                </a:extLst>
              </a:tr>
            </a:tbl>
          </a:graphicData>
        </a:graphic>
      </p:graphicFrame>
      <p:sp>
        <p:nvSpPr>
          <p:cNvPr id="32" name="Левая фигурная скобка 31">
            <a:extLst>
              <a:ext uri="{FF2B5EF4-FFF2-40B4-BE49-F238E27FC236}">
                <a16:creationId xmlns:a16="http://schemas.microsoft.com/office/drawing/2014/main" id="{92D665DA-8B38-46F3-ABDD-F2C6D959FAAA}"/>
              </a:ext>
            </a:extLst>
          </p:cNvPr>
          <p:cNvSpPr/>
          <p:nvPr/>
        </p:nvSpPr>
        <p:spPr>
          <a:xfrm rot="16200000">
            <a:off x="10008060" y="5282735"/>
            <a:ext cx="409280" cy="563855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1DF9DFCD-1E2A-436F-9CB5-05C5231661AB}"/>
              </a:ext>
            </a:extLst>
          </p:cNvPr>
          <p:cNvCxnSpPr>
            <a:cxnSpLocks/>
          </p:cNvCxnSpPr>
          <p:nvPr/>
        </p:nvCxnSpPr>
        <p:spPr>
          <a:xfrm>
            <a:off x="823531" y="3448204"/>
            <a:ext cx="10917419" cy="54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Левая фигурная скобка 36">
            <a:extLst>
              <a:ext uri="{FF2B5EF4-FFF2-40B4-BE49-F238E27FC236}">
                <a16:creationId xmlns:a16="http://schemas.microsoft.com/office/drawing/2014/main" id="{9EDE3A23-FE03-4DDF-8975-F5184E63CEE6}"/>
              </a:ext>
            </a:extLst>
          </p:cNvPr>
          <p:cNvSpPr/>
          <p:nvPr/>
        </p:nvSpPr>
        <p:spPr>
          <a:xfrm rot="16200000">
            <a:off x="9475259" y="5263551"/>
            <a:ext cx="385414" cy="541321"/>
          </a:xfrm>
          <a:prstGeom prst="leftBrace">
            <a:avLst/>
          </a:prstGeom>
          <a:ln w="19050">
            <a:solidFill>
              <a:srgbClr val="0A0A0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graphicFrame>
        <p:nvGraphicFramePr>
          <p:cNvPr id="38" name="Таблица 37">
            <a:extLst>
              <a:ext uri="{FF2B5EF4-FFF2-40B4-BE49-F238E27FC236}">
                <a16:creationId xmlns:a16="http://schemas.microsoft.com/office/drawing/2014/main" id="{D2EE1E9A-1DF6-4798-9E3C-13D8CC327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851653"/>
              </p:ext>
            </p:extLst>
          </p:nvPr>
        </p:nvGraphicFramePr>
        <p:xfrm>
          <a:off x="9416842" y="1637590"/>
          <a:ext cx="179172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634">
                  <a:extLst>
                    <a:ext uri="{9D8B030D-6E8A-4147-A177-3AD203B41FA5}">
                      <a16:colId xmlns:a16="http://schemas.microsoft.com/office/drawing/2014/main" val="2264892643"/>
                    </a:ext>
                  </a:extLst>
                </a:gridCol>
                <a:gridCol w="259634">
                  <a:extLst>
                    <a:ext uri="{9D8B030D-6E8A-4147-A177-3AD203B41FA5}">
                      <a16:colId xmlns:a16="http://schemas.microsoft.com/office/drawing/2014/main" val="1278484228"/>
                    </a:ext>
                  </a:extLst>
                </a:gridCol>
                <a:gridCol w="264346">
                  <a:extLst>
                    <a:ext uri="{9D8B030D-6E8A-4147-A177-3AD203B41FA5}">
                      <a16:colId xmlns:a16="http://schemas.microsoft.com/office/drawing/2014/main" val="2603389566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1443179518"/>
                    </a:ext>
                  </a:extLst>
                </a:gridCol>
                <a:gridCol w="274980">
                  <a:extLst>
                    <a:ext uri="{9D8B030D-6E8A-4147-A177-3AD203B41FA5}">
                      <a16:colId xmlns:a16="http://schemas.microsoft.com/office/drawing/2014/main" val="112961157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27021833"/>
                    </a:ext>
                  </a:extLst>
                </a:gridCol>
                <a:gridCol w="236819">
                  <a:extLst>
                    <a:ext uri="{9D8B030D-6E8A-4147-A177-3AD203B41FA5}">
                      <a16:colId xmlns:a16="http://schemas.microsoft.com/office/drawing/2014/main" val="105308609"/>
                    </a:ext>
                  </a:extLst>
                </a:gridCol>
              </a:tblGrid>
              <a:tr h="33589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809445"/>
                  </a:ext>
                </a:extLst>
              </a:tr>
            </a:tbl>
          </a:graphicData>
        </a:graphic>
      </p:graphicFrame>
      <p:sp>
        <p:nvSpPr>
          <p:cNvPr id="39" name="Левая фигурная скобка 38">
            <a:extLst>
              <a:ext uri="{FF2B5EF4-FFF2-40B4-BE49-F238E27FC236}">
                <a16:creationId xmlns:a16="http://schemas.microsoft.com/office/drawing/2014/main" id="{97E9161C-B518-4EDD-AA7B-2019F478452B}"/>
              </a:ext>
            </a:extLst>
          </p:cNvPr>
          <p:cNvSpPr/>
          <p:nvPr/>
        </p:nvSpPr>
        <p:spPr>
          <a:xfrm rot="16200000">
            <a:off x="10059237" y="1642478"/>
            <a:ext cx="334592" cy="1080467"/>
          </a:xfrm>
          <a:prstGeom prst="leftBrace">
            <a:avLst>
              <a:gd name="adj1" fmla="val 8333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F0DF0D2-233F-41DA-A310-E49189EB37B1}"/>
              </a:ext>
            </a:extLst>
          </p:cNvPr>
          <p:cNvSpPr txBox="1"/>
          <p:nvPr/>
        </p:nvSpPr>
        <p:spPr>
          <a:xfrm>
            <a:off x="9483013" y="5714319"/>
            <a:ext cx="5638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0" dirty="0">
                <a:highlight>
                  <a:srgbClr val="FFFFFF"/>
                </a:highlight>
                <a:latin typeface="Consolas" panose="020B0609020204030204" pitchFamily="49" charset="0"/>
              </a:rPr>
              <a:t>l=l</a:t>
            </a:r>
            <a:endParaRPr lang="en-US" sz="1600" dirty="0"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i="0" dirty="0">
                <a:highlight>
                  <a:srgbClr val="FFFFFF"/>
                </a:highlight>
                <a:latin typeface="Consolas" panose="020B0609020204030204" pitchFamily="49" charset="0"/>
              </a:rPr>
              <a:t>r=m</a:t>
            </a:r>
            <a:endParaRPr lang="ru-BY" sz="1600" dirty="0">
              <a:latin typeface="Consolas" panose="020B0609020204030204" pitchFamily="49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F6F94BA-B4AF-4812-A47F-4446F5E90652}"/>
              </a:ext>
            </a:extLst>
          </p:cNvPr>
          <p:cNvSpPr txBox="1"/>
          <p:nvPr/>
        </p:nvSpPr>
        <p:spPr>
          <a:xfrm>
            <a:off x="10006171" y="5705445"/>
            <a:ext cx="5413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l=m</a:t>
            </a:r>
            <a:endParaRPr lang="en-US" sz="1600" dirty="0">
              <a:solidFill>
                <a:srgbClr val="FF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i="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r=r</a:t>
            </a:r>
            <a:endParaRPr lang="ru-BY" sz="16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53" name="Прямая соединительная линия 52">
            <a:extLst>
              <a:ext uri="{FF2B5EF4-FFF2-40B4-BE49-F238E27FC236}">
                <a16:creationId xmlns:a16="http://schemas.microsoft.com/office/drawing/2014/main" id="{66983E09-2491-4EE9-BF5C-5843EC19F827}"/>
              </a:ext>
            </a:extLst>
          </p:cNvPr>
          <p:cNvCxnSpPr>
            <a:cxnSpLocks/>
          </p:cNvCxnSpPr>
          <p:nvPr/>
        </p:nvCxnSpPr>
        <p:spPr>
          <a:xfrm>
            <a:off x="899465" y="4568523"/>
            <a:ext cx="10917419" cy="54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9E94108-C3A3-4C30-8434-8C0CC4375807}"/>
                  </a:ext>
                </a:extLst>
              </p:cNvPr>
              <p:cNvSpPr txBox="1"/>
              <p:nvPr/>
            </p:nvSpPr>
            <p:spPr>
              <a:xfrm>
                <a:off x="9138577" y="1608947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9E94108-C3A3-4C30-8434-8C0CC4375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8577" y="1608947"/>
                <a:ext cx="38985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3385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1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1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1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901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45" grpId="0"/>
      <p:bldP spid="44" grpId="0"/>
      <p:bldP spid="20" grpId="0"/>
      <p:bldP spid="16" grpId="0"/>
      <p:bldP spid="16" grpId="1"/>
      <p:bldP spid="17" grpId="0"/>
      <p:bldP spid="30" grpId="0"/>
      <p:bldP spid="9" grpId="0"/>
      <p:bldP spid="10" grpId="0"/>
      <p:bldP spid="10" grpId="1"/>
      <p:bldP spid="29" grpId="0"/>
      <p:bldP spid="25" grpId="0"/>
      <p:bldP spid="24" grpId="0"/>
      <p:bldP spid="28" grpId="0"/>
      <p:bldP spid="27" grpId="0"/>
      <p:bldP spid="32" grpId="0" animBg="1"/>
      <p:bldP spid="37" grpId="0" animBg="1"/>
      <p:bldP spid="51" grpId="0"/>
      <p:bldP spid="5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92178" y="258155"/>
            <a:ext cx="7022571" cy="954360"/>
          </a:xfrm>
        </p:spPr>
        <p:txBody>
          <a:bodyPr>
            <a:normAutofit fontScale="90000"/>
          </a:bodyPr>
          <a:lstStyle/>
          <a:p>
            <a:r>
              <a:rPr lang="ru-RU" dirty="0"/>
              <a:t>Дерево отрезков. </a:t>
            </a:r>
            <a:br>
              <a:rPr lang="ru-RU" dirty="0"/>
            </a:br>
            <a:r>
              <a:rPr lang="ru-RU" dirty="0"/>
              <a:t>Сумма. Пример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625482"/>
              </p:ext>
            </p:extLst>
          </p:nvPr>
        </p:nvGraphicFramePr>
        <p:xfrm>
          <a:off x="357972" y="5397430"/>
          <a:ext cx="11523336" cy="10096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2845317700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2057271481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2478932143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2944577043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1821594198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994462988"/>
                    </a:ext>
                  </a:extLst>
                </a:gridCol>
                <a:gridCol w="523788">
                  <a:extLst>
                    <a:ext uri="{9D8B030D-6E8A-4147-A177-3AD203B41FA5}">
                      <a16:colId xmlns:a16="http://schemas.microsoft.com/office/drawing/2014/main" val="3512362985"/>
                    </a:ext>
                  </a:extLst>
                </a:gridCol>
              </a:tblGrid>
              <a:tr h="566341"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68</a:t>
                      </a:r>
                    </a:p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[0,9)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[0,4)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48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[4,9)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[0,2)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[2,4)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[4,6)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[6,9)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[0,1)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,2)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[2,3)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[3,4)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[4,5)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[5,6)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[6,7)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[7,9)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[7,8)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[8,9)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094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Овал 2"/>
          <p:cNvSpPr/>
          <p:nvPr/>
        </p:nvSpPr>
        <p:spPr>
          <a:xfrm>
            <a:off x="8220645" y="1512771"/>
            <a:ext cx="504056" cy="50405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68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7198096" y="2148478"/>
            <a:ext cx="504056" cy="50405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20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33" name="Овал 32"/>
          <p:cNvSpPr/>
          <p:nvPr/>
        </p:nvSpPr>
        <p:spPr>
          <a:xfrm>
            <a:off x="9106571" y="2059565"/>
            <a:ext cx="504056" cy="50405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48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36" name="Овал 35"/>
          <p:cNvSpPr/>
          <p:nvPr/>
        </p:nvSpPr>
        <p:spPr>
          <a:xfrm>
            <a:off x="6602200" y="2904065"/>
            <a:ext cx="504056" cy="5040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9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39" name="Овал 38"/>
          <p:cNvSpPr/>
          <p:nvPr/>
        </p:nvSpPr>
        <p:spPr>
          <a:xfrm>
            <a:off x="7779418" y="2893191"/>
            <a:ext cx="504056" cy="50405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11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42" name="Овал 41"/>
          <p:cNvSpPr/>
          <p:nvPr/>
        </p:nvSpPr>
        <p:spPr>
          <a:xfrm>
            <a:off x="9013756" y="2918066"/>
            <a:ext cx="504056" cy="50405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26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48" name="Овал 47"/>
          <p:cNvSpPr/>
          <p:nvPr/>
        </p:nvSpPr>
        <p:spPr>
          <a:xfrm>
            <a:off x="7524792" y="3701007"/>
            <a:ext cx="504056" cy="504056"/>
          </a:xfrm>
          <a:prstGeom prst="ellipse">
            <a:avLst/>
          </a:prstGeom>
          <a:noFill/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51" name="Овал 50"/>
          <p:cNvSpPr/>
          <p:nvPr/>
        </p:nvSpPr>
        <p:spPr>
          <a:xfrm>
            <a:off x="8194898" y="3706592"/>
            <a:ext cx="504056" cy="504056"/>
          </a:xfrm>
          <a:prstGeom prst="ellipse">
            <a:avLst/>
          </a:prstGeom>
          <a:noFill/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8</a:t>
            </a:r>
            <a:endParaRPr lang="ru-RU" sz="1200" dirty="0">
              <a:solidFill>
                <a:schemeClr val="tx1"/>
              </a:solidFill>
            </a:endParaRPr>
          </a:p>
        </p:txBody>
      </p:sp>
      <p:cxnSp>
        <p:nvCxnSpPr>
          <p:cNvPr id="68" name="Прямая со стрелкой 67"/>
          <p:cNvCxnSpPr>
            <a:stCxn id="30" idx="3"/>
            <a:endCxn id="36" idx="0"/>
          </p:cNvCxnSpPr>
          <p:nvPr/>
        </p:nvCxnSpPr>
        <p:spPr>
          <a:xfrm flipH="1">
            <a:off x="6854228" y="2578717"/>
            <a:ext cx="417685" cy="325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Прямая со стрелкой 73"/>
          <p:cNvCxnSpPr>
            <a:cxnSpLocks/>
            <a:stCxn id="33" idx="5"/>
            <a:endCxn id="45" idx="0"/>
          </p:cNvCxnSpPr>
          <p:nvPr/>
        </p:nvCxnSpPr>
        <p:spPr>
          <a:xfrm>
            <a:off x="9536810" y="2489804"/>
            <a:ext cx="990878" cy="464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Прямая со стрелкой 75"/>
          <p:cNvCxnSpPr>
            <a:stCxn id="39" idx="3"/>
            <a:endCxn id="48" idx="0"/>
          </p:cNvCxnSpPr>
          <p:nvPr/>
        </p:nvCxnSpPr>
        <p:spPr>
          <a:xfrm flipH="1">
            <a:off x="7776820" y="3323430"/>
            <a:ext cx="76415" cy="377577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stCxn id="39" idx="5"/>
            <a:endCxn id="51" idx="0"/>
          </p:cNvCxnSpPr>
          <p:nvPr/>
        </p:nvCxnSpPr>
        <p:spPr>
          <a:xfrm>
            <a:off x="8209657" y="3323430"/>
            <a:ext cx="237269" cy="383162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Прямая со стрелкой 83"/>
          <p:cNvCxnSpPr>
            <a:cxnSpLocks/>
            <a:stCxn id="3" idx="3"/>
            <a:endCxn id="30" idx="0"/>
          </p:cNvCxnSpPr>
          <p:nvPr/>
        </p:nvCxnSpPr>
        <p:spPr>
          <a:xfrm flipH="1">
            <a:off x="7450124" y="1943010"/>
            <a:ext cx="844338" cy="205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Прямая со стрелкой 85"/>
          <p:cNvCxnSpPr/>
          <p:nvPr/>
        </p:nvCxnSpPr>
        <p:spPr>
          <a:xfrm>
            <a:off x="8678279" y="1944521"/>
            <a:ext cx="484343" cy="240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/>
              <p:cNvSpPr txBox="1"/>
              <p:nvPr/>
            </p:nvSpPr>
            <p:spPr>
              <a:xfrm>
                <a:off x="62698" y="5589240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98" y="5589240"/>
                <a:ext cx="38048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41618484-CB02-488B-BE93-726BF94640AA}"/>
              </a:ext>
            </a:extLst>
          </p:cNvPr>
          <p:cNvCxnSpPr>
            <a:stCxn id="30" idx="5"/>
            <a:endCxn id="39" idx="0"/>
          </p:cNvCxnSpPr>
          <p:nvPr/>
        </p:nvCxnSpPr>
        <p:spPr>
          <a:xfrm>
            <a:off x="7628335" y="2578717"/>
            <a:ext cx="403111" cy="314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Овал 61">
            <a:extLst>
              <a:ext uri="{FF2B5EF4-FFF2-40B4-BE49-F238E27FC236}">
                <a16:creationId xmlns:a16="http://schemas.microsoft.com/office/drawing/2014/main" id="{7B7F5002-7866-452D-9B9D-9F75B9F0F57C}"/>
              </a:ext>
            </a:extLst>
          </p:cNvPr>
          <p:cNvSpPr/>
          <p:nvPr/>
        </p:nvSpPr>
        <p:spPr>
          <a:xfrm>
            <a:off x="9952482" y="3708716"/>
            <a:ext cx="504056" cy="50405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16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3" name="Овал 62">
            <a:extLst>
              <a:ext uri="{FF2B5EF4-FFF2-40B4-BE49-F238E27FC236}">
                <a16:creationId xmlns:a16="http://schemas.microsoft.com/office/drawing/2014/main" id="{64EF3140-BABE-4064-BB7A-28B477D84346}"/>
              </a:ext>
            </a:extLst>
          </p:cNvPr>
          <p:cNvSpPr/>
          <p:nvPr/>
        </p:nvSpPr>
        <p:spPr>
          <a:xfrm>
            <a:off x="10530979" y="3704463"/>
            <a:ext cx="504056" cy="504056"/>
          </a:xfrm>
          <a:prstGeom prst="ellipse">
            <a:avLst/>
          </a:prstGeom>
          <a:noFill/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6</a:t>
            </a:r>
            <a:endParaRPr lang="ru-RU" sz="1200" dirty="0">
              <a:solidFill>
                <a:schemeClr val="tx1"/>
              </a:solidFill>
            </a:endParaRPr>
          </a:p>
        </p:txBody>
      </p:sp>
      <p:cxnSp>
        <p:nvCxnSpPr>
          <p:cNvPr id="60" name="Прямая со стрелкой 59">
            <a:extLst>
              <a:ext uri="{FF2B5EF4-FFF2-40B4-BE49-F238E27FC236}">
                <a16:creationId xmlns:a16="http://schemas.microsoft.com/office/drawing/2014/main" id="{6B03C094-94F5-458C-ABD4-6167296573DB}"/>
              </a:ext>
            </a:extLst>
          </p:cNvPr>
          <p:cNvCxnSpPr>
            <a:stCxn id="33" idx="4"/>
            <a:endCxn id="42" idx="0"/>
          </p:cNvCxnSpPr>
          <p:nvPr/>
        </p:nvCxnSpPr>
        <p:spPr>
          <a:xfrm flipH="1">
            <a:off x="9265784" y="2563621"/>
            <a:ext cx="92815" cy="354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Прямая со стрелкой 87">
            <a:extLst>
              <a:ext uri="{FF2B5EF4-FFF2-40B4-BE49-F238E27FC236}">
                <a16:creationId xmlns:a16="http://schemas.microsoft.com/office/drawing/2014/main" id="{A44D12B3-4CE8-4A85-B5DA-F9F320A55636}"/>
              </a:ext>
            </a:extLst>
          </p:cNvPr>
          <p:cNvCxnSpPr>
            <a:cxnSpLocks/>
            <a:stCxn id="45" idx="4"/>
            <a:endCxn id="62" idx="0"/>
          </p:cNvCxnSpPr>
          <p:nvPr/>
        </p:nvCxnSpPr>
        <p:spPr>
          <a:xfrm flipH="1">
            <a:off x="10204510" y="3439719"/>
            <a:ext cx="323178" cy="268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Прямая со стрелкой 106">
            <a:extLst>
              <a:ext uri="{FF2B5EF4-FFF2-40B4-BE49-F238E27FC236}">
                <a16:creationId xmlns:a16="http://schemas.microsoft.com/office/drawing/2014/main" id="{C19AC9C3-75DB-46A5-A526-0BA3596FB490}"/>
              </a:ext>
            </a:extLst>
          </p:cNvPr>
          <p:cNvCxnSpPr>
            <a:cxnSpLocks/>
            <a:stCxn id="45" idx="4"/>
            <a:endCxn id="63" idx="0"/>
          </p:cNvCxnSpPr>
          <p:nvPr/>
        </p:nvCxnSpPr>
        <p:spPr>
          <a:xfrm>
            <a:off x="10527688" y="3439719"/>
            <a:ext cx="255319" cy="264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Овал 44"/>
          <p:cNvSpPr/>
          <p:nvPr/>
        </p:nvSpPr>
        <p:spPr>
          <a:xfrm>
            <a:off x="10272368" y="2954758"/>
            <a:ext cx="510639" cy="48496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22</a:t>
            </a:r>
            <a:endParaRPr lang="ru-RU" sz="1200" dirty="0">
              <a:solidFill>
                <a:schemeClr val="tx1"/>
              </a:solidFill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D9B96F62-18E8-4D71-A7B6-2FC4F6A256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119067"/>
              </p:ext>
            </p:extLst>
          </p:nvPr>
        </p:nvGraphicFramePr>
        <p:xfrm>
          <a:off x="331126" y="1593641"/>
          <a:ext cx="4929597" cy="6597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733">
                  <a:extLst>
                    <a:ext uri="{9D8B030D-6E8A-4147-A177-3AD203B41FA5}">
                      <a16:colId xmlns:a16="http://schemas.microsoft.com/office/drawing/2014/main" val="3333962665"/>
                    </a:ext>
                  </a:extLst>
                </a:gridCol>
                <a:gridCol w="547733">
                  <a:extLst>
                    <a:ext uri="{9D8B030D-6E8A-4147-A177-3AD203B41FA5}">
                      <a16:colId xmlns:a16="http://schemas.microsoft.com/office/drawing/2014/main" val="3568347458"/>
                    </a:ext>
                  </a:extLst>
                </a:gridCol>
                <a:gridCol w="547733">
                  <a:extLst>
                    <a:ext uri="{9D8B030D-6E8A-4147-A177-3AD203B41FA5}">
                      <a16:colId xmlns:a16="http://schemas.microsoft.com/office/drawing/2014/main" val="2150607796"/>
                    </a:ext>
                  </a:extLst>
                </a:gridCol>
                <a:gridCol w="547733">
                  <a:extLst>
                    <a:ext uri="{9D8B030D-6E8A-4147-A177-3AD203B41FA5}">
                      <a16:colId xmlns:a16="http://schemas.microsoft.com/office/drawing/2014/main" val="1278484228"/>
                    </a:ext>
                  </a:extLst>
                </a:gridCol>
                <a:gridCol w="547733">
                  <a:extLst>
                    <a:ext uri="{9D8B030D-6E8A-4147-A177-3AD203B41FA5}">
                      <a16:colId xmlns:a16="http://schemas.microsoft.com/office/drawing/2014/main" val="2499923623"/>
                    </a:ext>
                  </a:extLst>
                </a:gridCol>
                <a:gridCol w="547733">
                  <a:extLst>
                    <a:ext uri="{9D8B030D-6E8A-4147-A177-3AD203B41FA5}">
                      <a16:colId xmlns:a16="http://schemas.microsoft.com/office/drawing/2014/main" val="1921264110"/>
                    </a:ext>
                  </a:extLst>
                </a:gridCol>
                <a:gridCol w="547733">
                  <a:extLst>
                    <a:ext uri="{9D8B030D-6E8A-4147-A177-3AD203B41FA5}">
                      <a16:colId xmlns:a16="http://schemas.microsoft.com/office/drawing/2014/main" val="3742194940"/>
                    </a:ext>
                  </a:extLst>
                </a:gridCol>
                <a:gridCol w="547733">
                  <a:extLst>
                    <a:ext uri="{9D8B030D-6E8A-4147-A177-3AD203B41FA5}">
                      <a16:colId xmlns:a16="http://schemas.microsoft.com/office/drawing/2014/main" val="1646444792"/>
                    </a:ext>
                  </a:extLst>
                </a:gridCol>
                <a:gridCol w="547733">
                  <a:extLst>
                    <a:ext uri="{9D8B030D-6E8A-4147-A177-3AD203B41FA5}">
                      <a16:colId xmlns:a16="http://schemas.microsoft.com/office/drawing/2014/main" val="2603389566"/>
                    </a:ext>
                  </a:extLst>
                </a:gridCol>
              </a:tblGrid>
              <a:tr h="294033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609144"/>
                  </a:ext>
                </a:extLst>
              </a:tr>
              <a:tr h="2940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80944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875B61-62ED-4FBB-8C01-BDA7FF60A2AF}"/>
                  </a:ext>
                </a:extLst>
              </p:cNvPr>
              <p:cNvSpPr txBox="1"/>
              <p:nvPr/>
            </p:nvSpPr>
            <p:spPr>
              <a:xfrm>
                <a:off x="35852" y="1921077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875B61-62ED-4FBB-8C01-BDA7FF60A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52" y="1921077"/>
                <a:ext cx="38568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6FE3D20-6C79-4B8D-8059-EB213EF8DDE2}"/>
              </a:ext>
            </a:extLst>
          </p:cNvPr>
          <p:cNvSpPr txBox="1"/>
          <p:nvPr/>
        </p:nvSpPr>
        <p:spPr>
          <a:xfrm>
            <a:off x="8163934" y="1200307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[0,9)</a:t>
            </a:r>
            <a:endParaRPr lang="ru-BY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1E7D733-932D-47DD-B799-391D5637CFE0}"/>
              </a:ext>
            </a:extLst>
          </p:cNvPr>
          <p:cNvSpPr txBox="1"/>
          <p:nvPr/>
        </p:nvSpPr>
        <p:spPr>
          <a:xfrm>
            <a:off x="7642088" y="2216604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[0,4)</a:t>
            </a:r>
            <a:endParaRPr lang="ru-BY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733A046-3557-4ADC-B8BE-8F0600893333}"/>
              </a:ext>
            </a:extLst>
          </p:cNvPr>
          <p:cNvSpPr txBox="1"/>
          <p:nvPr/>
        </p:nvSpPr>
        <p:spPr>
          <a:xfrm>
            <a:off x="9606756" y="2154083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[4,9)</a:t>
            </a:r>
            <a:endParaRPr lang="ru-BY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2D7352E-F842-4FCC-9354-BAB63E84CCBB}"/>
              </a:ext>
            </a:extLst>
          </p:cNvPr>
          <p:cNvSpPr txBox="1"/>
          <p:nvPr/>
        </p:nvSpPr>
        <p:spPr>
          <a:xfrm>
            <a:off x="10747707" y="297305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</a:t>
            </a:r>
            <a:r>
              <a:rPr lang="ru-RU" dirty="0"/>
              <a:t>6</a:t>
            </a:r>
            <a:r>
              <a:rPr lang="en-US" dirty="0"/>
              <a:t>,9)</a:t>
            </a:r>
            <a:endParaRPr lang="ru-BY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A767186-5EC6-4AF2-96B6-6C567BCEA526}"/>
              </a:ext>
            </a:extLst>
          </p:cNvPr>
          <p:cNvSpPr txBox="1"/>
          <p:nvPr/>
        </p:nvSpPr>
        <p:spPr>
          <a:xfrm>
            <a:off x="10513590" y="4225949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</a:t>
            </a:r>
            <a:r>
              <a:rPr lang="ru-RU" dirty="0"/>
              <a:t>7</a:t>
            </a:r>
            <a:r>
              <a:rPr lang="en-US" dirty="0"/>
              <a:t>,</a:t>
            </a:r>
            <a:r>
              <a:rPr lang="ru-RU" dirty="0"/>
              <a:t>9</a:t>
            </a:r>
            <a:r>
              <a:rPr lang="en-US" dirty="0"/>
              <a:t>)</a:t>
            </a:r>
            <a:endParaRPr lang="ru-BY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843DFA2-A18A-4A36-867C-0C38BE49A205}"/>
              </a:ext>
            </a:extLst>
          </p:cNvPr>
          <p:cNvSpPr txBox="1"/>
          <p:nvPr/>
        </p:nvSpPr>
        <p:spPr>
          <a:xfrm>
            <a:off x="9924617" y="4221283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[6,7)</a:t>
            </a:r>
            <a:endParaRPr lang="ru-BY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4E53D75-83F7-4A82-ACD5-026EDA128A94}"/>
              </a:ext>
            </a:extLst>
          </p:cNvPr>
          <p:cNvSpPr txBox="1"/>
          <p:nvPr/>
        </p:nvSpPr>
        <p:spPr>
          <a:xfrm>
            <a:off x="9467165" y="3037254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[4,6)</a:t>
            </a:r>
            <a:endParaRPr lang="ru-BY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2F73F93-89C4-4224-B58C-D745A65278C0}"/>
              </a:ext>
            </a:extLst>
          </p:cNvPr>
          <p:cNvSpPr txBox="1"/>
          <p:nvPr/>
        </p:nvSpPr>
        <p:spPr>
          <a:xfrm>
            <a:off x="7050879" y="292169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[0,2)</a:t>
            </a:r>
            <a:endParaRPr lang="ru-BY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D985156-1CDB-461C-909B-342DAC8CEC64}"/>
              </a:ext>
            </a:extLst>
          </p:cNvPr>
          <p:cNvSpPr txBox="1"/>
          <p:nvPr/>
        </p:nvSpPr>
        <p:spPr>
          <a:xfrm>
            <a:off x="8186964" y="4261904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[3,4)</a:t>
            </a:r>
            <a:endParaRPr lang="ru-BY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E6CBE12-50D2-47DB-9964-C70A87083EA4}"/>
              </a:ext>
            </a:extLst>
          </p:cNvPr>
          <p:cNvSpPr txBox="1"/>
          <p:nvPr/>
        </p:nvSpPr>
        <p:spPr>
          <a:xfrm>
            <a:off x="7454292" y="422655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[2,3)</a:t>
            </a:r>
            <a:endParaRPr lang="ru-BY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E2DFDAF-4A87-4995-B32D-F3C325EA032F}"/>
              </a:ext>
            </a:extLst>
          </p:cNvPr>
          <p:cNvSpPr txBox="1"/>
          <p:nvPr/>
        </p:nvSpPr>
        <p:spPr>
          <a:xfrm>
            <a:off x="8207011" y="294769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[2,4)</a:t>
            </a:r>
            <a:endParaRPr lang="ru-BY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1BDD82E-6196-429F-A41B-6CDE0AEE587B}"/>
                  </a:ext>
                </a:extLst>
              </p:cNvPr>
              <p:cNvSpPr txBox="1"/>
              <p:nvPr/>
            </p:nvSpPr>
            <p:spPr>
              <a:xfrm>
                <a:off x="5269964" y="1847272"/>
                <a:ext cx="8041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1BDD82E-6196-429F-A41B-6CDE0AEE5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964" y="1847272"/>
                <a:ext cx="8041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Овал 65">
            <a:extLst>
              <a:ext uri="{FF2B5EF4-FFF2-40B4-BE49-F238E27FC236}">
                <a16:creationId xmlns:a16="http://schemas.microsoft.com/office/drawing/2014/main" id="{A8426D4A-57EA-4722-9E8D-8134FBBA7161}"/>
              </a:ext>
            </a:extLst>
          </p:cNvPr>
          <p:cNvSpPr/>
          <p:nvPr/>
        </p:nvSpPr>
        <p:spPr>
          <a:xfrm>
            <a:off x="6265360" y="3701007"/>
            <a:ext cx="504056" cy="504056"/>
          </a:xfrm>
          <a:prstGeom prst="ellipse">
            <a:avLst/>
          </a:prstGeom>
          <a:noFill/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9" name="Овал 68">
            <a:extLst>
              <a:ext uri="{FF2B5EF4-FFF2-40B4-BE49-F238E27FC236}">
                <a16:creationId xmlns:a16="http://schemas.microsoft.com/office/drawing/2014/main" id="{81DE6A04-9DB0-480A-B19C-8612BC810EEF}"/>
              </a:ext>
            </a:extLst>
          </p:cNvPr>
          <p:cNvSpPr/>
          <p:nvPr/>
        </p:nvSpPr>
        <p:spPr>
          <a:xfrm>
            <a:off x="6893076" y="3683547"/>
            <a:ext cx="504056" cy="50405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7</a:t>
            </a:r>
            <a:endParaRPr lang="ru-RU" sz="1200" dirty="0">
              <a:solidFill>
                <a:schemeClr val="tx1"/>
              </a:solidFill>
            </a:endParaRP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A01259A0-2A1D-49E9-A331-C16957ED9A79}"/>
              </a:ext>
            </a:extLst>
          </p:cNvPr>
          <p:cNvCxnSpPr>
            <a:stCxn id="36" idx="4"/>
            <a:endCxn id="66" idx="0"/>
          </p:cNvCxnSpPr>
          <p:nvPr/>
        </p:nvCxnSpPr>
        <p:spPr>
          <a:xfrm flipH="1">
            <a:off x="6517388" y="3408121"/>
            <a:ext cx="336840" cy="292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458654C7-BCBA-49E4-8693-DBA48831AAD2}"/>
              </a:ext>
            </a:extLst>
          </p:cNvPr>
          <p:cNvCxnSpPr>
            <a:stCxn id="36" idx="4"/>
            <a:endCxn id="69" idx="0"/>
          </p:cNvCxnSpPr>
          <p:nvPr/>
        </p:nvCxnSpPr>
        <p:spPr>
          <a:xfrm>
            <a:off x="6854228" y="3408121"/>
            <a:ext cx="290876" cy="275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B767D78C-0F0F-4CF1-8B7F-994844A7A4F1}"/>
              </a:ext>
            </a:extLst>
          </p:cNvPr>
          <p:cNvSpPr txBox="1"/>
          <p:nvPr/>
        </p:nvSpPr>
        <p:spPr>
          <a:xfrm>
            <a:off x="6158193" y="4213401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[0,1)</a:t>
            </a:r>
            <a:endParaRPr lang="ru-BY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4A15773-E3D3-482D-B39C-2B2929880FEB}"/>
              </a:ext>
            </a:extLst>
          </p:cNvPr>
          <p:cNvSpPr txBox="1"/>
          <p:nvPr/>
        </p:nvSpPr>
        <p:spPr>
          <a:xfrm>
            <a:off x="6778962" y="4213401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[1,2)</a:t>
            </a:r>
            <a:endParaRPr lang="ru-BY" dirty="0"/>
          </a:p>
        </p:txBody>
      </p:sp>
      <p:sp>
        <p:nvSpPr>
          <p:cNvPr id="83" name="Овал 82">
            <a:extLst>
              <a:ext uri="{FF2B5EF4-FFF2-40B4-BE49-F238E27FC236}">
                <a16:creationId xmlns:a16="http://schemas.microsoft.com/office/drawing/2014/main" id="{D720C361-3CCD-4C82-86AD-6A928CF9A856}"/>
              </a:ext>
            </a:extLst>
          </p:cNvPr>
          <p:cNvSpPr/>
          <p:nvPr/>
        </p:nvSpPr>
        <p:spPr>
          <a:xfrm>
            <a:off x="8754206" y="3752501"/>
            <a:ext cx="504056" cy="504056"/>
          </a:xfrm>
          <a:prstGeom prst="ellipse">
            <a:avLst/>
          </a:prstGeom>
          <a:noFill/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14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85" name="Овал 84">
            <a:extLst>
              <a:ext uri="{FF2B5EF4-FFF2-40B4-BE49-F238E27FC236}">
                <a16:creationId xmlns:a16="http://schemas.microsoft.com/office/drawing/2014/main" id="{B45F349E-96D8-4990-9259-BB3691C0917B}"/>
              </a:ext>
            </a:extLst>
          </p:cNvPr>
          <p:cNvSpPr/>
          <p:nvPr/>
        </p:nvSpPr>
        <p:spPr>
          <a:xfrm>
            <a:off x="9378207" y="3752501"/>
            <a:ext cx="504056" cy="504056"/>
          </a:xfrm>
          <a:prstGeom prst="ellipse">
            <a:avLst/>
          </a:prstGeom>
          <a:noFill/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12</a:t>
            </a:r>
            <a:endParaRPr lang="ru-RU" sz="1200" dirty="0">
              <a:solidFill>
                <a:schemeClr val="tx1"/>
              </a:solidFill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5DCB58B8-49B1-4BE6-A3E9-D10CA2F5E62E}"/>
              </a:ext>
            </a:extLst>
          </p:cNvPr>
          <p:cNvCxnSpPr>
            <a:stCxn id="42" idx="4"/>
            <a:endCxn id="83" idx="0"/>
          </p:cNvCxnSpPr>
          <p:nvPr/>
        </p:nvCxnSpPr>
        <p:spPr>
          <a:xfrm flipH="1">
            <a:off x="9006234" y="3422122"/>
            <a:ext cx="259550" cy="330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5A1E0900-0E68-402E-BFD4-5893F953F270}"/>
              </a:ext>
            </a:extLst>
          </p:cNvPr>
          <p:cNvCxnSpPr>
            <a:stCxn id="42" idx="4"/>
            <a:endCxn id="85" idx="0"/>
          </p:cNvCxnSpPr>
          <p:nvPr/>
        </p:nvCxnSpPr>
        <p:spPr>
          <a:xfrm>
            <a:off x="9265784" y="3422122"/>
            <a:ext cx="364451" cy="330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EFDF2D8D-2824-4322-B688-ACD07FE7AD44}"/>
              </a:ext>
            </a:extLst>
          </p:cNvPr>
          <p:cNvSpPr txBox="1"/>
          <p:nvPr/>
        </p:nvSpPr>
        <p:spPr>
          <a:xfrm>
            <a:off x="8747589" y="4239816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[4,5)</a:t>
            </a:r>
            <a:endParaRPr lang="ru-BY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7D61A51-B90A-4714-A842-A755657E802A}"/>
              </a:ext>
            </a:extLst>
          </p:cNvPr>
          <p:cNvSpPr txBox="1"/>
          <p:nvPr/>
        </p:nvSpPr>
        <p:spPr>
          <a:xfrm>
            <a:off x="9343629" y="425686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[5,6)</a:t>
            </a:r>
            <a:endParaRPr lang="ru-BY" dirty="0"/>
          </a:p>
        </p:txBody>
      </p:sp>
      <p:sp>
        <p:nvSpPr>
          <p:cNvPr id="105" name="Овал 104">
            <a:extLst>
              <a:ext uri="{FF2B5EF4-FFF2-40B4-BE49-F238E27FC236}">
                <a16:creationId xmlns:a16="http://schemas.microsoft.com/office/drawing/2014/main" id="{1D4D6CD6-2D1E-40AA-85FC-186EFC071A9D}"/>
              </a:ext>
            </a:extLst>
          </p:cNvPr>
          <p:cNvSpPr/>
          <p:nvPr/>
        </p:nvSpPr>
        <p:spPr>
          <a:xfrm>
            <a:off x="10219780" y="4557612"/>
            <a:ext cx="525756" cy="504056"/>
          </a:xfrm>
          <a:prstGeom prst="ellipse">
            <a:avLst/>
          </a:prstGeom>
          <a:noFill/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13" name="Овал 112">
            <a:extLst>
              <a:ext uri="{FF2B5EF4-FFF2-40B4-BE49-F238E27FC236}">
                <a16:creationId xmlns:a16="http://schemas.microsoft.com/office/drawing/2014/main" id="{E27F5862-B585-4C24-940A-BCA787BB2A84}"/>
              </a:ext>
            </a:extLst>
          </p:cNvPr>
          <p:cNvSpPr/>
          <p:nvPr/>
        </p:nvSpPr>
        <p:spPr>
          <a:xfrm>
            <a:off x="11002522" y="4536706"/>
            <a:ext cx="504056" cy="5040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5</a:t>
            </a:r>
            <a:endParaRPr lang="ru-RU" sz="1200" dirty="0">
              <a:solidFill>
                <a:schemeClr val="tx1"/>
              </a:solidFill>
            </a:endParaRP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57B97DCC-2B79-418C-9B9B-9CBD029AEC11}"/>
              </a:ext>
            </a:extLst>
          </p:cNvPr>
          <p:cNvCxnSpPr>
            <a:cxnSpLocks/>
            <a:stCxn id="63" idx="4"/>
            <a:endCxn id="105" idx="0"/>
          </p:cNvCxnSpPr>
          <p:nvPr/>
        </p:nvCxnSpPr>
        <p:spPr>
          <a:xfrm flipH="1">
            <a:off x="10482658" y="4208519"/>
            <a:ext cx="300349" cy="349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FDA67C1F-7C8A-44F9-B02E-90EF669F5A5C}"/>
              </a:ext>
            </a:extLst>
          </p:cNvPr>
          <p:cNvCxnSpPr>
            <a:cxnSpLocks/>
          </p:cNvCxnSpPr>
          <p:nvPr/>
        </p:nvCxnSpPr>
        <p:spPr>
          <a:xfrm>
            <a:off x="10750385" y="4208519"/>
            <a:ext cx="397289" cy="352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F812401D-BB1D-476F-BA42-E881A3D5B37F}"/>
              </a:ext>
            </a:extLst>
          </p:cNvPr>
          <p:cNvSpPr txBox="1"/>
          <p:nvPr/>
        </p:nvSpPr>
        <p:spPr>
          <a:xfrm>
            <a:off x="9677363" y="4644203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[7,8)</a:t>
            </a:r>
            <a:endParaRPr lang="ru-BY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D8447D8-870A-4400-93C5-F4030B46DB4B}"/>
              </a:ext>
            </a:extLst>
          </p:cNvPr>
          <p:cNvSpPr txBox="1"/>
          <p:nvPr/>
        </p:nvSpPr>
        <p:spPr>
          <a:xfrm>
            <a:off x="11449569" y="4642479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[8,9)</a:t>
            </a:r>
            <a:endParaRPr lang="ru-BY" dirty="0"/>
          </a:p>
        </p:txBody>
      </p:sp>
      <p:graphicFrame>
        <p:nvGraphicFramePr>
          <p:cNvPr id="119" name="Таблица 118">
            <a:extLst>
              <a:ext uri="{FF2B5EF4-FFF2-40B4-BE49-F238E27FC236}">
                <a16:creationId xmlns:a16="http://schemas.microsoft.com/office/drawing/2014/main" id="{D82FAFD3-2185-4C96-934C-76E4976533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456963"/>
              </p:ext>
            </p:extLst>
          </p:nvPr>
        </p:nvGraphicFramePr>
        <p:xfrm>
          <a:off x="327436" y="2307830"/>
          <a:ext cx="219093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733">
                  <a:extLst>
                    <a:ext uri="{9D8B030D-6E8A-4147-A177-3AD203B41FA5}">
                      <a16:colId xmlns:a16="http://schemas.microsoft.com/office/drawing/2014/main" val="3333962665"/>
                    </a:ext>
                  </a:extLst>
                </a:gridCol>
                <a:gridCol w="547733">
                  <a:extLst>
                    <a:ext uri="{9D8B030D-6E8A-4147-A177-3AD203B41FA5}">
                      <a16:colId xmlns:a16="http://schemas.microsoft.com/office/drawing/2014/main" val="3568347458"/>
                    </a:ext>
                  </a:extLst>
                </a:gridCol>
                <a:gridCol w="547733">
                  <a:extLst>
                    <a:ext uri="{9D8B030D-6E8A-4147-A177-3AD203B41FA5}">
                      <a16:colId xmlns:a16="http://schemas.microsoft.com/office/drawing/2014/main" val="2150607796"/>
                    </a:ext>
                  </a:extLst>
                </a:gridCol>
                <a:gridCol w="547733">
                  <a:extLst>
                    <a:ext uri="{9D8B030D-6E8A-4147-A177-3AD203B41FA5}">
                      <a16:colId xmlns:a16="http://schemas.microsoft.com/office/drawing/2014/main" val="1278484228"/>
                    </a:ext>
                  </a:extLst>
                </a:gridCol>
              </a:tblGrid>
              <a:tr h="29403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09445"/>
                  </a:ext>
                </a:extLst>
              </a:tr>
            </a:tbl>
          </a:graphicData>
        </a:graphic>
      </p:graphicFrame>
      <p:graphicFrame>
        <p:nvGraphicFramePr>
          <p:cNvPr id="123" name="Таблица 122">
            <a:extLst>
              <a:ext uri="{FF2B5EF4-FFF2-40B4-BE49-F238E27FC236}">
                <a16:creationId xmlns:a16="http://schemas.microsoft.com/office/drawing/2014/main" id="{0A9DB361-D927-4972-B0CD-EB661921A0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124497"/>
              </p:ext>
            </p:extLst>
          </p:nvPr>
        </p:nvGraphicFramePr>
        <p:xfrm>
          <a:off x="2563175" y="2313049"/>
          <a:ext cx="268879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758">
                  <a:extLst>
                    <a:ext uri="{9D8B030D-6E8A-4147-A177-3AD203B41FA5}">
                      <a16:colId xmlns:a16="http://schemas.microsoft.com/office/drawing/2014/main" val="2499923623"/>
                    </a:ext>
                  </a:extLst>
                </a:gridCol>
                <a:gridCol w="537758">
                  <a:extLst>
                    <a:ext uri="{9D8B030D-6E8A-4147-A177-3AD203B41FA5}">
                      <a16:colId xmlns:a16="http://schemas.microsoft.com/office/drawing/2014/main" val="1921264110"/>
                    </a:ext>
                  </a:extLst>
                </a:gridCol>
                <a:gridCol w="537758">
                  <a:extLst>
                    <a:ext uri="{9D8B030D-6E8A-4147-A177-3AD203B41FA5}">
                      <a16:colId xmlns:a16="http://schemas.microsoft.com/office/drawing/2014/main" val="3742194940"/>
                    </a:ext>
                  </a:extLst>
                </a:gridCol>
                <a:gridCol w="537758">
                  <a:extLst>
                    <a:ext uri="{9D8B030D-6E8A-4147-A177-3AD203B41FA5}">
                      <a16:colId xmlns:a16="http://schemas.microsoft.com/office/drawing/2014/main" val="1646444792"/>
                    </a:ext>
                  </a:extLst>
                </a:gridCol>
                <a:gridCol w="537758">
                  <a:extLst>
                    <a:ext uri="{9D8B030D-6E8A-4147-A177-3AD203B41FA5}">
                      <a16:colId xmlns:a16="http://schemas.microsoft.com/office/drawing/2014/main" val="2603389566"/>
                    </a:ext>
                  </a:extLst>
                </a:gridCol>
              </a:tblGrid>
              <a:tr h="33125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809445"/>
                  </a:ext>
                </a:extLst>
              </a:tr>
            </a:tbl>
          </a:graphicData>
        </a:graphic>
      </p:graphicFrame>
      <p:graphicFrame>
        <p:nvGraphicFramePr>
          <p:cNvPr id="124" name="Таблица 123">
            <a:extLst>
              <a:ext uri="{FF2B5EF4-FFF2-40B4-BE49-F238E27FC236}">
                <a16:creationId xmlns:a16="http://schemas.microsoft.com/office/drawing/2014/main" id="{F53B4733-E74F-42AE-B959-9EE98526DC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309038"/>
              </p:ext>
            </p:extLst>
          </p:nvPr>
        </p:nvGraphicFramePr>
        <p:xfrm>
          <a:off x="1451912" y="2710311"/>
          <a:ext cx="106645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228">
                  <a:extLst>
                    <a:ext uri="{9D8B030D-6E8A-4147-A177-3AD203B41FA5}">
                      <a16:colId xmlns:a16="http://schemas.microsoft.com/office/drawing/2014/main" val="2150607796"/>
                    </a:ext>
                  </a:extLst>
                </a:gridCol>
                <a:gridCol w="533228">
                  <a:extLst>
                    <a:ext uri="{9D8B030D-6E8A-4147-A177-3AD203B41FA5}">
                      <a16:colId xmlns:a16="http://schemas.microsoft.com/office/drawing/2014/main" val="1278484228"/>
                    </a:ext>
                  </a:extLst>
                </a:gridCol>
              </a:tblGrid>
              <a:tr h="344671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09445"/>
                  </a:ext>
                </a:extLst>
              </a:tr>
            </a:tbl>
          </a:graphicData>
        </a:graphic>
      </p:graphicFrame>
      <p:graphicFrame>
        <p:nvGraphicFramePr>
          <p:cNvPr id="125" name="Таблица 124">
            <a:extLst>
              <a:ext uri="{FF2B5EF4-FFF2-40B4-BE49-F238E27FC236}">
                <a16:creationId xmlns:a16="http://schemas.microsoft.com/office/drawing/2014/main" id="{356CA252-427A-4B9F-8C31-87BAAE44F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615587"/>
              </p:ext>
            </p:extLst>
          </p:nvPr>
        </p:nvGraphicFramePr>
        <p:xfrm>
          <a:off x="2566792" y="2693683"/>
          <a:ext cx="1036812" cy="371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406">
                  <a:extLst>
                    <a:ext uri="{9D8B030D-6E8A-4147-A177-3AD203B41FA5}">
                      <a16:colId xmlns:a16="http://schemas.microsoft.com/office/drawing/2014/main" val="2499923623"/>
                    </a:ext>
                  </a:extLst>
                </a:gridCol>
                <a:gridCol w="518406">
                  <a:extLst>
                    <a:ext uri="{9D8B030D-6E8A-4147-A177-3AD203B41FA5}">
                      <a16:colId xmlns:a16="http://schemas.microsoft.com/office/drawing/2014/main" val="1921264110"/>
                    </a:ext>
                  </a:extLst>
                </a:gridCol>
              </a:tblGrid>
              <a:tr h="371672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09445"/>
                  </a:ext>
                </a:extLst>
              </a:tr>
            </a:tbl>
          </a:graphicData>
        </a:graphic>
      </p:graphicFrame>
      <p:graphicFrame>
        <p:nvGraphicFramePr>
          <p:cNvPr id="127" name="Таблица 126">
            <a:extLst>
              <a:ext uri="{FF2B5EF4-FFF2-40B4-BE49-F238E27FC236}">
                <a16:creationId xmlns:a16="http://schemas.microsoft.com/office/drawing/2014/main" id="{A8A8EAC9-302C-4E20-BD86-EAEB5C1A71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091788"/>
              </p:ext>
            </p:extLst>
          </p:nvPr>
        </p:nvGraphicFramePr>
        <p:xfrm>
          <a:off x="827805" y="3122093"/>
          <a:ext cx="54773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733">
                  <a:extLst>
                    <a:ext uri="{9D8B030D-6E8A-4147-A177-3AD203B41FA5}">
                      <a16:colId xmlns:a16="http://schemas.microsoft.com/office/drawing/2014/main" val="3568347458"/>
                    </a:ext>
                  </a:extLst>
                </a:gridCol>
              </a:tblGrid>
              <a:tr h="29403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09445"/>
                  </a:ext>
                </a:extLst>
              </a:tr>
            </a:tbl>
          </a:graphicData>
        </a:graphic>
      </p:graphicFrame>
      <p:graphicFrame>
        <p:nvGraphicFramePr>
          <p:cNvPr id="129" name="Таблица 128">
            <a:extLst>
              <a:ext uri="{FF2B5EF4-FFF2-40B4-BE49-F238E27FC236}">
                <a16:creationId xmlns:a16="http://schemas.microsoft.com/office/drawing/2014/main" id="{1737DE4A-6DD6-4E37-8F43-1309BA6BB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585438"/>
              </p:ext>
            </p:extLst>
          </p:nvPr>
        </p:nvGraphicFramePr>
        <p:xfrm>
          <a:off x="3640108" y="3101390"/>
          <a:ext cx="504057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7">
                  <a:extLst>
                    <a:ext uri="{9D8B030D-6E8A-4147-A177-3AD203B41FA5}">
                      <a16:colId xmlns:a16="http://schemas.microsoft.com/office/drawing/2014/main" val="3742194940"/>
                    </a:ext>
                  </a:extLst>
                </a:gridCol>
              </a:tblGrid>
              <a:tr h="294033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0944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77EEBD53-B207-4559-AE29-A05E6724ACD8}"/>
              </a:ext>
            </a:extLst>
          </p:cNvPr>
          <p:cNvSpPr txBox="1"/>
          <p:nvPr/>
        </p:nvSpPr>
        <p:spPr>
          <a:xfrm>
            <a:off x="1397464" y="4052047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  <a:r>
              <a:rPr lang="ru-RU" dirty="0"/>
              <a:t>+</a:t>
            </a:r>
            <a:endParaRPr lang="ru-BY" dirty="0"/>
          </a:p>
        </p:txBody>
      </p:sp>
      <p:graphicFrame>
        <p:nvGraphicFramePr>
          <p:cNvPr id="130" name="Таблица 129">
            <a:extLst>
              <a:ext uri="{FF2B5EF4-FFF2-40B4-BE49-F238E27FC236}">
                <a16:creationId xmlns:a16="http://schemas.microsoft.com/office/drawing/2014/main" id="{37729758-A858-423F-9DDC-EAC810BBBB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773226"/>
              </p:ext>
            </p:extLst>
          </p:nvPr>
        </p:nvGraphicFramePr>
        <p:xfrm>
          <a:off x="324307" y="2717717"/>
          <a:ext cx="105974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9874">
                  <a:extLst>
                    <a:ext uri="{9D8B030D-6E8A-4147-A177-3AD203B41FA5}">
                      <a16:colId xmlns:a16="http://schemas.microsoft.com/office/drawing/2014/main" val="3333962665"/>
                    </a:ext>
                  </a:extLst>
                </a:gridCol>
                <a:gridCol w="529874">
                  <a:extLst>
                    <a:ext uri="{9D8B030D-6E8A-4147-A177-3AD203B41FA5}">
                      <a16:colId xmlns:a16="http://schemas.microsoft.com/office/drawing/2014/main" val="3568347458"/>
                    </a:ext>
                  </a:extLst>
                </a:gridCol>
              </a:tblGrid>
              <a:tr h="31953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09445"/>
                  </a:ext>
                </a:extLst>
              </a:tr>
            </a:tbl>
          </a:graphicData>
        </a:graphic>
      </p:graphicFrame>
      <p:graphicFrame>
        <p:nvGraphicFramePr>
          <p:cNvPr id="131" name="Таблица 130">
            <a:extLst>
              <a:ext uri="{FF2B5EF4-FFF2-40B4-BE49-F238E27FC236}">
                <a16:creationId xmlns:a16="http://schemas.microsoft.com/office/drawing/2014/main" id="{F739F2F8-EE2D-42E6-81F6-04BF4143C3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576508"/>
              </p:ext>
            </p:extLst>
          </p:nvPr>
        </p:nvGraphicFramePr>
        <p:xfrm>
          <a:off x="3646995" y="2707219"/>
          <a:ext cx="159696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321">
                  <a:extLst>
                    <a:ext uri="{9D8B030D-6E8A-4147-A177-3AD203B41FA5}">
                      <a16:colId xmlns:a16="http://schemas.microsoft.com/office/drawing/2014/main" val="3742194940"/>
                    </a:ext>
                  </a:extLst>
                </a:gridCol>
                <a:gridCol w="532321">
                  <a:extLst>
                    <a:ext uri="{9D8B030D-6E8A-4147-A177-3AD203B41FA5}">
                      <a16:colId xmlns:a16="http://schemas.microsoft.com/office/drawing/2014/main" val="1646444792"/>
                    </a:ext>
                  </a:extLst>
                </a:gridCol>
                <a:gridCol w="532321">
                  <a:extLst>
                    <a:ext uri="{9D8B030D-6E8A-4147-A177-3AD203B41FA5}">
                      <a16:colId xmlns:a16="http://schemas.microsoft.com/office/drawing/2014/main" val="2603389566"/>
                    </a:ext>
                  </a:extLst>
                </a:gridCol>
              </a:tblGrid>
              <a:tr h="351561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809445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098518DA-1359-4666-A3C0-9BB45481DA54}"/>
              </a:ext>
            </a:extLst>
          </p:cNvPr>
          <p:cNvSpPr txBox="1"/>
          <p:nvPr/>
        </p:nvSpPr>
        <p:spPr>
          <a:xfrm>
            <a:off x="126699" y="1242002"/>
            <a:ext cx="3127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Найти сумму на отрезке </a:t>
            </a:r>
            <a:r>
              <a:rPr lang="en-US" dirty="0"/>
              <a:t>[1,7).</a:t>
            </a:r>
            <a:endParaRPr lang="ru-BY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D7CFB4E-E32B-4B30-B391-9A6D090115DE}"/>
              </a:ext>
            </a:extLst>
          </p:cNvPr>
          <p:cNvSpPr txBox="1"/>
          <p:nvPr/>
        </p:nvSpPr>
        <p:spPr>
          <a:xfrm>
            <a:off x="187217" y="3555211"/>
            <a:ext cx="11154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</a:t>
            </a:r>
            <a:r>
              <a:rPr lang="ru-RU" dirty="0" err="1"/>
              <a:t>умма</a:t>
            </a:r>
            <a:r>
              <a:rPr lang="ru-RU" dirty="0"/>
              <a:t> на отрезке </a:t>
            </a:r>
            <a:r>
              <a:rPr lang="en-US" dirty="0"/>
              <a:t>[1,7)</a:t>
            </a:r>
            <a:r>
              <a:rPr lang="ru-RU" dirty="0"/>
              <a:t>:</a:t>
            </a:r>
            <a:endParaRPr lang="ru-BY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5EE0AE0-51A2-464D-A846-1D3E6D74F9A9}"/>
              </a:ext>
            </a:extLst>
          </p:cNvPr>
          <p:cNvSpPr txBox="1"/>
          <p:nvPr/>
        </p:nvSpPr>
        <p:spPr>
          <a:xfrm>
            <a:off x="1684569" y="4062958"/>
            <a:ext cx="578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11+</a:t>
            </a:r>
            <a:endParaRPr lang="ru-BY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A106986-7511-40A2-BCA1-F7F3D49882F9}"/>
              </a:ext>
            </a:extLst>
          </p:cNvPr>
          <p:cNvSpPr txBox="1"/>
          <p:nvPr/>
        </p:nvSpPr>
        <p:spPr>
          <a:xfrm>
            <a:off x="2392327" y="405204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16</a:t>
            </a:r>
            <a:endParaRPr lang="ru-BY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ED39689-C2AF-44A0-B147-EE6C63C00E7F}"/>
              </a:ext>
            </a:extLst>
          </p:cNvPr>
          <p:cNvSpPr txBox="1"/>
          <p:nvPr/>
        </p:nvSpPr>
        <p:spPr>
          <a:xfrm>
            <a:off x="1927995" y="4052047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  26+</a:t>
            </a:r>
            <a:endParaRPr lang="ru-BY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ACBCBD6-7D16-48BA-993B-FADC9F2C3365}"/>
              </a:ext>
            </a:extLst>
          </p:cNvPr>
          <p:cNvSpPr txBox="1"/>
          <p:nvPr/>
        </p:nvSpPr>
        <p:spPr>
          <a:xfrm>
            <a:off x="2669985" y="4062958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=60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1354730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23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41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51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61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77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81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87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97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73" grpId="0"/>
      <p:bldP spid="87" grpId="0"/>
      <p:bldP spid="89" grpId="0"/>
      <p:bldP spid="9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Оценка времени работы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Объект 4"/>
              <p:cNvSpPr>
                <a:spLocks noGrp="1"/>
              </p:cNvSpPr>
              <p:nvPr>
                <p:ph sz="half" idx="1"/>
              </p:nvPr>
            </p:nvSpPr>
            <p:spPr>
              <a:xfrm>
                <a:off x="300517" y="1200741"/>
                <a:ext cx="11473906" cy="4781125"/>
              </a:xfrm>
            </p:spPr>
            <p:txBody>
              <a:bodyPr>
                <a:normAutofit fontScale="92500"/>
              </a:bodyPr>
              <a:lstStyle/>
              <a:p>
                <a:r>
                  <a:rPr lang="ru-RU" dirty="0"/>
                  <a:t>При вычислении суммы рекурсия иногда уходит сразу в обе ветви</a:t>
                </a:r>
              </a:p>
              <a:p>
                <a:r>
                  <a:rPr lang="ru-RU" dirty="0"/>
                  <a:t>Нужно доказать, что время работы —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, </a:t>
                </a:r>
                <a:r>
                  <a:rPr lang="ru-RU" dirty="0"/>
                  <a:t>не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ru-RU" dirty="0"/>
                  <a:t>Пусть интервал имеет вид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ru-RU" dirty="0"/>
                  <a:t>Возможна одна из трёх ситуаций:</a:t>
                </a:r>
              </a:p>
              <a:p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  <a:p>
                <a:r>
                  <a:rPr lang="ru-RU" dirty="0"/>
                  <a:t>Видим, что на каждом уровне активно работает только одна ветвь рекурсии</a:t>
                </a:r>
              </a:p>
            </p:txBody>
          </p:sp>
        </mc:Choice>
        <mc:Fallback xmlns="">
          <p:sp>
            <p:nvSpPr>
              <p:cNvPr id="5" name="Объект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00517" y="1200741"/>
                <a:ext cx="11473906" cy="4781125"/>
              </a:xfrm>
              <a:blipFill rotWithShape="0">
                <a:blip r:embed="rId2"/>
                <a:stretch>
                  <a:fillRect l="-797" t="-1020" b="-30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/>
          <p:cNvGrpSpPr/>
          <p:nvPr/>
        </p:nvGrpSpPr>
        <p:grpSpPr>
          <a:xfrm>
            <a:off x="954095" y="3140968"/>
            <a:ext cx="10664437" cy="2299848"/>
            <a:chOff x="978485" y="3574762"/>
            <a:chExt cx="10664437" cy="2299848"/>
          </a:xfrm>
        </p:grpSpPr>
        <p:sp>
          <p:nvSpPr>
            <p:cNvPr id="7" name="Прямоугольник 6"/>
            <p:cNvSpPr/>
            <p:nvPr/>
          </p:nvSpPr>
          <p:spPr>
            <a:xfrm>
              <a:off x="978485" y="4626510"/>
              <a:ext cx="2448272" cy="251690"/>
            </a:xfrm>
            <a:prstGeom prst="rect">
              <a:avLst/>
            </a:prstGeom>
            <a:solidFill>
              <a:srgbClr val="154E9D"/>
            </a:solidFill>
            <a:ln>
              <a:solidFill>
                <a:srgbClr val="0A0A0C"/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Овал 7"/>
            <p:cNvSpPr/>
            <p:nvPr/>
          </p:nvSpPr>
          <p:spPr>
            <a:xfrm>
              <a:off x="5537938" y="3638831"/>
              <a:ext cx="360040" cy="36004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Овал 8"/>
            <p:cNvSpPr/>
            <p:nvPr/>
          </p:nvSpPr>
          <p:spPr>
            <a:xfrm>
              <a:off x="4637858" y="4221769"/>
              <a:ext cx="360000" cy="360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Овал 9"/>
            <p:cNvSpPr/>
            <p:nvPr/>
          </p:nvSpPr>
          <p:spPr>
            <a:xfrm>
              <a:off x="6438058" y="4221769"/>
              <a:ext cx="360000" cy="360000"/>
            </a:xfrm>
            <a:prstGeom prst="ellipse">
              <a:avLst/>
            </a:prstGeom>
            <a:ln>
              <a:solidFill>
                <a:srgbClr val="0A0A0C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2" name="Прямая со стрелкой 11"/>
            <p:cNvCxnSpPr>
              <a:stCxn id="8" idx="3"/>
              <a:endCxn id="9" idx="7"/>
            </p:cNvCxnSpPr>
            <p:nvPr/>
          </p:nvCxnSpPr>
          <p:spPr>
            <a:xfrm flipH="1">
              <a:off x="4945137" y="3946144"/>
              <a:ext cx="645528" cy="328346"/>
            </a:xfrm>
            <a:prstGeom prst="straightConnector1">
              <a:avLst/>
            </a:prstGeom>
            <a:ln>
              <a:solidFill>
                <a:srgbClr val="0A0A0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 стрелкой 13"/>
            <p:cNvCxnSpPr>
              <a:stCxn id="8" idx="5"/>
              <a:endCxn id="10" idx="1"/>
            </p:cNvCxnSpPr>
            <p:nvPr/>
          </p:nvCxnSpPr>
          <p:spPr>
            <a:xfrm>
              <a:off x="5845251" y="3946144"/>
              <a:ext cx="645528" cy="328346"/>
            </a:xfrm>
            <a:prstGeom prst="straightConnector1">
              <a:avLst/>
            </a:prstGeom>
            <a:ln>
              <a:solidFill>
                <a:srgbClr val="0A0A0C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Овал 36"/>
            <p:cNvSpPr/>
            <p:nvPr/>
          </p:nvSpPr>
          <p:spPr>
            <a:xfrm>
              <a:off x="9318358" y="3574762"/>
              <a:ext cx="360040" cy="360040"/>
            </a:xfrm>
            <a:prstGeom prst="ellipse">
              <a:avLst/>
            </a:prstGeom>
            <a:solidFill>
              <a:srgbClr val="154E9D"/>
            </a:solidFill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Овал 37"/>
            <p:cNvSpPr/>
            <p:nvPr/>
          </p:nvSpPr>
          <p:spPr>
            <a:xfrm>
              <a:off x="8438717" y="4221769"/>
              <a:ext cx="360000" cy="360000"/>
            </a:xfrm>
            <a:prstGeom prst="ellipse">
              <a:avLst/>
            </a:prstGeom>
            <a:solidFill>
              <a:srgbClr val="154E9D"/>
            </a:solidFill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Овал 38"/>
            <p:cNvSpPr/>
            <p:nvPr/>
          </p:nvSpPr>
          <p:spPr>
            <a:xfrm>
              <a:off x="10224475" y="4157734"/>
              <a:ext cx="360000" cy="360000"/>
            </a:xfrm>
            <a:prstGeom prst="ellipse">
              <a:avLst/>
            </a:prstGeom>
            <a:solidFill>
              <a:srgbClr val="154E9D"/>
            </a:solidFill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40" name="Прямая со стрелкой 39"/>
            <p:cNvCxnSpPr>
              <a:stCxn id="37" idx="3"/>
              <a:endCxn id="38" idx="7"/>
            </p:cNvCxnSpPr>
            <p:nvPr/>
          </p:nvCxnSpPr>
          <p:spPr>
            <a:xfrm flipH="1">
              <a:off x="8745996" y="3882075"/>
              <a:ext cx="625089" cy="392415"/>
            </a:xfrm>
            <a:prstGeom prst="straightConnector1">
              <a:avLst/>
            </a:prstGeom>
            <a:ln>
              <a:solidFill>
                <a:srgbClr val="0A0A0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Прямая со стрелкой 40"/>
            <p:cNvCxnSpPr>
              <a:stCxn id="37" idx="5"/>
            </p:cNvCxnSpPr>
            <p:nvPr/>
          </p:nvCxnSpPr>
          <p:spPr>
            <a:xfrm>
              <a:off x="9625671" y="3882075"/>
              <a:ext cx="645528" cy="328346"/>
            </a:xfrm>
            <a:prstGeom prst="straightConnector1">
              <a:avLst/>
            </a:prstGeom>
            <a:ln>
              <a:solidFill>
                <a:srgbClr val="0A0A0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Овал 41"/>
            <p:cNvSpPr/>
            <p:nvPr/>
          </p:nvSpPr>
          <p:spPr>
            <a:xfrm>
              <a:off x="2022601" y="3673985"/>
              <a:ext cx="360040" cy="360040"/>
            </a:xfrm>
            <a:prstGeom prst="ellipse">
              <a:avLst/>
            </a:prstGeom>
            <a:solidFill>
              <a:srgbClr val="154E9D"/>
            </a:solidFill>
            <a:ln>
              <a:solidFill>
                <a:srgbClr val="0A0A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3" name="Овал 42"/>
            <p:cNvSpPr/>
            <p:nvPr/>
          </p:nvSpPr>
          <p:spPr>
            <a:xfrm>
              <a:off x="1122521" y="4256923"/>
              <a:ext cx="360000" cy="360000"/>
            </a:xfrm>
            <a:prstGeom prst="ellipse">
              <a:avLst/>
            </a:prstGeom>
            <a:ln>
              <a:solidFill>
                <a:srgbClr val="0A0A0C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4" name="Овал 43"/>
            <p:cNvSpPr/>
            <p:nvPr/>
          </p:nvSpPr>
          <p:spPr>
            <a:xfrm>
              <a:off x="2922721" y="4256923"/>
              <a:ext cx="360000" cy="360000"/>
            </a:xfrm>
            <a:prstGeom prst="ellipse">
              <a:avLst/>
            </a:prstGeom>
            <a:ln>
              <a:solidFill>
                <a:srgbClr val="0A0A0C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45" name="Прямая со стрелкой 44"/>
            <p:cNvCxnSpPr>
              <a:stCxn id="42" idx="3"/>
              <a:endCxn id="43" idx="7"/>
            </p:cNvCxnSpPr>
            <p:nvPr/>
          </p:nvCxnSpPr>
          <p:spPr>
            <a:xfrm flipH="1">
              <a:off x="1429800" y="3981298"/>
              <a:ext cx="645528" cy="328346"/>
            </a:xfrm>
            <a:prstGeom prst="straightConnector1">
              <a:avLst/>
            </a:prstGeom>
            <a:ln>
              <a:solidFill>
                <a:srgbClr val="0A0A0C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Прямая со стрелкой 45"/>
            <p:cNvCxnSpPr>
              <a:stCxn id="42" idx="5"/>
              <a:endCxn id="44" idx="1"/>
            </p:cNvCxnSpPr>
            <p:nvPr/>
          </p:nvCxnSpPr>
          <p:spPr>
            <a:xfrm>
              <a:off x="2329914" y="3981298"/>
              <a:ext cx="645528" cy="328346"/>
            </a:xfrm>
            <a:prstGeom prst="straightConnector1">
              <a:avLst/>
            </a:prstGeom>
            <a:ln>
              <a:solidFill>
                <a:srgbClr val="0A0A0C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Прямоугольник 46"/>
            <p:cNvSpPr/>
            <p:nvPr/>
          </p:nvSpPr>
          <p:spPr>
            <a:xfrm>
              <a:off x="4493822" y="4626510"/>
              <a:ext cx="1242138" cy="251690"/>
            </a:xfrm>
            <a:prstGeom prst="rect">
              <a:avLst/>
            </a:prstGeom>
            <a:noFill/>
            <a:ln>
              <a:solidFill>
                <a:srgbClr val="0A0A0C"/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Прямоугольник 47"/>
            <p:cNvSpPr/>
            <p:nvPr/>
          </p:nvSpPr>
          <p:spPr>
            <a:xfrm>
              <a:off x="5751097" y="4626510"/>
              <a:ext cx="1208999" cy="251690"/>
            </a:xfrm>
            <a:prstGeom prst="rect">
              <a:avLst/>
            </a:prstGeom>
            <a:noFill/>
            <a:ln>
              <a:solidFill>
                <a:srgbClr val="0A0A0C"/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 48"/>
            <p:cNvSpPr/>
            <p:nvPr/>
          </p:nvSpPr>
          <p:spPr>
            <a:xfrm>
              <a:off x="4493822" y="4626510"/>
              <a:ext cx="882098" cy="251690"/>
            </a:xfrm>
            <a:prstGeom prst="rect">
              <a:avLst/>
            </a:prstGeom>
            <a:solidFill>
              <a:srgbClr val="154E9D"/>
            </a:solidFill>
            <a:ln>
              <a:solidFill>
                <a:srgbClr val="0A0A0C"/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0" name="Прямоугольник 49"/>
            <p:cNvSpPr/>
            <p:nvPr/>
          </p:nvSpPr>
          <p:spPr>
            <a:xfrm>
              <a:off x="8256240" y="4626510"/>
              <a:ext cx="1242138" cy="251690"/>
            </a:xfrm>
            <a:prstGeom prst="rect">
              <a:avLst/>
            </a:prstGeom>
            <a:solidFill>
              <a:srgbClr val="154E9D"/>
            </a:solidFill>
            <a:ln>
              <a:solidFill>
                <a:srgbClr val="0A0A0C"/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Прямоугольник 50"/>
            <p:cNvSpPr/>
            <p:nvPr/>
          </p:nvSpPr>
          <p:spPr>
            <a:xfrm>
              <a:off x="9538946" y="4626510"/>
              <a:ext cx="1208999" cy="25169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2" name="Прямоугольник 51"/>
            <p:cNvSpPr/>
            <p:nvPr/>
          </p:nvSpPr>
          <p:spPr>
            <a:xfrm>
              <a:off x="9538946" y="4626510"/>
              <a:ext cx="882098" cy="251690"/>
            </a:xfrm>
            <a:prstGeom prst="rect">
              <a:avLst/>
            </a:prstGeom>
            <a:solidFill>
              <a:srgbClr val="154E9D"/>
            </a:solidFill>
            <a:ln>
              <a:solidFill>
                <a:srgbClr val="0A0A0C"/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1615056" y="4977907"/>
              <a:ext cx="11751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остановка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424727" y="4938290"/>
              <a:ext cx="2072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спуск только влево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253947" y="4951280"/>
              <a:ext cx="338897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спуск влево и вправо, </a:t>
              </a:r>
            </a:p>
            <a:p>
              <a:r>
                <a:rPr lang="ru-RU" dirty="0"/>
                <a:t>но на следующем шаге левая рекурсия сразу завершится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7126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Оценка времени работы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>
              <a:ln>
                <a:noFill/>
              </a:ln>
            </p:spPr>
            <p:txBody>
              <a:bodyPr>
                <a:normAutofit lnSpcReduction="10000"/>
              </a:bodyPr>
              <a:lstStyle/>
              <a:p>
                <a:r>
                  <a:rPr lang="ru-RU" dirty="0"/>
                  <a:t>Пусть теперь интервал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произвольный</a:t>
                </a:r>
              </a:p>
              <a:p>
                <a:r>
                  <a:rPr lang="ru-RU" dirty="0"/>
                  <a:t>Возможна одна из трёх ситуаций</a:t>
                </a:r>
              </a:p>
              <a:p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  <a:p>
                <a:r>
                  <a:rPr lang="ru-RU" dirty="0"/>
                  <a:t>В третьем случае задача сводится к ранее рассмотренной (после разделения на каждом уровне активно работают две рекурсии)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0">
                <a:blip r:embed="rId2"/>
                <a:stretch>
                  <a:fillRect l="-999" t="-22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978485" y="3753374"/>
            <a:ext cx="2448272" cy="251690"/>
          </a:xfrm>
          <a:prstGeom prst="rect">
            <a:avLst/>
          </a:prstGeom>
          <a:solidFill>
            <a:srgbClr val="154E9D"/>
          </a:solidFill>
          <a:ln>
            <a:solidFill>
              <a:srgbClr val="0A0A0C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5517903" y="2627254"/>
            <a:ext cx="360040" cy="360040"/>
          </a:xfrm>
          <a:prstGeom prst="ellipse">
            <a:avLst/>
          </a:prstGeom>
          <a:solidFill>
            <a:srgbClr val="154E9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4637858" y="3210192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6418023" y="3249948"/>
            <a:ext cx="360000" cy="360000"/>
          </a:xfrm>
          <a:prstGeom prst="ellipse">
            <a:avLst/>
          </a:prstGeom>
          <a:solidFill>
            <a:srgbClr val="154E9D"/>
          </a:solidFill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Прямая со стрелкой 7"/>
          <p:cNvCxnSpPr>
            <a:stCxn id="5" idx="3"/>
            <a:endCxn id="6" idx="7"/>
          </p:cNvCxnSpPr>
          <p:nvPr/>
        </p:nvCxnSpPr>
        <p:spPr>
          <a:xfrm flipH="1">
            <a:off x="4945137" y="2934567"/>
            <a:ext cx="625493" cy="3283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>
            <a:stCxn id="5" idx="5"/>
            <a:endCxn id="7" idx="1"/>
          </p:cNvCxnSpPr>
          <p:nvPr/>
        </p:nvCxnSpPr>
        <p:spPr>
          <a:xfrm>
            <a:off x="5825216" y="2934567"/>
            <a:ext cx="645528" cy="368102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Овал 9"/>
          <p:cNvSpPr/>
          <p:nvPr/>
        </p:nvSpPr>
        <p:spPr>
          <a:xfrm>
            <a:off x="9318762" y="2667010"/>
            <a:ext cx="360040" cy="360040"/>
          </a:xfrm>
          <a:prstGeom prst="ellipse">
            <a:avLst/>
          </a:prstGeom>
          <a:solidFill>
            <a:srgbClr val="154E9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8438717" y="3249948"/>
            <a:ext cx="360000" cy="360000"/>
          </a:xfrm>
          <a:prstGeom prst="ellipse">
            <a:avLst/>
          </a:prstGeom>
          <a:solidFill>
            <a:srgbClr val="154E9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10218882" y="3249948"/>
            <a:ext cx="360000" cy="360000"/>
          </a:xfrm>
          <a:prstGeom prst="ellipse">
            <a:avLst/>
          </a:prstGeom>
          <a:solidFill>
            <a:srgbClr val="154E9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Прямая со стрелкой 12"/>
          <p:cNvCxnSpPr>
            <a:stCxn id="10" idx="3"/>
            <a:endCxn id="11" idx="7"/>
          </p:cNvCxnSpPr>
          <p:nvPr/>
        </p:nvCxnSpPr>
        <p:spPr>
          <a:xfrm flipH="1">
            <a:off x="8745996" y="2974323"/>
            <a:ext cx="625493" cy="3283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stCxn id="10" idx="5"/>
            <a:endCxn id="12" idx="1"/>
          </p:cNvCxnSpPr>
          <p:nvPr/>
        </p:nvCxnSpPr>
        <p:spPr>
          <a:xfrm>
            <a:off x="9626075" y="2974323"/>
            <a:ext cx="645528" cy="3283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Овал 14"/>
          <p:cNvSpPr/>
          <p:nvPr/>
        </p:nvSpPr>
        <p:spPr>
          <a:xfrm>
            <a:off x="2002566" y="2702164"/>
            <a:ext cx="360040" cy="360040"/>
          </a:xfrm>
          <a:prstGeom prst="ellipse">
            <a:avLst/>
          </a:prstGeom>
          <a:solidFill>
            <a:srgbClr val="154E9D"/>
          </a:solidFill>
          <a:ln w="19050"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>
            <a:off x="1122521" y="3285102"/>
            <a:ext cx="360000" cy="360000"/>
          </a:xfrm>
          <a:prstGeom prst="ellipse">
            <a:avLst/>
          </a:prstGeom>
          <a:ln w="19050">
            <a:solidFill>
              <a:srgbClr val="0A0A0C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/>
          <p:cNvSpPr/>
          <p:nvPr/>
        </p:nvSpPr>
        <p:spPr>
          <a:xfrm>
            <a:off x="2922721" y="3285102"/>
            <a:ext cx="360000" cy="360000"/>
          </a:xfrm>
          <a:prstGeom prst="ellipse">
            <a:avLst/>
          </a:prstGeom>
          <a:ln w="19050">
            <a:solidFill>
              <a:srgbClr val="0A0A0C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Прямая со стрелкой 17"/>
          <p:cNvCxnSpPr>
            <a:stCxn id="15" idx="3"/>
            <a:endCxn id="16" idx="7"/>
          </p:cNvCxnSpPr>
          <p:nvPr/>
        </p:nvCxnSpPr>
        <p:spPr>
          <a:xfrm flipH="1">
            <a:off x="1429800" y="3009477"/>
            <a:ext cx="625493" cy="328346"/>
          </a:xfrm>
          <a:prstGeom prst="straightConnector1">
            <a:avLst/>
          </a:prstGeom>
          <a:ln w="19050">
            <a:solidFill>
              <a:srgbClr val="0A0A0C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>
            <a:stCxn id="15" idx="5"/>
            <a:endCxn id="17" idx="1"/>
          </p:cNvCxnSpPr>
          <p:nvPr/>
        </p:nvCxnSpPr>
        <p:spPr>
          <a:xfrm>
            <a:off x="2309879" y="3009477"/>
            <a:ext cx="665563" cy="328346"/>
          </a:xfrm>
          <a:prstGeom prst="straightConnector1">
            <a:avLst/>
          </a:prstGeom>
          <a:ln w="19050">
            <a:solidFill>
              <a:srgbClr val="0A0A0C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/>
          <p:cNvSpPr/>
          <p:nvPr/>
        </p:nvSpPr>
        <p:spPr>
          <a:xfrm>
            <a:off x="4493822" y="3753374"/>
            <a:ext cx="1242138" cy="25169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5751097" y="3753374"/>
            <a:ext cx="1208999" cy="25169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/>
        </p:nvSpPr>
        <p:spPr>
          <a:xfrm>
            <a:off x="6057720" y="3753374"/>
            <a:ext cx="466786" cy="251690"/>
          </a:xfrm>
          <a:prstGeom prst="rect">
            <a:avLst/>
          </a:prstGeom>
          <a:solidFill>
            <a:srgbClr val="154E9D"/>
          </a:solidFill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8753655" y="3753374"/>
            <a:ext cx="725092" cy="251690"/>
          </a:xfrm>
          <a:prstGeom prst="rect">
            <a:avLst/>
          </a:prstGeom>
          <a:solidFill>
            <a:srgbClr val="154E9D"/>
          </a:solidFill>
          <a:ln>
            <a:solidFill>
              <a:srgbClr val="0A0A0C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/>
        </p:nvSpPr>
        <p:spPr>
          <a:xfrm>
            <a:off x="9538946" y="3753374"/>
            <a:ext cx="1208999" cy="25169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/>
        </p:nvSpPr>
        <p:spPr>
          <a:xfrm>
            <a:off x="9521605" y="3753374"/>
            <a:ext cx="882098" cy="251690"/>
          </a:xfrm>
          <a:prstGeom prst="rect">
            <a:avLst/>
          </a:prstGeom>
          <a:solidFill>
            <a:srgbClr val="154E9D"/>
          </a:solidFill>
          <a:ln>
            <a:solidFill>
              <a:srgbClr val="0A0A0C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/>
          <p:cNvSpPr/>
          <p:nvPr/>
        </p:nvSpPr>
        <p:spPr>
          <a:xfrm>
            <a:off x="8289783" y="3753374"/>
            <a:ext cx="1208999" cy="25169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/>
          <p:cNvSpPr txBox="1"/>
          <p:nvPr/>
        </p:nvSpPr>
        <p:spPr>
          <a:xfrm>
            <a:off x="1747591" y="4065152"/>
            <a:ext cx="1175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остановка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29147" y="4178554"/>
            <a:ext cx="22222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спуск только вправо </a:t>
            </a:r>
          </a:p>
          <a:p>
            <a:r>
              <a:rPr lang="ru-RU" dirty="0"/>
              <a:t>(или только влево)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18717" y="4096403"/>
            <a:ext cx="2265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спуск в обе стороны</a:t>
            </a:r>
          </a:p>
        </p:txBody>
      </p:sp>
    </p:spTree>
    <p:extLst>
      <p:ext uri="{BB962C8B-B14F-4D97-AF65-F5344CB8AC3E}">
        <p14:creationId xmlns:p14="http://schemas.microsoft.com/office/powerpoint/2010/main" val="26113882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Доработки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Объект 4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ru-RU" dirty="0" err="1"/>
                  <a:t>Нерекурсивная</a:t>
                </a:r>
                <a:r>
                  <a:rPr lang="ru-RU" dirty="0"/>
                  <a:t> реализация быстрее работает на практике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r>
                  <a:rPr lang="ru-RU" dirty="0"/>
                  <a:t>Можно добавить поддержку операций на интервале:</a:t>
                </a:r>
              </a:p>
              <a:p>
                <a:pPr lvl="2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Add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b="0" dirty="0"/>
                  <a:t> — </a:t>
                </a:r>
                <a:r>
                  <a:rPr lang="ru-RU" b="0" dirty="0"/>
                  <a:t>прибавить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 </a:t>
                </a:r>
                <a:r>
                  <a:rPr lang="ru-RU" b="0" dirty="0"/>
                  <a:t>к каждому элементу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pPr lvl="2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Set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—</a:t>
                </a:r>
                <a:r>
                  <a:rPr lang="ru-RU" dirty="0"/>
                  <a:t> установить элементы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ru-RU" dirty="0"/>
                  <a:t> в значение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Объект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999" t="-134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21227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Оценка времени работы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748347"/>
              </p:ext>
            </p:extLst>
          </p:nvPr>
        </p:nvGraphicFramePr>
        <p:xfrm>
          <a:off x="1987451" y="1835456"/>
          <a:ext cx="8217098" cy="3187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8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34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дерево</a:t>
                      </a:r>
                      <a:r>
                        <a:rPr lang="ru-RU" sz="24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отрезков</a:t>
                      </a:r>
                      <a:endParaRPr lang="ru-RU" sz="24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2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dirty="0">
                          <a:solidFill>
                            <a:schemeClr val="tx1"/>
                          </a:solidFill>
                        </a:rPr>
                        <a:t>Время на </a:t>
                      </a:r>
                      <a:r>
                        <a:rPr lang="ru-RU" sz="2400" b="0" dirty="0" err="1">
                          <a:solidFill>
                            <a:schemeClr val="tx1"/>
                          </a:solidFill>
                        </a:rPr>
                        <a:t>предподсчёт</a:t>
                      </a:r>
                      <a:endParaRPr lang="ru-R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2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dirty="0">
                          <a:solidFill>
                            <a:schemeClr val="tx1"/>
                          </a:solidFill>
                        </a:rPr>
                        <a:t>Время на запрос модификации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248">
                <a:tc>
                  <a:txBody>
                    <a:bodyPr/>
                    <a:lstStyle/>
                    <a:p>
                      <a:r>
                        <a:rPr lang="ru-RU" sz="2400" b="0" dirty="0">
                          <a:solidFill>
                            <a:schemeClr val="tx1"/>
                          </a:solidFill>
                        </a:rPr>
                        <a:t>Время на запрос суммы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99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Объем дополнительной памяти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i="1" kern="12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EDB718D3-9FDB-C681-4609-64BCBB3530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5626025"/>
              </p:ext>
            </p:extLst>
          </p:nvPr>
        </p:nvGraphicFramePr>
        <p:xfrm>
          <a:off x="7300913" y="2600905"/>
          <a:ext cx="8382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412" imgH="519864" progId="Equation.DSMT4">
                  <p:embed/>
                </p:oleObj>
              </mc:Choice>
              <mc:Fallback>
                <p:oleObj name="Equation" r:id="rId2" imgW="838412" imgH="51986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300913" y="2600905"/>
                        <a:ext cx="838200" cy="519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FAEF6211-2FF4-F145-A499-76D16E3A43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1362507"/>
              </p:ext>
            </p:extLst>
          </p:nvPr>
        </p:nvGraphicFramePr>
        <p:xfrm>
          <a:off x="7300913" y="4332424"/>
          <a:ext cx="8382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38412" imgH="519864" progId="Equation.DSMT4">
                  <p:embed/>
                </p:oleObj>
              </mc:Choice>
              <mc:Fallback>
                <p:oleObj name="Equation" r:id="rId4" imgW="838412" imgH="51986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300913" y="4332424"/>
                        <a:ext cx="838200" cy="519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293E719B-4263-FC0A-3743-AB133F3539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2326419"/>
              </p:ext>
            </p:extLst>
          </p:nvPr>
        </p:nvGraphicFramePr>
        <p:xfrm>
          <a:off x="7300913" y="3098800"/>
          <a:ext cx="1358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58640" imgH="520560" progId="Equation.DSMT4">
                  <p:embed/>
                </p:oleObj>
              </mc:Choice>
              <mc:Fallback>
                <p:oleObj name="Equation" r:id="rId6" imgW="135864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300913" y="3098800"/>
                        <a:ext cx="13589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7E0997D3-733C-3775-94C1-0E39F8D627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7659423"/>
              </p:ext>
            </p:extLst>
          </p:nvPr>
        </p:nvGraphicFramePr>
        <p:xfrm>
          <a:off x="7300913" y="3640717"/>
          <a:ext cx="13573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58011" imgH="521306" progId="Equation.DSMT4">
                  <p:embed/>
                </p:oleObj>
              </mc:Choice>
              <mc:Fallback>
                <p:oleObj name="Equation" r:id="rId8" imgW="1358011" imgH="52130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300913" y="3640717"/>
                        <a:ext cx="1357313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338627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Оценки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34894"/>
              </p:ext>
            </p:extLst>
          </p:nvPr>
        </p:nvGraphicFramePr>
        <p:xfrm>
          <a:off x="0" y="1319064"/>
          <a:ext cx="10704512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7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2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6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665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20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Обычный массив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Префиксные суммы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Sqrt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-</a:t>
                      </a:r>
                      <a:r>
                        <a:rPr lang="ru-RU" sz="24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декомпозиция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Дерево</a:t>
                      </a:r>
                      <a:r>
                        <a:rPr lang="ru-RU" sz="24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отрезков</a:t>
                      </a:r>
                      <a:endParaRPr lang="ru-RU" sz="24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dirty="0">
                          <a:solidFill>
                            <a:schemeClr val="tx1"/>
                          </a:solidFill>
                        </a:rPr>
                        <a:t>Время на </a:t>
                      </a:r>
                      <a:r>
                        <a:rPr lang="ru-RU" sz="2400" b="0" dirty="0" err="1">
                          <a:solidFill>
                            <a:schemeClr val="tx1"/>
                          </a:solidFill>
                        </a:rPr>
                        <a:t>предподсчёт</a:t>
                      </a:r>
                      <a:endParaRPr lang="ru-R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dirty="0">
                          <a:solidFill>
                            <a:schemeClr val="tx1"/>
                          </a:solidFill>
                        </a:rPr>
                        <a:t>Время на запрос модификации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535">
                <a:tc>
                  <a:txBody>
                    <a:bodyPr/>
                    <a:lstStyle/>
                    <a:p>
                      <a:r>
                        <a:rPr lang="ru-RU" sz="2400" b="0" dirty="0">
                          <a:solidFill>
                            <a:schemeClr val="tx1"/>
                          </a:solidFill>
                        </a:rPr>
                        <a:t>Время на запрос суммы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2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Объём дополнительной памяти</a:t>
                      </a:r>
                      <a:endParaRPr lang="ru-R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i="1" kern="12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4D837984-E184-977E-474E-93E99E0599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2039448"/>
              </p:ext>
            </p:extLst>
          </p:nvPr>
        </p:nvGraphicFramePr>
        <p:xfrm>
          <a:off x="4524772" y="2291637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080" imgH="520560" progId="Equation.DSMT4">
                  <p:embed/>
                </p:oleObj>
              </mc:Choice>
              <mc:Fallback>
                <p:oleObj name="Equation" r:id="rId2" imgW="83808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24772" y="2291637"/>
                        <a:ext cx="838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D25A11C3-590A-4C9E-1766-380A3B2C31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57110"/>
              </p:ext>
            </p:extLst>
          </p:nvPr>
        </p:nvGraphicFramePr>
        <p:xfrm>
          <a:off x="6745288" y="2291637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38412" imgH="521306" progId="Equation.DSMT4">
                  <p:embed/>
                </p:oleObj>
              </mc:Choice>
              <mc:Fallback>
                <p:oleObj name="Equation" r:id="rId4" imgW="838412" imgH="52130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745288" y="2291637"/>
                        <a:ext cx="838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E41C6BB7-5D45-94CA-95C3-2C5CD6B8BE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3957493"/>
              </p:ext>
            </p:extLst>
          </p:nvPr>
        </p:nvGraphicFramePr>
        <p:xfrm>
          <a:off x="9104762" y="2303216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38412" imgH="521306" progId="Equation.DSMT4">
                  <p:embed/>
                </p:oleObj>
              </mc:Choice>
              <mc:Fallback>
                <p:oleObj name="Equation" r:id="rId6" imgW="838412" imgH="52130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104762" y="2303216"/>
                        <a:ext cx="838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Объект 10">
            <a:extLst>
              <a:ext uri="{FF2B5EF4-FFF2-40B4-BE49-F238E27FC236}">
                <a16:creationId xmlns:a16="http://schemas.microsoft.com/office/drawing/2014/main" id="{7B04CE23-9573-CA68-E8D1-D0B3A37138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6877892"/>
              </p:ext>
            </p:extLst>
          </p:nvPr>
        </p:nvGraphicFramePr>
        <p:xfrm>
          <a:off x="4524772" y="3132458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38412" imgH="521306" progId="Equation.DSMT4">
                  <p:embed/>
                </p:oleObj>
              </mc:Choice>
              <mc:Fallback>
                <p:oleObj name="Equation" r:id="rId8" imgW="838412" imgH="52130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524772" y="3132458"/>
                        <a:ext cx="838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BB7E0130-F2CD-89CE-4D73-2204FAF2B7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4408173"/>
              </p:ext>
            </p:extLst>
          </p:nvPr>
        </p:nvGraphicFramePr>
        <p:xfrm>
          <a:off x="9104762" y="4870998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38412" imgH="521306" progId="Equation.DSMT4">
                  <p:embed/>
                </p:oleObj>
              </mc:Choice>
              <mc:Fallback>
                <p:oleObj name="Equation" r:id="rId10" imgW="838412" imgH="52130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104762" y="4870998"/>
                        <a:ext cx="838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Объект 13">
            <a:extLst>
              <a:ext uri="{FF2B5EF4-FFF2-40B4-BE49-F238E27FC236}">
                <a16:creationId xmlns:a16="http://schemas.microsoft.com/office/drawing/2014/main" id="{E88384BB-A5EB-C30F-20AE-94715F9E89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5801665"/>
              </p:ext>
            </p:extLst>
          </p:nvPr>
        </p:nvGraphicFramePr>
        <p:xfrm>
          <a:off x="2840921" y="3941410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38412" imgH="521306" progId="Equation.DSMT4">
                  <p:embed/>
                </p:oleObj>
              </mc:Choice>
              <mc:Fallback>
                <p:oleObj name="Equation" r:id="rId12" imgW="838412" imgH="52130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840921" y="3941410"/>
                        <a:ext cx="838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Объект 17">
            <a:extLst>
              <a:ext uri="{FF2B5EF4-FFF2-40B4-BE49-F238E27FC236}">
                <a16:creationId xmlns:a16="http://schemas.microsoft.com/office/drawing/2014/main" id="{6029390E-EDD1-62F0-7FC6-C0A95DD824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6846333"/>
              </p:ext>
            </p:extLst>
          </p:nvPr>
        </p:nvGraphicFramePr>
        <p:xfrm>
          <a:off x="2879021" y="3100388"/>
          <a:ext cx="762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61760" imgH="520560" progId="Equation.DSMT4">
                  <p:embed/>
                </p:oleObj>
              </mc:Choice>
              <mc:Fallback>
                <p:oleObj name="Equation" r:id="rId14" imgW="76176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879021" y="3100388"/>
                        <a:ext cx="7620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Объект 18">
            <a:extLst>
              <a:ext uri="{FF2B5EF4-FFF2-40B4-BE49-F238E27FC236}">
                <a16:creationId xmlns:a16="http://schemas.microsoft.com/office/drawing/2014/main" id="{F28F6231-7E68-33DF-F106-A25D9CF9E1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1697400"/>
              </p:ext>
            </p:extLst>
          </p:nvPr>
        </p:nvGraphicFramePr>
        <p:xfrm>
          <a:off x="6783388" y="3108772"/>
          <a:ext cx="762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62127" imgH="521306" progId="Equation.DSMT4">
                  <p:embed/>
                </p:oleObj>
              </mc:Choice>
              <mc:Fallback>
                <p:oleObj name="Equation" r:id="rId16" imgW="762127" imgH="52130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783388" y="3108772"/>
                        <a:ext cx="7620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Объект 24">
            <a:extLst>
              <a:ext uri="{FF2B5EF4-FFF2-40B4-BE49-F238E27FC236}">
                <a16:creationId xmlns:a16="http://schemas.microsoft.com/office/drawing/2014/main" id="{E78A5EE4-A09E-7160-3EE6-2E541CC102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1733321"/>
              </p:ext>
            </p:extLst>
          </p:nvPr>
        </p:nvGraphicFramePr>
        <p:xfrm>
          <a:off x="4562872" y="4870998"/>
          <a:ext cx="762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62127" imgH="521306" progId="Equation.DSMT4">
                  <p:embed/>
                </p:oleObj>
              </mc:Choice>
              <mc:Fallback>
                <p:oleObj name="Equation" r:id="rId18" imgW="762127" imgH="52130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562872" y="4870998"/>
                        <a:ext cx="7620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Объект 25">
            <a:extLst>
              <a:ext uri="{FF2B5EF4-FFF2-40B4-BE49-F238E27FC236}">
                <a16:creationId xmlns:a16="http://schemas.microsoft.com/office/drawing/2014/main" id="{D3031E78-006E-0859-3814-05B721A163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8936012"/>
              </p:ext>
            </p:extLst>
          </p:nvPr>
        </p:nvGraphicFramePr>
        <p:xfrm>
          <a:off x="4562872" y="3932349"/>
          <a:ext cx="762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762127" imgH="521306" progId="Equation.DSMT4">
                  <p:embed/>
                </p:oleObj>
              </mc:Choice>
              <mc:Fallback>
                <p:oleObj name="Equation" r:id="rId20" imgW="762127" imgH="52130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562872" y="3932349"/>
                        <a:ext cx="7620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Объект 29">
            <a:extLst>
              <a:ext uri="{FF2B5EF4-FFF2-40B4-BE49-F238E27FC236}">
                <a16:creationId xmlns:a16="http://schemas.microsoft.com/office/drawing/2014/main" id="{1DC7F144-17D8-9E00-FA2E-B84C350D84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3420825"/>
              </p:ext>
            </p:extLst>
          </p:nvPr>
        </p:nvGraphicFramePr>
        <p:xfrm>
          <a:off x="8844412" y="3842070"/>
          <a:ext cx="1358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359450" imgH="521306" progId="Equation.DSMT4">
                  <p:embed/>
                </p:oleObj>
              </mc:Choice>
              <mc:Fallback>
                <p:oleObj name="Equation" r:id="rId22" imgW="1359450" imgH="52130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8844412" y="3842070"/>
                        <a:ext cx="13589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Объект 30">
            <a:extLst>
              <a:ext uri="{FF2B5EF4-FFF2-40B4-BE49-F238E27FC236}">
                <a16:creationId xmlns:a16="http://schemas.microsoft.com/office/drawing/2014/main" id="{2B20D1DE-DE66-D58A-81E7-3568EB5672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6339452"/>
              </p:ext>
            </p:extLst>
          </p:nvPr>
        </p:nvGraphicFramePr>
        <p:xfrm>
          <a:off x="8844412" y="3108772"/>
          <a:ext cx="1358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359450" imgH="521306" progId="Equation.DSMT4">
                  <p:embed/>
                </p:oleObj>
              </mc:Choice>
              <mc:Fallback>
                <p:oleObj name="Equation" r:id="rId24" imgW="1359450" imgH="52130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8844412" y="3108772"/>
                        <a:ext cx="13589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Объект 31">
            <a:extLst>
              <a:ext uri="{FF2B5EF4-FFF2-40B4-BE49-F238E27FC236}">
                <a16:creationId xmlns:a16="http://schemas.microsoft.com/office/drawing/2014/main" id="{5AE2C77D-7B92-B376-DF24-10B60EE735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480367"/>
              </p:ext>
            </p:extLst>
          </p:nvPr>
        </p:nvGraphicFramePr>
        <p:xfrm>
          <a:off x="6599238" y="4770438"/>
          <a:ext cx="11303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130040" imgH="698400" progId="Equation.DSMT4">
                  <p:embed/>
                </p:oleObj>
              </mc:Choice>
              <mc:Fallback>
                <p:oleObj name="Equation" r:id="rId26" imgW="1130040" imgH="698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6599238" y="4770438"/>
                        <a:ext cx="1130300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E8595B9F-C043-ED9E-178E-9CAD300699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0037750"/>
              </p:ext>
            </p:extLst>
          </p:nvPr>
        </p:nvGraphicFramePr>
        <p:xfrm>
          <a:off x="6633511" y="3784910"/>
          <a:ext cx="1130300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130956" imgH="699762" progId="Equation.DSMT4">
                  <p:embed/>
                </p:oleObj>
              </mc:Choice>
              <mc:Fallback>
                <p:oleObj name="Equation" r:id="rId28" imgW="1130956" imgH="69976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6633511" y="3784910"/>
                        <a:ext cx="1130300" cy="700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952998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Статическая задача </a:t>
            </a:r>
            <a:r>
              <a:rPr lang="en-US" dirty="0"/>
              <a:t>RMQ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23392" y="2151727"/>
            <a:ext cx="1122303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C</a:t>
            </a:r>
            <a:r>
              <a:rPr lang="ru-RU" sz="3200" dirty="0" err="1"/>
              <a:t>татическая</a:t>
            </a:r>
            <a:r>
              <a:rPr lang="ru-RU" sz="3200" dirty="0"/>
              <a:t> </a:t>
            </a:r>
            <a:r>
              <a:rPr lang="en-US" sz="3200" dirty="0"/>
              <a:t>online</a:t>
            </a:r>
            <a:r>
              <a:rPr lang="ru-RU" sz="3200" dirty="0"/>
              <a:t> задача</a:t>
            </a:r>
            <a:endParaRPr lang="en-US" sz="3200" dirty="0"/>
          </a:p>
          <a:p>
            <a:pPr algn="ctr"/>
            <a:r>
              <a:rPr lang="ru-RU" sz="3200" dirty="0"/>
              <a:t> </a:t>
            </a:r>
            <a:endParaRPr lang="en-US" sz="3200" dirty="0"/>
          </a:p>
          <a:p>
            <a:pPr algn="ctr"/>
            <a:r>
              <a:rPr lang="en-US" sz="3200" b="1" dirty="0"/>
              <a:t>RMQ</a:t>
            </a:r>
            <a:r>
              <a:rPr lang="en-US" sz="3200" dirty="0"/>
              <a:t> — </a:t>
            </a:r>
            <a:r>
              <a:rPr lang="en-US" sz="3200" b="1" dirty="0"/>
              <a:t>R</a:t>
            </a:r>
            <a:r>
              <a:rPr lang="en-US" sz="3200" dirty="0"/>
              <a:t>ange </a:t>
            </a:r>
            <a:r>
              <a:rPr lang="en-US" sz="3200" b="1" dirty="0"/>
              <a:t>M</a:t>
            </a:r>
            <a:r>
              <a:rPr lang="en-US" sz="3200" dirty="0"/>
              <a:t>inimum </a:t>
            </a:r>
            <a:r>
              <a:rPr lang="en-US" sz="3200" b="1" dirty="0"/>
              <a:t>Q</a:t>
            </a:r>
            <a:r>
              <a:rPr lang="en-US" sz="3200" dirty="0"/>
              <a:t>uery </a:t>
            </a:r>
          </a:p>
          <a:p>
            <a:pPr algn="ctr"/>
            <a:endParaRPr lang="en-US" sz="3200" dirty="0"/>
          </a:p>
          <a:p>
            <a:pPr algn="ctr"/>
            <a:r>
              <a:rPr lang="en-US" sz="3200" dirty="0"/>
              <a:t>(</a:t>
            </a:r>
            <a:r>
              <a:rPr lang="ru-RU" sz="3200" dirty="0"/>
              <a:t>запрос минимума на отрезке)</a:t>
            </a:r>
          </a:p>
        </p:txBody>
      </p:sp>
    </p:spTree>
    <p:extLst>
      <p:ext uri="{BB962C8B-B14F-4D97-AF65-F5344CB8AC3E}">
        <p14:creationId xmlns:p14="http://schemas.microsoft.com/office/powerpoint/2010/main" val="42582488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Статическая задача </a:t>
            </a:r>
            <a:r>
              <a:rPr lang="en-US" dirty="0"/>
              <a:t>RMQ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551384" y="1793348"/>
                <a:ext cx="10257488" cy="2308537"/>
              </a:xfrm>
            </p:spPr>
            <p:txBody>
              <a:bodyPr>
                <a:normAutofit/>
              </a:bodyPr>
              <a:lstStyle/>
              <a:p>
                <a:pPr marL="457200" lvl="1" indent="0">
                  <a:buNone/>
                </a:pPr>
                <a:r>
                  <a:rPr lang="ru-RU" dirty="0"/>
                  <a:t>Задана последовательность из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 чисел:</a:t>
                </a:r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i="1" dirty="0"/>
              </a:p>
              <a:p>
                <a:pPr marL="857250" lvl="2" indent="0">
                  <a:buNone/>
                </a:pPr>
                <a:r>
                  <a:rPr lang="ru-RU" dirty="0"/>
                  <a:t>Поступают запросы </a:t>
                </a:r>
                <a:r>
                  <a:rPr lang="ru-RU" i="1" dirty="0"/>
                  <a:t>минимума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𝐅𝐢𝐧𝐝𝐌𝐢𝐧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— </a:t>
                </a:r>
                <a:r>
                  <a:rPr lang="ru-RU" dirty="0"/>
                  <a:t>найти минимум на полуинтервале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en-US" b="0" dirty="0"/>
                  <a:t>. 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857250" lvl="2" indent="0">
                  <a:buNone/>
                </a:pPr>
                <a:r>
                  <a:rPr lang="ru-RU" u="sng" dirty="0"/>
                  <a:t>Запросов модификации </a:t>
                </a:r>
                <a:r>
                  <a:rPr lang="ru-RU" b="1" u="sng" dirty="0"/>
                  <a:t>нет</a:t>
                </a:r>
                <a:r>
                  <a:rPr lang="en-US" b="1" u="sng" dirty="0"/>
                  <a:t>.</a:t>
                </a:r>
                <a:endParaRPr lang="ru-RU" b="1" u="sng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51384" y="1793348"/>
                <a:ext cx="10257488" cy="2308537"/>
              </a:xfrm>
              <a:blipFill>
                <a:blip r:embed="rId2"/>
                <a:stretch>
                  <a:fillRect t="-2111" b="-4222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Прямая соединительная линия 6"/>
          <p:cNvCxnSpPr>
            <a:cxnSpLocks/>
          </p:cNvCxnSpPr>
          <p:nvPr/>
        </p:nvCxnSpPr>
        <p:spPr>
          <a:xfrm>
            <a:off x="1015784" y="1797629"/>
            <a:ext cx="0" cy="23042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38928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Статическая задача </a:t>
            </a:r>
            <a:r>
              <a:rPr lang="en-US" dirty="0"/>
              <a:t>RMQ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919536" y="2708920"/>
            <a:ext cx="110790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Можно решать корневой декомпозицией или деревом отрезков.</a:t>
            </a:r>
          </a:p>
        </p:txBody>
      </p:sp>
    </p:spTree>
    <p:extLst>
      <p:ext uri="{BB962C8B-B14F-4D97-AF65-F5344CB8AC3E}">
        <p14:creationId xmlns:p14="http://schemas.microsoft.com/office/powerpoint/2010/main" val="25271668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>
            <a:extLst>
              <a:ext uri="{FF2B5EF4-FFF2-40B4-BE49-F238E27FC236}">
                <a16:creationId xmlns:a16="http://schemas.microsoft.com/office/drawing/2014/main" id="{C8E0672B-C7D2-D405-983D-9C69576B69D4}"/>
              </a:ext>
            </a:extLst>
          </p:cNvPr>
          <p:cNvSpPr/>
          <p:nvPr/>
        </p:nvSpPr>
        <p:spPr>
          <a:xfrm>
            <a:off x="2480303" y="1869256"/>
            <a:ext cx="504056" cy="50405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55F27369-DC2E-FC3E-8116-72AE3B8988F1}"/>
              </a:ext>
            </a:extLst>
          </p:cNvPr>
          <p:cNvSpPr/>
          <p:nvPr/>
        </p:nvSpPr>
        <p:spPr>
          <a:xfrm>
            <a:off x="1457754" y="2504963"/>
            <a:ext cx="504056" cy="50405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4301281D-CF62-4D5B-3A7A-AEE92CC04114}"/>
              </a:ext>
            </a:extLst>
          </p:cNvPr>
          <p:cNvSpPr/>
          <p:nvPr/>
        </p:nvSpPr>
        <p:spPr>
          <a:xfrm>
            <a:off x="3366229" y="2416050"/>
            <a:ext cx="504056" cy="50405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68840D38-F524-3E38-EF7E-8F6CA2D5DA6C}"/>
              </a:ext>
            </a:extLst>
          </p:cNvPr>
          <p:cNvSpPr/>
          <p:nvPr/>
        </p:nvSpPr>
        <p:spPr>
          <a:xfrm>
            <a:off x="861858" y="3260550"/>
            <a:ext cx="504056" cy="5040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2C7B8892-C253-4A97-AA32-D6FB69C99BD5}"/>
              </a:ext>
            </a:extLst>
          </p:cNvPr>
          <p:cNvSpPr/>
          <p:nvPr/>
        </p:nvSpPr>
        <p:spPr>
          <a:xfrm>
            <a:off x="2039076" y="3249676"/>
            <a:ext cx="504056" cy="50405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4746918D-A3E3-D004-B603-54072E327B1E}"/>
              </a:ext>
            </a:extLst>
          </p:cNvPr>
          <p:cNvSpPr/>
          <p:nvPr/>
        </p:nvSpPr>
        <p:spPr>
          <a:xfrm>
            <a:off x="3273414" y="3274551"/>
            <a:ext cx="504056" cy="50405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E9C8907F-A5EC-8B20-25BA-F5062B52A830}"/>
              </a:ext>
            </a:extLst>
          </p:cNvPr>
          <p:cNvSpPr/>
          <p:nvPr/>
        </p:nvSpPr>
        <p:spPr>
          <a:xfrm>
            <a:off x="1784450" y="4057492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highlight>
                  <a:srgbClr val="FFFF00"/>
                </a:highlight>
              </a:rPr>
              <a:t>3</a:t>
            </a:r>
            <a:endParaRPr lang="ru-RU" sz="12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3B753047-D594-539F-E3A6-E715CCFB4FE3}"/>
              </a:ext>
            </a:extLst>
          </p:cNvPr>
          <p:cNvSpPr/>
          <p:nvPr/>
        </p:nvSpPr>
        <p:spPr>
          <a:xfrm>
            <a:off x="2454556" y="4063077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highlight>
                  <a:srgbClr val="FFFF00"/>
                </a:highlight>
              </a:rPr>
              <a:t>8</a:t>
            </a:r>
            <a:endParaRPr lang="ru-RU" sz="12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1E936035-6793-B3CD-2B7A-6143632ED84B}"/>
              </a:ext>
            </a:extLst>
          </p:cNvPr>
          <p:cNvCxnSpPr>
            <a:stCxn id="5" idx="3"/>
            <a:endCxn id="7" idx="0"/>
          </p:cNvCxnSpPr>
          <p:nvPr/>
        </p:nvCxnSpPr>
        <p:spPr>
          <a:xfrm flipH="1">
            <a:off x="1113886" y="2935202"/>
            <a:ext cx="417685" cy="325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D7E5D357-4128-E350-B641-B7B0F909EA4E}"/>
              </a:ext>
            </a:extLst>
          </p:cNvPr>
          <p:cNvCxnSpPr>
            <a:cxnSpLocks/>
            <a:stCxn id="6" idx="5"/>
            <a:endCxn id="24" idx="0"/>
          </p:cNvCxnSpPr>
          <p:nvPr/>
        </p:nvCxnSpPr>
        <p:spPr>
          <a:xfrm>
            <a:off x="3796468" y="2846289"/>
            <a:ext cx="990878" cy="464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5BEA600A-0E20-A391-0A3C-C2DF15BD2879}"/>
              </a:ext>
            </a:extLst>
          </p:cNvPr>
          <p:cNvCxnSpPr>
            <a:stCxn id="8" idx="3"/>
            <a:endCxn id="10" idx="0"/>
          </p:cNvCxnSpPr>
          <p:nvPr/>
        </p:nvCxnSpPr>
        <p:spPr>
          <a:xfrm flipH="1">
            <a:off x="2036478" y="3679915"/>
            <a:ext cx="76415" cy="377577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0FBA4B77-0FF2-23FB-7220-106796612DB2}"/>
              </a:ext>
            </a:extLst>
          </p:cNvPr>
          <p:cNvCxnSpPr>
            <a:stCxn id="8" idx="5"/>
            <a:endCxn id="11" idx="0"/>
          </p:cNvCxnSpPr>
          <p:nvPr/>
        </p:nvCxnSpPr>
        <p:spPr>
          <a:xfrm>
            <a:off x="2469315" y="3679915"/>
            <a:ext cx="237269" cy="383162"/>
          </a:xfrm>
          <a:prstGeom prst="straightConnector1">
            <a:avLst/>
          </a:prstGeom>
          <a:ln w="19050">
            <a:solidFill>
              <a:srgbClr val="0A0A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D526D603-1A13-B2B3-E86C-86A36935369C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1709782" y="2299495"/>
            <a:ext cx="844338" cy="205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03C1A0EF-1F78-8405-1DDB-7BB2702EB32E}"/>
              </a:ext>
            </a:extLst>
          </p:cNvPr>
          <p:cNvCxnSpPr/>
          <p:nvPr/>
        </p:nvCxnSpPr>
        <p:spPr>
          <a:xfrm>
            <a:off x="2937937" y="2301006"/>
            <a:ext cx="484343" cy="240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9F04405C-921C-5FB8-2E9D-94E71626F5B3}"/>
              </a:ext>
            </a:extLst>
          </p:cNvPr>
          <p:cNvCxnSpPr>
            <a:stCxn id="5" idx="5"/>
            <a:endCxn id="8" idx="0"/>
          </p:cNvCxnSpPr>
          <p:nvPr/>
        </p:nvCxnSpPr>
        <p:spPr>
          <a:xfrm>
            <a:off x="1887993" y="2935202"/>
            <a:ext cx="403111" cy="314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Овал 18">
            <a:extLst>
              <a:ext uri="{FF2B5EF4-FFF2-40B4-BE49-F238E27FC236}">
                <a16:creationId xmlns:a16="http://schemas.microsoft.com/office/drawing/2014/main" id="{B8AF0A74-668D-BF4A-8B55-EEAAE3D3F0D9}"/>
              </a:ext>
            </a:extLst>
          </p:cNvPr>
          <p:cNvSpPr/>
          <p:nvPr/>
        </p:nvSpPr>
        <p:spPr>
          <a:xfrm>
            <a:off x="4212140" y="4065201"/>
            <a:ext cx="504056" cy="504056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05DACA38-76A0-D414-D66D-EEA7475E9F55}"/>
              </a:ext>
            </a:extLst>
          </p:cNvPr>
          <p:cNvSpPr/>
          <p:nvPr/>
        </p:nvSpPr>
        <p:spPr>
          <a:xfrm>
            <a:off x="4790637" y="4060948"/>
            <a:ext cx="504056" cy="504056"/>
          </a:xfrm>
          <a:prstGeom prst="ellipse">
            <a:avLst/>
          </a:prstGeom>
          <a:noFill/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37976D8B-B672-70A9-6957-F945B356DF20}"/>
              </a:ext>
            </a:extLst>
          </p:cNvPr>
          <p:cNvCxnSpPr>
            <a:stCxn id="6" idx="4"/>
            <a:endCxn id="9" idx="0"/>
          </p:cNvCxnSpPr>
          <p:nvPr/>
        </p:nvCxnSpPr>
        <p:spPr>
          <a:xfrm flipH="1">
            <a:off x="3525442" y="2920106"/>
            <a:ext cx="92815" cy="354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3EACC8DF-B765-8D40-AB80-3E504C924709}"/>
              </a:ext>
            </a:extLst>
          </p:cNvPr>
          <p:cNvCxnSpPr>
            <a:cxnSpLocks/>
            <a:stCxn id="24" idx="4"/>
            <a:endCxn id="19" idx="0"/>
          </p:cNvCxnSpPr>
          <p:nvPr/>
        </p:nvCxnSpPr>
        <p:spPr>
          <a:xfrm flipH="1">
            <a:off x="4464168" y="3796204"/>
            <a:ext cx="323178" cy="268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15990262-C5D7-1A5D-AD05-4C5793BE0766}"/>
              </a:ext>
            </a:extLst>
          </p:cNvPr>
          <p:cNvCxnSpPr>
            <a:cxnSpLocks/>
            <a:stCxn id="24" idx="4"/>
            <a:endCxn id="20" idx="0"/>
          </p:cNvCxnSpPr>
          <p:nvPr/>
        </p:nvCxnSpPr>
        <p:spPr>
          <a:xfrm>
            <a:off x="4787346" y="3796204"/>
            <a:ext cx="255319" cy="264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Овал 23">
            <a:extLst>
              <a:ext uri="{FF2B5EF4-FFF2-40B4-BE49-F238E27FC236}">
                <a16:creationId xmlns:a16="http://schemas.microsoft.com/office/drawing/2014/main" id="{951C367F-D2CC-828E-B958-E6F2A5C9AD2D}"/>
              </a:ext>
            </a:extLst>
          </p:cNvPr>
          <p:cNvSpPr/>
          <p:nvPr/>
        </p:nvSpPr>
        <p:spPr>
          <a:xfrm>
            <a:off x="4532026" y="3311243"/>
            <a:ext cx="510639" cy="484961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A4C407-4948-210C-C2DB-89641B5093F9}"/>
              </a:ext>
            </a:extLst>
          </p:cNvPr>
          <p:cNvSpPr txBox="1"/>
          <p:nvPr/>
        </p:nvSpPr>
        <p:spPr>
          <a:xfrm>
            <a:off x="2423592" y="1556792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[0,9)</a:t>
            </a:r>
            <a:endParaRPr lang="ru-BY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895536-4D53-F10E-B047-E3A0FD9B9D3F}"/>
              </a:ext>
            </a:extLst>
          </p:cNvPr>
          <p:cNvSpPr txBox="1"/>
          <p:nvPr/>
        </p:nvSpPr>
        <p:spPr>
          <a:xfrm>
            <a:off x="1901746" y="2573089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[0,4)</a:t>
            </a:r>
            <a:endParaRPr lang="ru-BY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187D12-5F6D-47F4-30A3-8C1B099ACB7E}"/>
              </a:ext>
            </a:extLst>
          </p:cNvPr>
          <p:cNvSpPr txBox="1"/>
          <p:nvPr/>
        </p:nvSpPr>
        <p:spPr>
          <a:xfrm>
            <a:off x="3866414" y="251056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[4,9)</a:t>
            </a:r>
            <a:endParaRPr lang="ru-BY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AC95B2-09C6-457A-C0E4-511417A5202E}"/>
              </a:ext>
            </a:extLst>
          </p:cNvPr>
          <p:cNvSpPr txBox="1"/>
          <p:nvPr/>
        </p:nvSpPr>
        <p:spPr>
          <a:xfrm>
            <a:off x="5007365" y="332953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</a:t>
            </a:r>
            <a:r>
              <a:rPr lang="ru-RU" dirty="0"/>
              <a:t>6</a:t>
            </a:r>
            <a:r>
              <a:rPr lang="en-US" dirty="0"/>
              <a:t>,9)</a:t>
            </a:r>
            <a:endParaRPr lang="ru-BY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60E947-0E30-6A2D-8599-813DF4DE91A2}"/>
              </a:ext>
            </a:extLst>
          </p:cNvPr>
          <p:cNvSpPr txBox="1"/>
          <p:nvPr/>
        </p:nvSpPr>
        <p:spPr>
          <a:xfrm>
            <a:off x="5237786" y="4491211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</a:t>
            </a:r>
            <a:r>
              <a:rPr lang="ru-RU" dirty="0"/>
              <a:t>7</a:t>
            </a:r>
            <a:r>
              <a:rPr lang="en-US" dirty="0"/>
              <a:t>,</a:t>
            </a:r>
            <a:r>
              <a:rPr lang="ru-RU" dirty="0"/>
              <a:t>9</a:t>
            </a:r>
            <a:r>
              <a:rPr lang="en-US" dirty="0"/>
              <a:t>)</a:t>
            </a:r>
            <a:endParaRPr lang="ru-BY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9581F4D-1678-AC7A-FF04-542507F85D0A}"/>
              </a:ext>
            </a:extLst>
          </p:cNvPr>
          <p:cNvSpPr txBox="1"/>
          <p:nvPr/>
        </p:nvSpPr>
        <p:spPr>
          <a:xfrm>
            <a:off x="4184275" y="457776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[6,7)</a:t>
            </a:r>
            <a:endParaRPr lang="ru-BY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24ADF7-1628-1C3E-AEE4-03AB462D2ECA}"/>
              </a:ext>
            </a:extLst>
          </p:cNvPr>
          <p:cNvSpPr txBox="1"/>
          <p:nvPr/>
        </p:nvSpPr>
        <p:spPr>
          <a:xfrm>
            <a:off x="3726823" y="3393739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[4,6)</a:t>
            </a:r>
            <a:endParaRPr lang="ru-BY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4AE3DA9-9038-AA71-8E76-8164713B9435}"/>
              </a:ext>
            </a:extLst>
          </p:cNvPr>
          <p:cNvSpPr txBox="1"/>
          <p:nvPr/>
        </p:nvSpPr>
        <p:spPr>
          <a:xfrm>
            <a:off x="1310537" y="3278183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[0,2)</a:t>
            </a:r>
            <a:endParaRPr lang="ru-BY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8FB6F9-A832-873C-C86C-846245EE32E4}"/>
              </a:ext>
            </a:extLst>
          </p:cNvPr>
          <p:cNvSpPr txBox="1"/>
          <p:nvPr/>
        </p:nvSpPr>
        <p:spPr>
          <a:xfrm>
            <a:off x="2446622" y="4618389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[3,4)</a:t>
            </a:r>
            <a:endParaRPr lang="ru-BY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27D827-1151-37A3-B90E-E8ED37C09BD9}"/>
              </a:ext>
            </a:extLst>
          </p:cNvPr>
          <p:cNvSpPr txBox="1"/>
          <p:nvPr/>
        </p:nvSpPr>
        <p:spPr>
          <a:xfrm>
            <a:off x="1713950" y="458303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[2,3)</a:t>
            </a:r>
            <a:endParaRPr lang="ru-BY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BFEB7D7-D3D3-8925-7CE8-5CA0401E54B4}"/>
              </a:ext>
            </a:extLst>
          </p:cNvPr>
          <p:cNvSpPr txBox="1"/>
          <p:nvPr/>
        </p:nvSpPr>
        <p:spPr>
          <a:xfrm>
            <a:off x="2466669" y="330418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[2,4)</a:t>
            </a:r>
            <a:endParaRPr lang="ru-BY" dirty="0"/>
          </a:p>
        </p:txBody>
      </p:sp>
      <p:sp>
        <p:nvSpPr>
          <p:cNvPr id="36" name="Овал 35">
            <a:extLst>
              <a:ext uri="{FF2B5EF4-FFF2-40B4-BE49-F238E27FC236}">
                <a16:creationId xmlns:a16="http://schemas.microsoft.com/office/drawing/2014/main" id="{F59FFB9C-8B23-D3DB-F056-15F61E6C17CD}"/>
              </a:ext>
            </a:extLst>
          </p:cNvPr>
          <p:cNvSpPr/>
          <p:nvPr/>
        </p:nvSpPr>
        <p:spPr>
          <a:xfrm>
            <a:off x="525018" y="4057492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highlight>
                  <a:srgbClr val="FFFF00"/>
                </a:highlight>
              </a:rPr>
              <a:t>2</a:t>
            </a:r>
            <a:endParaRPr lang="ru-RU" sz="12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37" name="Овал 36">
            <a:extLst>
              <a:ext uri="{FF2B5EF4-FFF2-40B4-BE49-F238E27FC236}">
                <a16:creationId xmlns:a16="http://schemas.microsoft.com/office/drawing/2014/main" id="{369088A0-2C7B-2085-F62F-B4A5224161D0}"/>
              </a:ext>
            </a:extLst>
          </p:cNvPr>
          <p:cNvSpPr/>
          <p:nvPr/>
        </p:nvSpPr>
        <p:spPr>
          <a:xfrm>
            <a:off x="1152734" y="4040032"/>
            <a:ext cx="504056" cy="504056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highlight>
                  <a:srgbClr val="FFFF00"/>
                </a:highlight>
              </a:rPr>
              <a:t>7</a:t>
            </a:r>
            <a:endParaRPr lang="ru-RU" sz="12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40E44F0D-DE20-4E16-570D-3756C679BE72}"/>
              </a:ext>
            </a:extLst>
          </p:cNvPr>
          <p:cNvCxnSpPr>
            <a:stCxn id="7" idx="4"/>
            <a:endCxn id="36" idx="0"/>
          </p:cNvCxnSpPr>
          <p:nvPr/>
        </p:nvCxnSpPr>
        <p:spPr>
          <a:xfrm flipH="1">
            <a:off x="777046" y="3764606"/>
            <a:ext cx="336840" cy="292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6C429260-41FE-0951-4536-9A379C6A6EA1}"/>
              </a:ext>
            </a:extLst>
          </p:cNvPr>
          <p:cNvCxnSpPr>
            <a:stCxn id="7" idx="4"/>
            <a:endCxn id="37" idx="0"/>
          </p:cNvCxnSpPr>
          <p:nvPr/>
        </p:nvCxnSpPr>
        <p:spPr>
          <a:xfrm>
            <a:off x="1113886" y="3764606"/>
            <a:ext cx="290876" cy="275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D6DD236-6C2A-2BF4-AB00-381903A67648}"/>
              </a:ext>
            </a:extLst>
          </p:cNvPr>
          <p:cNvSpPr txBox="1"/>
          <p:nvPr/>
        </p:nvSpPr>
        <p:spPr>
          <a:xfrm>
            <a:off x="417851" y="4569886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[0,1)</a:t>
            </a:r>
            <a:endParaRPr lang="ru-BY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0C9996-59CC-B291-F0F7-39C81EC37C35}"/>
              </a:ext>
            </a:extLst>
          </p:cNvPr>
          <p:cNvSpPr txBox="1"/>
          <p:nvPr/>
        </p:nvSpPr>
        <p:spPr>
          <a:xfrm>
            <a:off x="1038620" y="4569886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[1,2)</a:t>
            </a:r>
            <a:endParaRPr lang="ru-BY" dirty="0"/>
          </a:p>
        </p:txBody>
      </p:sp>
      <p:sp>
        <p:nvSpPr>
          <p:cNvPr id="42" name="Овал 41">
            <a:extLst>
              <a:ext uri="{FF2B5EF4-FFF2-40B4-BE49-F238E27FC236}">
                <a16:creationId xmlns:a16="http://schemas.microsoft.com/office/drawing/2014/main" id="{70CFA5E4-9A6C-EF86-0C54-E4640AF95EA7}"/>
              </a:ext>
            </a:extLst>
          </p:cNvPr>
          <p:cNvSpPr/>
          <p:nvPr/>
        </p:nvSpPr>
        <p:spPr>
          <a:xfrm>
            <a:off x="3013864" y="4108986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highlight>
                  <a:srgbClr val="FFFF00"/>
                </a:highlight>
              </a:rPr>
              <a:t>14</a:t>
            </a:r>
            <a:endParaRPr lang="ru-RU" sz="12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43" name="Овал 42">
            <a:extLst>
              <a:ext uri="{FF2B5EF4-FFF2-40B4-BE49-F238E27FC236}">
                <a16:creationId xmlns:a16="http://schemas.microsoft.com/office/drawing/2014/main" id="{4CCFD051-26A4-FEB8-C92A-4928753FABB8}"/>
              </a:ext>
            </a:extLst>
          </p:cNvPr>
          <p:cNvSpPr/>
          <p:nvPr/>
        </p:nvSpPr>
        <p:spPr>
          <a:xfrm>
            <a:off x="3637865" y="4108986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highlight>
                  <a:srgbClr val="FFFF00"/>
                </a:highlight>
              </a:rPr>
              <a:t>12</a:t>
            </a:r>
            <a:endParaRPr lang="ru-RU" sz="12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6AB7CBEB-298A-0867-C4E8-3FD99CB364B5}"/>
              </a:ext>
            </a:extLst>
          </p:cNvPr>
          <p:cNvCxnSpPr>
            <a:stCxn id="9" idx="4"/>
            <a:endCxn id="42" idx="0"/>
          </p:cNvCxnSpPr>
          <p:nvPr/>
        </p:nvCxnSpPr>
        <p:spPr>
          <a:xfrm flipH="1">
            <a:off x="3265892" y="3778607"/>
            <a:ext cx="259550" cy="330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9DED036E-7003-A262-B33C-8BDC60FD48AC}"/>
              </a:ext>
            </a:extLst>
          </p:cNvPr>
          <p:cNvCxnSpPr>
            <a:stCxn id="9" idx="4"/>
            <a:endCxn id="43" idx="0"/>
          </p:cNvCxnSpPr>
          <p:nvPr/>
        </p:nvCxnSpPr>
        <p:spPr>
          <a:xfrm>
            <a:off x="3525442" y="3778607"/>
            <a:ext cx="364451" cy="330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DBF8422-837A-071F-57BE-04F8463F2527}"/>
              </a:ext>
            </a:extLst>
          </p:cNvPr>
          <p:cNvSpPr txBox="1"/>
          <p:nvPr/>
        </p:nvSpPr>
        <p:spPr>
          <a:xfrm>
            <a:off x="3007247" y="4596301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[4,5)</a:t>
            </a:r>
            <a:endParaRPr lang="ru-BY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AB98BD-88FE-4C4A-48AD-078701AA2358}"/>
              </a:ext>
            </a:extLst>
          </p:cNvPr>
          <p:cNvSpPr txBox="1"/>
          <p:nvPr/>
        </p:nvSpPr>
        <p:spPr>
          <a:xfrm>
            <a:off x="3603287" y="461334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[5,6)</a:t>
            </a:r>
            <a:endParaRPr lang="ru-BY" dirty="0"/>
          </a:p>
        </p:txBody>
      </p:sp>
      <p:sp>
        <p:nvSpPr>
          <p:cNvPr id="48" name="Овал 47">
            <a:extLst>
              <a:ext uri="{FF2B5EF4-FFF2-40B4-BE49-F238E27FC236}">
                <a16:creationId xmlns:a16="http://schemas.microsoft.com/office/drawing/2014/main" id="{9AC9DCCB-B745-6538-FEC9-5D146703248B}"/>
              </a:ext>
            </a:extLst>
          </p:cNvPr>
          <p:cNvSpPr/>
          <p:nvPr/>
        </p:nvSpPr>
        <p:spPr>
          <a:xfrm>
            <a:off x="4479438" y="4914097"/>
            <a:ext cx="525756" cy="504056"/>
          </a:xfrm>
          <a:prstGeom prst="ellipse">
            <a:avLst/>
          </a:prstGeom>
          <a:solidFill>
            <a:srgbClr val="FFFF00"/>
          </a:solidFill>
          <a:ln>
            <a:solidFill>
              <a:srgbClr val="0A0A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highlight>
                  <a:srgbClr val="FFFF00"/>
                </a:highlight>
              </a:rPr>
              <a:t>1</a:t>
            </a:r>
            <a:endParaRPr lang="ru-RU" sz="12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49" name="Овал 48">
            <a:extLst>
              <a:ext uri="{FF2B5EF4-FFF2-40B4-BE49-F238E27FC236}">
                <a16:creationId xmlns:a16="http://schemas.microsoft.com/office/drawing/2014/main" id="{D0D786F6-B67F-A616-D655-5DA0DDCD5075}"/>
              </a:ext>
            </a:extLst>
          </p:cNvPr>
          <p:cNvSpPr/>
          <p:nvPr/>
        </p:nvSpPr>
        <p:spPr>
          <a:xfrm>
            <a:off x="5262180" y="4893191"/>
            <a:ext cx="504056" cy="504056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highlight>
                  <a:srgbClr val="FFFF00"/>
                </a:highlight>
              </a:rPr>
              <a:t>5</a:t>
            </a:r>
            <a:endParaRPr lang="ru-RU" sz="12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cxnSp>
        <p:nvCxnSpPr>
          <p:cNvPr id="50" name="Прямая со стрелкой 49">
            <a:extLst>
              <a:ext uri="{FF2B5EF4-FFF2-40B4-BE49-F238E27FC236}">
                <a16:creationId xmlns:a16="http://schemas.microsoft.com/office/drawing/2014/main" id="{207D1042-1AC3-604D-A2E2-FA45D339EC9D}"/>
              </a:ext>
            </a:extLst>
          </p:cNvPr>
          <p:cNvCxnSpPr>
            <a:cxnSpLocks/>
            <a:stCxn id="20" idx="4"/>
            <a:endCxn id="48" idx="0"/>
          </p:cNvCxnSpPr>
          <p:nvPr/>
        </p:nvCxnSpPr>
        <p:spPr>
          <a:xfrm flipH="1">
            <a:off x="4742316" y="4565004"/>
            <a:ext cx="300349" cy="349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Прямая со стрелкой 50">
            <a:extLst>
              <a:ext uri="{FF2B5EF4-FFF2-40B4-BE49-F238E27FC236}">
                <a16:creationId xmlns:a16="http://schemas.microsoft.com/office/drawing/2014/main" id="{2D1289CB-C1BB-53FD-5912-A2B92A17D4C5}"/>
              </a:ext>
            </a:extLst>
          </p:cNvPr>
          <p:cNvCxnSpPr>
            <a:cxnSpLocks/>
          </p:cNvCxnSpPr>
          <p:nvPr/>
        </p:nvCxnSpPr>
        <p:spPr>
          <a:xfrm>
            <a:off x="5010043" y="4565004"/>
            <a:ext cx="397289" cy="352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FD08C94D-27FC-2559-C2F8-BE70B735EA4D}"/>
              </a:ext>
            </a:extLst>
          </p:cNvPr>
          <p:cNvSpPr txBox="1"/>
          <p:nvPr/>
        </p:nvSpPr>
        <p:spPr>
          <a:xfrm>
            <a:off x="3937021" y="500068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[7,8)</a:t>
            </a:r>
            <a:endParaRPr lang="ru-BY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01713D8-DD2F-EBCD-7C0F-94E8D015687D}"/>
              </a:ext>
            </a:extLst>
          </p:cNvPr>
          <p:cNvSpPr txBox="1"/>
          <p:nvPr/>
        </p:nvSpPr>
        <p:spPr>
          <a:xfrm>
            <a:off x="5709227" y="4998964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[8,9)</a:t>
            </a:r>
            <a:endParaRPr lang="ru-BY" dirty="0"/>
          </a:p>
        </p:txBody>
      </p:sp>
      <p:graphicFrame>
        <p:nvGraphicFramePr>
          <p:cNvPr id="56" name="Таблица 55">
            <a:extLst>
              <a:ext uri="{FF2B5EF4-FFF2-40B4-BE49-F238E27FC236}">
                <a16:creationId xmlns:a16="http://schemas.microsoft.com/office/drawing/2014/main" id="{AC006566-B64D-4FAD-7E97-96B2C39E5E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195573"/>
              </p:ext>
            </p:extLst>
          </p:nvPr>
        </p:nvGraphicFramePr>
        <p:xfrm>
          <a:off x="5925145" y="471429"/>
          <a:ext cx="389318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576">
                  <a:extLst>
                    <a:ext uri="{9D8B030D-6E8A-4147-A177-3AD203B41FA5}">
                      <a16:colId xmlns:a16="http://schemas.microsoft.com/office/drawing/2014/main" val="3333962665"/>
                    </a:ext>
                  </a:extLst>
                </a:gridCol>
                <a:gridCol w="432576">
                  <a:extLst>
                    <a:ext uri="{9D8B030D-6E8A-4147-A177-3AD203B41FA5}">
                      <a16:colId xmlns:a16="http://schemas.microsoft.com/office/drawing/2014/main" val="3568347458"/>
                    </a:ext>
                  </a:extLst>
                </a:gridCol>
                <a:gridCol w="432576">
                  <a:extLst>
                    <a:ext uri="{9D8B030D-6E8A-4147-A177-3AD203B41FA5}">
                      <a16:colId xmlns:a16="http://schemas.microsoft.com/office/drawing/2014/main" val="2150607796"/>
                    </a:ext>
                  </a:extLst>
                </a:gridCol>
                <a:gridCol w="432576">
                  <a:extLst>
                    <a:ext uri="{9D8B030D-6E8A-4147-A177-3AD203B41FA5}">
                      <a16:colId xmlns:a16="http://schemas.microsoft.com/office/drawing/2014/main" val="1278484228"/>
                    </a:ext>
                  </a:extLst>
                </a:gridCol>
                <a:gridCol w="432576">
                  <a:extLst>
                    <a:ext uri="{9D8B030D-6E8A-4147-A177-3AD203B41FA5}">
                      <a16:colId xmlns:a16="http://schemas.microsoft.com/office/drawing/2014/main" val="2603389566"/>
                    </a:ext>
                  </a:extLst>
                </a:gridCol>
                <a:gridCol w="432576">
                  <a:extLst>
                    <a:ext uri="{9D8B030D-6E8A-4147-A177-3AD203B41FA5}">
                      <a16:colId xmlns:a16="http://schemas.microsoft.com/office/drawing/2014/main" val="1443179518"/>
                    </a:ext>
                  </a:extLst>
                </a:gridCol>
                <a:gridCol w="432576">
                  <a:extLst>
                    <a:ext uri="{9D8B030D-6E8A-4147-A177-3AD203B41FA5}">
                      <a16:colId xmlns:a16="http://schemas.microsoft.com/office/drawing/2014/main" val="2812786249"/>
                    </a:ext>
                  </a:extLst>
                </a:gridCol>
                <a:gridCol w="432576">
                  <a:extLst>
                    <a:ext uri="{9D8B030D-6E8A-4147-A177-3AD203B41FA5}">
                      <a16:colId xmlns:a16="http://schemas.microsoft.com/office/drawing/2014/main" val="2804998130"/>
                    </a:ext>
                  </a:extLst>
                </a:gridCol>
                <a:gridCol w="432576">
                  <a:extLst>
                    <a:ext uri="{9D8B030D-6E8A-4147-A177-3AD203B41FA5}">
                      <a16:colId xmlns:a16="http://schemas.microsoft.com/office/drawing/2014/main" val="2012743565"/>
                    </a:ext>
                  </a:extLst>
                </a:gridCol>
              </a:tblGrid>
              <a:tr h="36440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09445"/>
                  </a:ext>
                </a:extLst>
              </a:tr>
            </a:tbl>
          </a:graphicData>
        </a:graphic>
      </p:graphicFrame>
      <p:graphicFrame>
        <p:nvGraphicFramePr>
          <p:cNvPr id="69" name="Таблица 69">
            <a:extLst>
              <a:ext uri="{FF2B5EF4-FFF2-40B4-BE49-F238E27FC236}">
                <a16:creationId xmlns:a16="http://schemas.microsoft.com/office/drawing/2014/main" id="{72286D4B-20AF-BD7D-5B62-99746DA8E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553577"/>
              </p:ext>
            </p:extLst>
          </p:nvPr>
        </p:nvGraphicFramePr>
        <p:xfrm>
          <a:off x="302484" y="5310864"/>
          <a:ext cx="7127860" cy="6021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393">
                  <a:extLst>
                    <a:ext uri="{9D8B030D-6E8A-4147-A177-3AD203B41FA5}">
                      <a16:colId xmlns:a16="http://schemas.microsoft.com/office/drawing/2014/main" val="2914432633"/>
                    </a:ext>
                  </a:extLst>
                </a:gridCol>
                <a:gridCol w="356393">
                  <a:extLst>
                    <a:ext uri="{9D8B030D-6E8A-4147-A177-3AD203B41FA5}">
                      <a16:colId xmlns:a16="http://schemas.microsoft.com/office/drawing/2014/main" val="3274986702"/>
                    </a:ext>
                  </a:extLst>
                </a:gridCol>
                <a:gridCol w="356393">
                  <a:extLst>
                    <a:ext uri="{9D8B030D-6E8A-4147-A177-3AD203B41FA5}">
                      <a16:colId xmlns:a16="http://schemas.microsoft.com/office/drawing/2014/main" val="733565252"/>
                    </a:ext>
                  </a:extLst>
                </a:gridCol>
                <a:gridCol w="356393">
                  <a:extLst>
                    <a:ext uri="{9D8B030D-6E8A-4147-A177-3AD203B41FA5}">
                      <a16:colId xmlns:a16="http://schemas.microsoft.com/office/drawing/2014/main" val="3706632058"/>
                    </a:ext>
                  </a:extLst>
                </a:gridCol>
                <a:gridCol w="356393">
                  <a:extLst>
                    <a:ext uri="{9D8B030D-6E8A-4147-A177-3AD203B41FA5}">
                      <a16:colId xmlns:a16="http://schemas.microsoft.com/office/drawing/2014/main" val="2153765379"/>
                    </a:ext>
                  </a:extLst>
                </a:gridCol>
                <a:gridCol w="356393">
                  <a:extLst>
                    <a:ext uri="{9D8B030D-6E8A-4147-A177-3AD203B41FA5}">
                      <a16:colId xmlns:a16="http://schemas.microsoft.com/office/drawing/2014/main" val="3240028170"/>
                    </a:ext>
                  </a:extLst>
                </a:gridCol>
                <a:gridCol w="356393">
                  <a:extLst>
                    <a:ext uri="{9D8B030D-6E8A-4147-A177-3AD203B41FA5}">
                      <a16:colId xmlns:a16="http://schemas.microsoft.com/office/drawing/2014/main" val="2991236167"/>
                    </a:ext>
                  </a:extLst>
                </a:gridCol>
                <a:gridCol w="356393">
                  <a:extLst>
                    <a:ext uri="{9D8B030D-6E8A-4147-A177-3AD203B41FA5}">
                      <a16:colId xmlns:a16="http://schemas.microsoft.com/office/drawing/2014/main" val="2371382462"/>
                    </a:ext>
                  </a:extLst>
                </a:gridCol>
                <a:gridCol w="356393">
                  <a:extLst>
                    <a:ext uri="{9D8B030D-6E8A-4147-A177-3AD203B41FA5}">
                      <a16:colId xmlns:a16="http://schemas.microsoft.com/office/drawing/2014/main" val="4185812163"/>
                    </a:ext>
                  </a:extLst>
                </a:gridCol>
                <a:gridCol w="356393">
                  <a:extLst>
                    <a:ext uri="{9D8B030D-6E8A-4147-A177-3AD203B41FA5}">
                      <a16:colId xmlns:a16="http://schemas.microsoft.com/office/drawing/2014/main" val="3500238394"/>
                    </a:ext>
                  </a:extLst>
                </a:gridCol>
                <a:gridCol w="356393">
                  <a:extLst>
                    <a:ext uri="{9D8B030D-6E8A-4147-A177-3AD203B41FA5}">
                      <a16:colId xmlns:a16="http://schemas.microsoft.com/office/drawing/2014/main" val="3783311881"/>
                    </a:ext>
                  </a:extLst>
                </a:gridCol>
                <a:gridCol w="356393">
                  <a:extLst>
                    <a:ext uri="{9D8B030D-6E8A-4147-A177-3AD203B41FA5}">
                      <a16:colId xmlns:a16="http://schemas.microsoft.com/office/drawing/2014/main" val="1120481116"/>
                    </a:ext>
                  </a:extLst>
                </a:gridCol>
                <a:gridCol w="356393">
                  <a:extLst>
                    <a:ext uri="{9D8B030D-6E8A-4147-A177-3AD203B41FA5}">
                      <a16:colId xmlns:a16="http://schemas.microsoft.com/office/drawing/2014/main" val="1248283107"/>
                    </a:ext>
                  </a:extLst>
                </a:gridCol>
                <a:gridCol w="356393">
                  <a:extLst>
                    <a:ext uri="{9D8B030D-6E8A-4147-A177-3AD203B41FA5}">
                      <a16:colId xmlns:a16="http://schemas.microsoft.com/office/drawing/2014/main" val="665317409"/>
                    </a:ext>
                  </a:extLst>
                </a:gridCol>
                <a:gridCol w="356393">
                  <a:extLst>
                    <a:ext uri="{9D8B030D-6E8A-4147-A177-3AD203B41FA5}">
                      <a16:colId xmlns:a16="http://schemas.microsoft.com/office/drawing/2014/main" val="3811121280"/>
                    </a:ext>
                  </a:extLst>
                </a:gridCol>
                <a:gridCol w="356393">
                  <a:extLst>
                    <a:ext uri="{9D8B030D-6E8A-4147-A177-3AD203B41FA5}">
                      <a16:colId xmlns:a16="http://schemas.microsoft.com/office/drawing/2014/main" val="1787434588"/>
                    </a:ext>
                  </a:extLst>
                </a:gridCol>
                <a:gridCol w="356393">
                  <a:extLst>
                    <a:ext uri="{9D8B030D-6E8A-4147-A177-3AD203B41FA5}">
                      <a16:colId xmlns:a16="http://schemas.microsoft.com/office/drawing/2014/main" val="1126470875"/>
                    </a:ext>
                  </a:extLst>
                </a:gridCol>
                <a:gridCol w="356393">
                  <a:extLst>
                    <a:ext uri="{9D8B030D-6E8A-4147-A177-3AD203B41FA5}">
                      <a16:colId xmlns:a16="http://schemas.microsoft.com/office/drawing/2014/main" val="118337050"/>
                    </a:ext>
                  </a:extLst>
                </a:gridCol>
                <a:gridCol w="356393">
                  <a:extLst>
                    <a:ext uri="{9D8B030D-6E8A-4147-A177-3AD203B41FA5}">
                      <a16:colId xmlns:a16="http://schemas.microsoft.com/office/drawing/2014/main" val="2410532182"/>
                    </a:ext>
                  </a:extLst>
                </a:gridCol>
                <a:gridCol w="356393">
                  <a:extLst>
                    <a:ext uri="{9D8B030D-6E8A-4147-A177-3AD203B41FA5}">
                      <a16:colId xmlns:a16="http://schemas.microsoft.com/office/drawing/2014/main" val="3208262963"/>
                    </a:ext>
                  </a:extLst>
                </a:gridCol>
              </a:tblGrid>
              <a:tr h="206798"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31</a:t>
                      </a:r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2809158"/>
                  </a:ext>
                </a:extLst>
              </a:tr>
              <a:tr h="327802"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571119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E65D8732-6561-F884-9C8D-4D55949C47A0}"/>
                  </a:ext>
                </a:extLst>
              </p:cNvPr>
              <p:cNvSpPr txBox="1"/>
              <p:nvPr/>
            </p:nvSpPr>
            <p:spPr>
              <a:xfrm>
                <a:off x="5493097" y="482356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ru-BY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E65D8732-6561-F884-9C8D-4D55949C4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3097" y="482356"/>
                <a:ext cx="38985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04E3612-1FAB-D6E4-EE71-BE926EEFEBA9}"/>
                  </a:ext>
                </a:extLst>
              </p:cNvPr>
              <p:cNvSpPr txBox="1"/>
              <p:nvPr/>
            </p:nvSpPr>
            <p:spPr>
              <a:xfrm>
                <a:off x="-65282" y="5545142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04E3612-1FAB-D6E4-EE71-BE926EEFE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5282" y="5545142"/>
                <a:ext cx="38048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Прямая соединительная линия 74">
            <a:extLst>
              <a:ext uri="{FF2B5EF4-FFF2-40B4-BE49-F238E27FC236}">
                <a16:creationId xmlns:a16="http://schemas.microsoft.com/office/drawing/2014/main" id="{3D715336-1D71-FAE1-DBFA-A672B2B1D900}"/>
              </a:ext>
            </a:extLst>
          </p:cNvPr>
          <p:cNvCxnSpPr/>
          <p:nvPr/>
        </p:nvCxnSpPr>
        <p:spPr>
          <a:xfrm>
            <a:off x="7410138" y="1393196"/>
            <a:ext cx="72008" cy="53285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6" name="Таблица 75">
            <a:extLst>
              <a:ext uri="{FF2B5EF4-FFF2-40B4-BE49-F238E27FC236}">
                <a16:creationId xmlns:a16="http://schemas.microsoft.com/office/drawing/2014/main" id="{5EE094B9-192D-9C10-48EF-EA8A23E9DF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651725"/>
              </p:ext>
            </p:extLst>
          </p:nvPr>
        </p:nvGraphicFramePr>
        <p:xfrm>
          <a:off x="8263329" y="1817016"/>
          <a:ext cx="3893184" cy="7301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576">
                  <a:extLst>
                    <a:ext uri="{9D8B030D-6E8A-4147-A177-3AD203B41FA5}">
                      <a16:colId xmlns:a16="http://schemas.microsoft.com/office/drawing/2014/main" val="3333962665"/>
                    </a:ext>
                  </a:extLst>
                </a:gridCol>
                <a:gridCol w="432576">
                  <a:extLst>
                    <a:ext uri="{9D8B030D-6E8A-4147-A177-3AD203B41FA5}">
                      <a16:colId xmlns:a16="http://schemas.microsoft.com/office/drawing/2014/main" val="3568347458"/>
                    </a:ext>
                  </a:extLst>
                </a:gridCol>
                <a:gridCol w="432576">
                  <a:extLst>
                    <a:ext uri="{9D8B030D-6E8A-4147-A177-3AD203B41FA5}">
                      <a16:colId xmlns:a16="http://schemas.microsoft.com/office/drawing/2014/main" val="2150607796"/>
                    </a:ext>
                  </a:extLst>
                </a:gridCol>
                <a:gridCol w="432576">
                  <a:extLst>
                    <a:ext uri="{9D8B030D-6E8A-4147-A177-3AD203B41FA5}">
                      <a16:colId xmlns:a16="http://schemas.microsoft.com/office/drawing/2014/main" val="1278484228"/>
                    </a:ext>
                  </a:extLst>
                </a:gridCol>
                <a:gridCol w="432576">
                  <a:extLst>
                    <a:ext uri="{9D8B030D-6E8A-4147-A177-3AD203B41FA5}">
                      <a16:colId xmlns:a16="http://schemas.microsoft.com/office/drawing/2014/main" val="2603389566"/>
                    </a:ext>
                  </a:extLst>
                </a:gridCol>
                <a:gridCol w="432576">
                  <a:extLst>
                    <a:ext uri="{9D8B030D-6E8A-4147-A177-3AD203B41FA5}">
                      <a16:colId xmlns:a16="http://schemas.microsoft.com/office/drawing/2014/main" val="1443179518"/>
                    </a:ext>
                  </a:extLst>
                </a:gridCol>
                <a:gridCol w="432576">
                  <a:extLst>
                    <a:ext uri="{9D8B030D-6E8A-4147-A177-3AD203B41FA5}">
                      <a16:colId xmlns:a16="http://schemas.microsoft.com/office/drawing/2014/main" val="2812786249"/>
                    </a:ext>
                  </a:extLst>
                </a:gridCol>
                <a:gridCol w="432576">
                  <a:extLst>
                    <a:ext uri="{9D8B030D-6E8A-4147-A177-3AD203B41FA5}">
                      <a16:colId xmlns:a16="http://schemas.microsoft.com/office/drawing/2014/main" val="2804998130"/>
                    </a:ext>
                  </a:extLst>
                </a:gridCol>
                <a:gridCol w="432576">
                  <a:extLst>
                    <a:ext uri="{9D8B030D-6E8A-4147-A177-3AD203B41FA5}">
                      <a16:colId xmlns:a16="http://schemas.microsoft.com/office/drawing/2014/main" val="2012743565"/>
                    </a:ext>
                  </a:extLst>
                </a:gridCol>
              </a:tblGrid>
              <a:tr h="364409"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5365196"/>
                  </a:ext>
                </a:extLst>
              </a:tr>
              <a:tr h="36440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09445"/>
                  </a:ext>
                </a:extLst>
              </a:tr>
            </a:tbl>
          </a:graphicData>
        </a:graphic>
      </p:graphicFrame>
      <p:sp>
        <p:nvSpPr>
          <p:cNvPr id="80" name="Левая фигурная скобка 79">
            <a:extLst>
              <a:ext uri="{FF2B5EF4-FFF2-40B4-BE49-F238E27FC236}">
                <a16:creationId xmlns:a16="http://schemas.microsoft.com/office/drawing/2014/main" id="{BD76D2A4-4600-E3EA-FE45-667017053CEB}"/>
              </a:ext>
            </a:extLst>
          </p:cNvPr>
          <p:cNvSpPr/>
          <p:nvPr/>
        </p:nvSpPr>
        <p:spPr>
          <a:xfrm rot="16200000">
            <a:off x="8763274" y="2079960"/>
            <a:ext cx="337907" cy="1312318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81" name="Левая фигурная скобка 80">
            <a:extLst>
              <a:ext uri="{FF2B5EF4-FFF2-40B4-BE49-F238E27FC236}">
                <a16:creationId xmlns:a16="http://schemas.microsoft.com/office/drawing/2014/main" id="{F3B966D7-ED7A-6DE4-476E-F3CCDD61A6F9}"/>
              </a:ext>
            </a:extLst>
          </p:cNvPr>
          <p:cNvSpPr/>
          <p:nvPr/>
        </p:nvSpPr>
        <p:spPr>
          <a:xfrm rot="16200000">
            <a:off x="10049503" y="2080006"/>
            <a:ext cx="337907" cy="1260139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82" name="Левая фигурная скобка 81">
            <a:extLst>
              <a:ext uri="{FF2B5EF4-FFF2-40B4-BE49-F238E27FC236}">
                <a16:creationId xmlns:a16="http://schemas.microsoft.com/office/drawing/2014/main" id="{2E9CFEBD-547A-CEC4-0E3B-215949D22B5A}"/>
              </a:ext>
            </a:extLst>
          </p:cNvPr>
          <p:cNvSpPr/>
          <p:nvPr/>
        </p:nvSpPr>
        <p:spPr>
          <a:xfrm rot="16200000">
            <a:off x="11330000" y="2078558"/>
            <a:ext cx="337907" cy="1315119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graphicFrame>
        <p:nvGraphicFramePr>
          <p:cNvPr id="83" name="Таблица 83">
            <a:extLst>
              <a:ext uri="{FF2B5EF4-FFF2-40B4-BE49-F238E27FC236}">
                <a16:creationId xmlns:a16="http://schemas.microsoft.com/office/drawing/2014/main" id="{F3058167-CB05-AA6F-5C60-06ADBBA305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873306"/>
              </p:ext>
            </p:extLst>
          </p:nvPr>
        </p:nvGraphicFramePr>
        <p:xfrm>
          <a:off x="8348475" y="3204545"/>
          <a:ext cx="3836952" cy="7036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984">
                  <a:extLst>
                    <a:ext uri="{9D8B030D-6E8A-4147-A177-3AD203B41FA5}">
                      <a16:colId xmlns:a16="http://schemas.microsoft.com/office/drawing/2014/main" val="791244048"/>
                    </a:ext>
                  </a:extLst>
                </a:gridCol>
                <a:gridCol w="1278984">
                  <a:extLst>
                    <a:ext uri="{9D8B030D-6E8A-4147-A177-3AD203B41FA5}">
                      <a16:colId xmlns:a16="http://schemas.microsoft.com/office/drawing/2014/main" val="42377280"/>
                    </a:ext>
                  </a:extLst>
                </a:gridCol>
                <a:gridCol w="1278984">
                  <a:extLst>
                    <a:ext uri="{9D8B030D-6E8A-4147-A177-3AD203B41FA5}">
                      <a16:colId xmlns:a16="http://schemas.microsoft.com/office/drawing/2014/main" val="263589114"/>
                    </a:ext>
                  </a:extLst>
                </a:gridCol>
              </a:tblGrid>
              <a:tr h="337907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939716"/>
                  </a:ext>
                </a:extLst>
              </a:tr>
              <a:tr h="33790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BY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BY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BY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522548"/>
                  </a:ext>
                </a:extLst>
              </a:tr>
            </a:tbl>
          </a:graphicData>
        </a:graphic>
      </p:graphicFrame>
      <p:sp>
        <p:nvSpPr>
          <p:cNvPr id="84" name="TextBox 83">
            <a:extLst>
              <a:ext uri="{FF2B5EF4-FFF2-40B4-BE49-F238E27FC236}">
                <a16:creationId xmlns:a16="http://schemas.microsoft.com/office/drawing/2014/main" id="{5E26C86B-6B12-DB22-9C3A-DDCD68701A32}"/>
              </a:ext>
            </a:extLst>
          </p:cNvPr>
          <p:cNvSpPr txBox="1"/>
          <p:nvPr/>
        </p:nvSpPr>
        <p:spPr>
          <a:xfrm>
            <a:off x="6025018" y="12554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0</a:t>
            </a:r>
            <a:endParaRPr lang="ru-BY" dirty="0">
              <a:solidFill>
                <a:schemeClr val="bg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B8E7257-33AA-D351-D145-A6933B55680B}"/>
              </a:ext>
            </a:extLst>
          </p:cNvPr>
          <p:cNvSpPr txBox="1"/>
          <p:nvPr/>
        </p:nvSpPr>
        <p:spPr>
          <a:xfrm>
            <a:off x="6426577" y="12554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</a:t>
            </a:r>
            <a:endParaRPr lang="ru-BY" dirty="0">
              <a:solidFill>
                <a:schemeClr val="bg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2A48015-E7C3-8C5D-803A-BFE84DC705BF}"/>
              </a:ext>
            </a:extLst>
          </p:cNvPr>
          <p:cNvSpPr txBox="1"/>
          <p:nvPr/>
        </p:nvSpPr>
        <p:spPr>
          <a:xfrm>
            <a:off x="9429801" y="12554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8</a:t>
            </a:r>
            <a:endParaRPr lang="ru-BY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EB5890E3-8985-F8F0-EF67-D463A170A443}"/>
                  </a:ext>
                </a:extLst>
              </p:cNvPr>
              <p:cNvSpPr txBox="1"/>
              <p:nvPr/>
            </p:nvSpPr>
            <p:spPr>
              <a:xfrm>
                <a:off x="7787908" y="2203757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ru-BY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EB5890E3-8985-F8F0-EF67-D463A170A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7908" y="2203757"/>
                <a:ext cx="38985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29C16669-9AA5-D5DC-00C6-C862ECF11202}"/>
                  </a:ext>
                </a:extLst>
              </p:cNvPr>
              <p:cNvSpPr txBox="1"/>
              <p:nvPr/>
            </p:nvSpPr>
            <p:spPr>
              <a:xfrm>
                <a:off x="7887038" y="3569066"/>
                <a:ext cx="4042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ru-BY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29C16669-9AA5-D5DC-00C6-C862ECF112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038" y="3569066"/>
                <a:ext cx="40427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A9033F36-7DB7-C0F1-61BE-9C6D2A1DF660}"/>
                  </a:ext>
                </a:extLst>
              </p:cNvPr>
              <p:cNvSpPr txBox="1"/>
              <p:nvPr/>
            </p:nvSpPr>
            <p:spPr>
              <a:xfrm>
                <a:off x="10266951" y="531127"/>
                <a:ext cx="8258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ru-BY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A9033F36-7DB7-C0F1-61BE-9C6D2A1DF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6951" y="531127"/>
                <a:ext cx="82586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TextBox 89">
            <a:extLst>
              <a:ext uri="{FF2B5EF4-FFF2-40B4-BE49-F238E27FC236}">
                <a16:creationId xmlns:a16="http://schemas.microsoft.com/office/drawing/2014/main" id="{45778AAD-4CF0-8FF5-A222-9D14BF69BB62}"/>
              </a:ext>
            </a:extLst>
          </p:cNvPr>
          <p:cNvSpPr txBox="1"/>
          <p:nvPr/>
        </p:nvSpPr>
        <p:spPr>
          <a:xfrm>
            <a:off x="1193000" y="1207038"/>
            <a:ext cx="31479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/>
              <a:t>Дерево отрезков для </a:t>
            </a:r>
            <a:r>
              <a:rPr lang="en-US" sz="2000" b="1" dirty="0"/>
              <a:t>RMQ</a:t>
            </a:r>
            <a:endParaRPr lang="ru-BY" sz="2000" b="1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0507314-FB1D-2CBE-26AF-87FEF069228D}"/>
              </a:ext>
            </a:extLst>
          </p:cNvPr>
          <p:cNvSpPr txBox="1"/>
          <p:nvPr/>
        </p:nvSpPr>
        <p:spPr>
          <a:xfrm>
            <a:off x="7823877" y="1327810"/>
            <a:ext cx="46496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Корневая декомпозиция</a:t>
            </a:r>
            <a:r>
              <a:rPr lang="en-US" sz="2000" b="1" dirty="0"/>
              <a:t> </a:t>
            </a:r>
            <a:r>
              <a:rPr lang="ru-RU" sz="2000" b="1" dirty="0"/>
              <a:t>для </a:t>
            </a:r>
            <a:r>
              <a:rPr lang="en-US" sz="2000" b="1" dirty="0"/>
              <a:t>RMQ</a:t>
            </a:r>
            <a:r>
              <a:rPr lang="ru-RU" sz="2000" b="1" dirty="0"/>
              <a:t> </a:t>
            </a:r>
            <a:endParaRPr lang="ru-BY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28E152A-6541-05A4-A9A8-718F9B300D24}"/>
                  </a:ext>
                </a:extLst>
              </p:cNvPr>
              <p:cNvSpPr txBox="1"/>
              <p:nvPr/>
            </p:nvSpPr>
            <p:spPr>
              <a:xfrm>
                <a:off x="777046" y="6147366"/>
                <a:ext cx="33648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𝐅𝐢𝐧𝐝𝐌𝐢𝐧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ru-BY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𝚶</m:t>
                      </m:r>
                      <m:d>
                        <m:dPr>
                          <m:ctrlPr>
                            <a:rPr lang="ru-BY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ru-BY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u-BY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ru-BY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28E152A-6541-05A4-A9A8-718F9B300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046" y="6147366"/>
                <a:ext cx="3364875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Объект 5">
            <a:extLst>
              <a:ext uri="{FF2B5EF4-FFF2-40B4-BE49-F238E27FC236}">
                <a16:creationId xmlns:a16="http://schemas.microsoft.com/office/drawing/2014/main" id="{00EC5EB6-DBB9-6829-C2EE-E63054972EEE}"/>
              </a:ext>
            </a:extLst>
          </p:cNvPr>
          <p:cNvSpPr txBox="1"/>
          <p:nvPr/>
        </p:nvSpPr>
        <p:spPr>
          <a:xfrm>
            <a:off x="2942137" y="6134732"/>
            <a:ext cx="1270003" cy="49361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ru-BY" b="1" i="1" dirty="0">
              <a:solidFill>
                <a:srgbClr val="000000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0FAB3C15-6820-7D2C-9ACF-6CF98D58A5AE}"/>
                  </a:ext>
                </a:extLst>
              </p:cNvPr>
              <p:cNvSpPr txBox="1"/>
              <p:nvPr/>
            </p:nvSpPr>
            <p:spPr>
              <a:xfrm>
                <a:off x="7988106" y="5944874"/>
                <a:ext cx="3364875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𝐅𝐢𝐧𝐝𝐌𝐢𝐧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ru-BY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𝚶</m:t>
                      </m:r>
                      <m:d>
                        <m:dPr>
                          <m:ctrlPr>
                            <a:rPr lang="ru-BY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ru-BY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BY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rad>
                        </m:e>
                      </m:d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0FAB3C15-6820-7D2C-9ACF-6CF98D58A5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8106" y="5944874"/>
                <a:ext cx="3364875" cy="4049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522FF521-610A-C287-BB02-2F1B1A59A413}"/>
              </a:ext>
            </a:extLst>
          </p:cNvPr>
          <p:cNvSpPr txBox="1"/>
          <p:nvPr/>
        </p:nvSpPr>
        <p:spPr>
          <a:xfrm>
            <a:off x="6832824" y="12554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2</a:t>
            </a:r>
            <a:endParaRPr lang="ru-BY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E07BC8-25FA-34EB-9B2E-C350B098B43E}"/>
              </a:ext>
            </a:extLst>
          </p:cNvPr>
          <p:cNvSpPr txBox="1"/>
          <p:nvPr/>
        </p:nvSpPr>
        <p:spPr>
          <a:xfrm>
            <a:off x="7271799" y="12554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3</a:t>
            </a:r>
            <a:endParaRPr lang="ru-BY" dirty="0">
              <a:solidFill>
                <a:schemeClr val="bg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5D344D9-5711-21AD-0B6E-B37A54B51BBB}"/>
              </a:ext>
            </a:extLst>
          </p:cNvPr>
          <p:cNvSpPr txBox="1"/>
          <p:nvPr/>
        </p:nvSpPr>
        <p:spPr>
          <a:xfrm>
            <a:off x="7720894" y="12554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4</a:t>
            </a:r>
            <a:endParaRPr lang="ru-BY" dirty="0">
              <a:solidFill>
                <a:schemeClr val="bg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E9E2B4A-CC84-DDBA-3EDB-66164543465A}"/>
              </a:ext>
            </a:extLst>
          </p:cNvPr>
          <p:cNvSpPr txBox="1"/>
          <p:nvPr/>
        </p:nvSpPr>
        <p:spPr>
          <a:xfrm>
            <a:off x="8177758" y="12554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5</a:t>
            </a:r>
            <a:endParaRPr lang="ru-BY" dirty="0">
              <a:solidFill>
                <a:schemeClr val="bg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D77CE58-0531-83F0-AFE5-3174882B8BD9}"/>
              </a:ext>
            </a:extLst>
          </p:cNvPr>
          <p:cNvSpPr txBox="1"/>
          <p:nvPr/>
        </p:nvSpPr>
        <p:spPr>
          <a:xfrm>
            <a:off x="8551164" y="12554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6</a:t>
            </a:r>
            <a:endParaRPr lang="ru-BY" dirty="0">
              <a:solidFill>
                <a:schemeClr val="bg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56115B1-BE7F-776B-6C99-34BE0E2D3CBD}"/>
              </a:ext>
            </a:extLst>
          </p:cNvPr>
          <p:cNvSpPr txBox="1"/>
          <p:nvPr/>
        </p:nvSpPr>
        <p:spPr>
          <a:xfrm>
            <a:off x="8990482" y="12554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7</a:t>
            </a:r>
            <a:endParaRPr lang="ru-BY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43717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866290E-C916-3F6B-CEC7-919E1024FB4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154329" y="2420888"/>
                <a:ext cx="9883341" cy="1631776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ru-RU" sz="2800" dirty="0"/>
                  <a:t>Однако научимся отвечать на запрос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𝐅𝐢𝐧𝐝𝐌𝐢𝐧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за время </a:t>
                </a:r>
                <a:endParaRPr lang="ru-BY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866290E-C916-3F6B-CEC7-919E1024FB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154329" y="2420888"/>
                <a:ext cx="9883341" cy="1631776"/>
              </a:xfrm>
              <a:blipFill>
                <a:blip r:embed="rId2"/>
                <a:stretch>
                  <a:fillRect t="-335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2621B45A-1779-ABAB-B8CC-67131E68F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2475398"/>
              </p:ext>
            </p:extLst>
          </p:nvPr>
        </p:nvGraphicFramePr>
        <p:xfrm>
          <a:off x="5519936" y="3168650"/>
          <a:ext cx="850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50680" imgH="520560" progId="Equation.DSMT4">
                  <p:embed/>
                </p:oleObj>
              </mc:Choice>
              <mc:Fallback>
                <p:oleObj name="Equation" r:id="rId3" imgW="85068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19936" y="3168650"/>
                        <a:ext cx="8509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965597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Статическая задача </a:t>
            </a:r>
            <a:r>
              <a:rPr lang="en-US" dirty="0"/>
              <a:t>RMQ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211140"/>
              </p:ext>
            </p:extLst>
          </p:nvPr>
        </p:nvGraphicFramePr>
        <p:xfrm>
          <a:off x="6772835" y="1391147"/>
          <a:ext cx="2745958" cy="706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1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1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3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1001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733948"/>
                  </a:ext>
                </a:extLst>
              </a:tr>
              <a:tr h="341001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5104747"/>
              </p:ext>
            </p:extLst>
          </p:nvPr>
        </p:nvGraphicFramePr>
        <p:xfrm>
          <a:off x="6427665" y="2229212"/>
          <a:ext cx="3631953" cy="2609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39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62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17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39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39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44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312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08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544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544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544"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6241531" y="1728576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1531" y="1728576"/>
                <a:ext cx="38568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Объект 8"/>
              <p:cNvSpPr txBox="1"/>
              <p:nvPr/>
            </p:nvSpPr>
            <p:spPr>
              <a:xfrm>
                <a:off x="1343313" y="3499985"/>
                <a:ext cx="3068017" cy="646330"/>
              </a:xfrm>
              <a:prstGeom prst="rect">
                <a:avLst/>
              </a:prstGeom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BY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BY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ru-BY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ru-BY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BY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ru-BY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ru-BY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ru-BY" sz="2000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𝐦𝐢𝐧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ru-BY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BY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BY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ru-BY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ru-BY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ru-BY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  <m:r>
                                    <a:rPr lang="ru-BY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ru-BY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ru-BY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ru-BY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BY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а</m:t>
                                  </m:r>
                                </m:e>
                                <m:sub>
                                  <m:r>
                                    <a:rPr lang="ru-BY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  <m:r>
                                    <a:rPr lang="ru-BY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ru-BY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ru-BY" sz="2000" b="1" dirty="0"/>
              </a:p>
            </p:txBody>
          </p:sp>
        </mc:Choice>
        <mc:Fallback xmlns="">
          <p:sp>
            <p:nvSpPr>
              <p:cNvPr id="9" name="Объект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313" y="3499985"/>
                <a:ext cx="3068017" cy="646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235540" y="1335508"/>
                <a:ext cx="5523768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dirty="0"/>
                  <a:t>Сначала рассмотрим решение  «в лоб»: </a:t>
                </a:r>
              </a:p>
              <a:p>
                <a:pPr lvl="1" algn="just"/>
                <a:r>
                  <a:rPr lang="ru-RU" dirty="0"/>
                  <a:t>для всех пар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просчитаем минимум массива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на полуинтервале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занесём в таблицу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ru-RU" dirty="0"/>
                  <a:t>.</a:t>
                </a:r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40" y="1335508"/>
                <a:ext cx="5523768" cy="923330"/>
              </a:xfrm>
              <a:prstGeom prst="rect">
                <a:avLst/>
              </a:prstGeom>
              <a:blipFill>
                <a:blip r:embed="rId4"/>
                <a:stretch>
                  <a:fillRect l="-993" t="-3289" r="-883" b="-9211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Прямоугольник 10"/>
          <p:cNvSpPr/>
          <p:nvPr/>
        </p:nvSpPr>
        <p:spPr>
          <a:xfrm>
            <a:off x="335360" y="2782669"/>
            <a:ext cx="52371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/>
              <a:t>Так как каждый элемент таблицы по рекуррентному соотношению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Прямоугольник 12"/>
              <p:cNvSpPr/>
              <p:nvPr/>
            </p:nvSpPr>
            <p:spPr>
              <a:xfrm>
                <a:off x="301493" y="5528601"/>
                <a:ext cx="5018201" cy="7167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dirty="0"/>
                  <a:t>Затраты на дополнительную память (таблица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)</a:t>
                </a:r>
                <a:r>
                  <a:rPr lang="ru-RU" dirty="0"/>
                  <a:t>: 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𝚯</m:t>
                    </m:r>
                    <m:d>
                      <m:d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ru-RU" sz="2000" b="1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ru-RU" sz="2000" b="1" dirty="0"/>
              </a:p>
            </p:txBody>
          </p:sp>
        </mc:Choice>
        <mc:Fallback>
          <p:sp>
            <p:nvSpPr>
              <p:cNvPr id="13" name="Прямоугольник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493" y="5528601"/>
                <a:ext cx="5018201" cy="716735"/>
              </a:xfrm>
              <a:prstGeom prst="rect">
                <a:avLst/>
              </a:prstGeom>
              <a:blipFill>
                <a:blip r:embed="rId5"/>
                <a:stretch>
                  <a:fillRect l="-121" t="-5128" r="-2063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Прямоугольник 13"/>
              <p:cNvSpPr/>
              <p:nvPr/>
            </p:nvSpPr>
            <p:spPr>
              <a:xfrm>
                <a:off x="2245333" y="5047893"/>
                <a:ext cx="1050929" cy="439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𝚯</m:t>
                    </m:r>
                    <m:d>
                      <m:d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  <m:r>
                      <a:rPr lang="ru-RU" sz="2000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ru-RU" sz="20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sz="2000" dirty="0"/>
              </a:p>
            </p:txBody>
          </p:sp>
        </mc:Choice>
        <mc:Fallback xmlns="">
          <p:sp>
            <p:nvSpPr>
              <p:cNvPr id="14" name="Прямоугольник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5333" y="5047893"/>
                <a:ext cx="1050929" cy="4397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Прямоугольник 14"/>
              <p:cNvSpPr/>
              <p:nvPr/>
            </p:nvSpPr>
            <p:spPr>
              <a:xfrm>
                <a:off x="6240916" y="3233643"/>
                <a:ext cx="3804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5" name="Прямоугольник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916" y="3233643"/>
                <a:ext cx="38048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Прямоугольник 16"/>
          <p:cNvSpPr/>
          <p:nvPr/>
        </p:nvSpPr>
        <p:spPr>
          <a:xfrm>
            <a:off x="368222" y="4264700"/>
            <a:ext cx="48051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может быть вычислен за константу, то время </a:t>
            </a:r>
            <a:r>
              <a:rPr lang="ru-RU" dirty="0" err="1"/>
              <a:t>предподсчёта</a:t>
            </a:r>
            <a:r>
              <a:rPr lang="ru-RU" dirty="0"/>
              <a:t>: 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9864A955-55EC-98ED-02CD-73FD1991A3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881361"/>
              </p:ext>
            </p:extLst>
          </p:nvPr>
        </p:nvGraphicFramePr>
        <p:xfrm>
          <a:off x="6957682" y="5031775"/>
          <a:ext cx="2745958" cy="706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1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1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3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1001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733948"/>
                  </a:ext>
                </a:extLst>
              </a:tr>
              <a:tr h="341001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7E356F-E236-096E-3E06-6A006DCA96E5}"/>
                  </a:ext>
                </a:extLst>
              </p:cNvPr>
              <p:cNvSpPr txBox="1"/>
              <p:nvPr/>
            </p:nvSpPr>
            <p:spPr>
              <a:xfrm>
                <a:off x="6222348" y="5412043"/>
                <a:ext cx="7043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7E356F-E236-096E-3E06-6A006DCA9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2348" y="5412043"/>
                <a:ext cx="7043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901D7199-820A-4892-CED7-23E844AAE450}"/>
              </a:ext>
            </a:extLst>
          </p:cNvPr>
          <p:cNvCxnSpPr>
            <a:cxnSpLocks/>
          </p:cNvCxnSpPr>
          <p:nvPr/>
        </p:nvCxnSpPr>
        <p:spPr>
          <a:xfrm>
            <a:off x="7464151" y="5882520"/>
            <a:ext cx="432048" cy="0"/>
          </a:xfrm>
          <a:prstGeom prst="line">
            <a:avLst/>
          </a:prstGeom>
          <a:ln w="76200"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206CC8CA-2BEC-B6D3-13A6-519783B10BB9}"/>
              </a:ext>
            </a:extLst>
          </p:cNvPr>
          <p:cNvCxnSpPr>
            <a:cxnSpLocks/>
          </p:cNvCxnSpPr>
          <p:nvPr/>
        </p:nvCxnSpPr>
        <p:spPr>
          <a:xfrm>
            <a:off x="7464151" y="6021288"/>
            <a:ext cx="868923" cy="0"/>
          </a:xfrm>
          <a:prstGeom prst="line">
            <a:avLst/>
          </a:prstGeom>
          <a:ln w="76200"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686DEC7B-9445-5AE0-A1DF-BD6F6D2EE444}"/>
              </a:ext>
            </a:extLst>
          </p:cNvPr>
          <p:cNvCxnSpPr>
            <a:cxnSpLocks/>
          </p:cNvCxnSpPr>
          <p:nvPr/>
        </p:nvCxnSpPr>
        <p:spPr>
          <a:xfrm>
            <a:off x="7464151" y="6165304"/>
            <a:ext cx="1368152" cy="0"/>
          </a:xfrm>
          <a:prstGeom prst="line">
            <a:avLst/>
          </a:prstGeom>
          <a:ln w="76200"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54A7CA0A-04D9-6443-2C6E-22E5DB2C77C9}"/>
              </a:ext>
            </a:extLst>
          </p:cNvPr>
          <p:cNvCxnSpPr>
            <a:cxnSpLocks/>
          </p:cNvCxnSpPr>
          <p:nvPr/>
        </p:nvCxnSpPr>
        <p:spPr>
          <a:xfrm>
            <a:off x="7464151" y="6309320"/>
            <a:ext cx="1802615" cy="0"/>
          </a:xfrm>
          <a:prstGeom prst="line">
            <a:avLst/>
          </a:prstGeom>
          <a:ln w="76200"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52F83B0C-8FAF-666D-0801-250F0D18E6F5}"/>
              </a:ext>
            </a:extLst>
          </p:cNvPr>
          <p:cNvCxnSpPr>
            <a:cxnSpLocks/>
          </p:cNvCxnSpPr>
          <p:nvPr/>
        </p:nvCxnSpPr>
        <p:spPr>
          <a:xfrm>
            <a:off x="7464151" y="6461720"/>
            <a:ext cx="2239489" cy="0"/>
          </a:xfrm>
          <a:prstGeom prst="line">
            <a:avLst/>
          </a:prstGeom>
          <a:ln w="76200"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767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  <p:bldP spid="14" grpId="0"/>
      <p:bldP spid="15" grpId="0"/>
      <p:bldP spid="1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Разрежённая таблица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586901" y="1600203"/>
            <a:ext cx="10981708" cy="2836909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lang="ru-RU" dirty="0"/>
              <a:t>Идея —</a:t>
            </a:r>
            <a:r>
              <a:rPr lang="en-US" dirty="0"/>
              <a:t> </a:t>
            </a:r>
            <a:r>
              <a:rPr lang="ru-RU" dirty="0" err="1"/>
              <a:t>разреди́ть</a:t>
            </a:r>
            <a:r>
              <a:rPr lang="ru-RU" dirty="0"/>
              <a:t> таблицу</a:t>
            </a:r>
            <a:r>
              <a:rPr lang="en-US" dirty="0"/>
              <a:t>, </a:t>
            </a:r>
            <a:r>
              <a:rPr lang="ru-RU" dirty="0"/>
              <a:t>убрать часть информации</a:t>
            </a:r>
            <a:endParaRPr lang="en-US" dirty="0"/>
          </a:p>
          <a:p>
            <a:pPr>
              <a:spcAft>
                <a:spcPts val="1000"/>
              </a:spcAft>
            </a:pPr>
            <a:r>
              <a:rPr lang="ru-RU" dirty="0"/>
              <a:t>Будем хранить минимумы для тех интервалов, длины которых являются </a:t>
            </a:r>
            <a:r>
              <a:rPr lang="ru-RU" i="1" dirty="0"/>
              <a:t>степенями двойки</a:t>
            </a:r>
          </a:p>
          <a:p>
            <a:pPr>
              <a:spcAft>
                <a:spcPts val="1000"/>
              </a:spcAft>
            </a:pPr>
            <a:r>
              <a:rPr lang="ru-RU" dirty="0"/>
              <a:t>Такая структура называется </a:t>
            </a:r>
            <a:r>
              <a:rPr lang="en-US" b="1" i="1" dirty="0"/>
              <a:t>sparse table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ru-RU" dirty="0"/>
              <a:t>рус. </a:t>
            </a:r>
            <a:r>
              <a:rPr lang="ru-RU" i="1" dirty="0"/>
              <a:t>разрежённая таблица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296323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Разрежённая таблица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551384" y="1340768"/>
                <a:ext cx="10981708" cy="4525963"/>
              </a:xfrm>
            </p:spPr>
            <p:txBody>
              <a:bodyPr/>
              <a:lstStyle/>
              <a:p>
                <a:r>
                  <a:rPr lang="ru-RU" dirty="0"/>
                  <a:t>Иначе говоря, для каждой позиции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храним минимумы на интервалах длины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1, 2, 4, …,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ru-RU" dirty="0"/>
                  <a:t>вправо от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 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⋅</m:t>
                    </m:r>
                    <m:r>
                      <m:rPr>
                        <m:sty m:val="p"/>
                      </m:rPr>
                      <a:rPr lang="en-US" b="0" i="1" dirty="0" err="1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b="0" i="1" dirty="0" err="1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b="0" i="1" dirty="0" err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ru-RU" dirty="0"/>
                  <a:t> памяти,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ru-RU" dirty="0"/>
                  <a:t> времени на построение</a:t>
                </a:r>
                <a:endParaRPr lang="en-US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51384" y="1340768"/>
                <a:ext cx="10981708" cy="4525963"/>
              </a:xfrm>
              <a:blipFill>
                <a:blip r:embed="rId2"/>
                <a:stretch>
                  <a:fillRect l="-999" t="-134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303489"/>
              </p:ext>
            </p:extLst>
          </p:nvPr>
        </p:nvGraphicFramePr>
        <p:xfrm>
          <a:off x="1056525" y="4662544"/>
          <a:ext cx="67687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063552" y="4221088"/>
                <a:ext cx="3611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ru-RU" sz="2400" dirty="0">
                  <a:latin typeface="+mj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52" y="4221088"/>
                <a:ext cx="361125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Прямая соединительная линия 7"/>
          <p:cNvCxnSpPr/>
          <p:nvPr/>
        </p:nvCxnSpPr>
        <p:spPr>
          <a:xfrm>
            <a:off x="2064637" y="5166600"/>
            <a:ext cx="3611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2064637" y="5238608"/>
            <a:ext cx="72008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2064637" y="5310616"/>
            <a:ext cx="136815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2064637" y="5382624"/>
            <a:ext cx="273630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2064637" y="5454632"/>
            <a:ext cx="5400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6406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table. </a:t>
            </a:r>
            <a:r>
              <a:rPr lang="ru-RU" dirty="0"/>
              <a:t>Пример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Шаг 15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635073120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809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3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4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5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6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7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3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8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Шаг 15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635073120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2809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t="-174074" r="-906796" b="-7129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99038" t="-174074" r="-798077" b="-7129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3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5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6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7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3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8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Шаг 14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554192960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809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3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4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5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6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7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3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8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Шаг 14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554192960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  <a:tr h="32809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t="-174074" r="-906796" b="-7129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99038" t="-174074" r="-798077" b="-7129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3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5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6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7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3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8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Шаг 1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743371159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809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3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4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5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6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7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Шаг 1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743371159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  <a:tr h="32809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t="-174074" r="-906796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99038" t="-174074" r="-798077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3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5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6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7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Шаг 12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461633385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809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3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4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5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6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7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Шаг 12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461633385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2809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t="-174074" r="-906796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99038" t="-174074" r="-798077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3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5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6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7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Шаг 11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134225103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809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3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4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5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6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7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Шаг 11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134225103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2809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6"/>
                          <a:stretch>
                            <a:fillRect t="-174074" r="-906796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6"/>
                          <a:stretch>
                            <a:fillRect l="-99038" t="-174074" r="-798077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3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5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6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7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Шаг 10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849874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809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3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4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5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6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7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Шаг 10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849874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2809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7"/>
                          <a:stretch>
                            <a:fillRect t="-174074" r="-906796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7"/>
                          <a:stretch>
                            <a:fillRect l="-99038" t="-174074" r="-798077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3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5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6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7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Шаг 9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748231364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809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3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4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5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6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7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Шаг 9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748231364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2809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8"/>
                          <a:stretch>
                            <a:fillRect t="-174074" r="-906796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8"/>
                          <a:stretch>
                            <a:fillRect l="-99038" t="-174074" r="-798077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3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5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6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7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Шаг 8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093715018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809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3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4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5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6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7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>
                          <a:noFill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Шаг 8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093715018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  <a:tr h="32809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9"/>
                          <a:stretch>
                            <a:fillRect t="-174074" r="-906796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9"/>
                          <a:stretch>
                            <a:fillRect l="-99038" t="-174074" r="-798077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3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5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6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7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>
                          <a:noFill/>
                        </a:lnL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Шаг 7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838542402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809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3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4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5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6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7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Шаг 7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838542402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2809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10"/>
                          <a:stretch>
                            <a:fillRect t="-174074" r="-906796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10"/>
                          <a:stretch>
                            <a:fillRect l="-99038" t="-174074" r="-798077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3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5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6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7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Шаг 6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796883549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809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3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4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5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6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7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Шаг 6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796883549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2809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11"/>
                          <a:stretch>
                            <a:fillRect t="-174074" r="-906796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11"/>
                          <a:stretch>
                            <a:fillRect l="-99038" t="-174074" r="-798077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3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5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6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7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Шаг 5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778661330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809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3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4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5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6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7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Шаг 5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778661330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2809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12"/>
                          <a:stretch>
                            <a:fillRect t="-174074" r="-906796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12"/>
                          <a:stretch>
                            <a:fillRect l="-99038" t="-174074" r="-798077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3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5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6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7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Шаг 4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497653873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809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3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4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5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6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7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Шаг 4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497653873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2809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13"/>
                          <a:stretch>
                            <a:fillRect t="-174074" r="-906796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13"/>
                          <a:stretch>
                            <a:fillRect l="-99038" t="-174074" r="-798077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3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5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6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7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Шаг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386158809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809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3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4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5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6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7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Шаг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386158809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2809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14"/>
                          <a:stretch>
                            <a:fillRect t="-174074" r="-906796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14"/>
                          <a:stretch>
                            <a:fillRect l="-99038" t="-174074" r="-798077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3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5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6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7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Шаг 2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250950439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809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3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4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5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6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7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Шаг 2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250950439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2809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15"/>
                          <a:stretch>
                            <a:fillRect t="-174074" r="-906796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15"/>
                          <a:stretch>
                            <a:fillRect l="-99038" t="-174074" r="-798077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3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5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6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7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Шаг 1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408874525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809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3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4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5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6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7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Шаг 1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408874525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2809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16"/>
                          <a:stretch>
                            <a:fillRect t="-174074" r="-906796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 rotWithShape="0">
                          <a:blip r:embed="rId16"/>
                          <a:stretch>
                            <a:fillRect l="-99038" t="-174074" r="-798077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3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5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6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7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1400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Шаг 0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784813013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630071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809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400" dirty="0"/>
                        </a:p>
                      </a:txBody>
                      <a:tcPr anchor="ctr"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0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1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2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3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4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5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6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/>
                            <a:t>7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Шаг 0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784813013"/>
                  </p:ext>
                </p:extLst>
              </p:nvPr>
            </p:nvGraphicFramePr>
            <p:xfrm>
              <a:off x="587375" y="1600200"/>
              <a:ext cx="6300710" cy="31511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  <a:gridCol w="630071"/>
                  </a:tblGrid>
                  <a:tr h="564601"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 dirty="0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1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9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6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7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5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 smtClean="0"/>
                            <a:t>2</a:t>
                          </a:r>
                          <a:endParaRPr lang="ru-RU" sz="2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2809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B>
                          <a:noFill/>
                        </a:lnB>
                        <a:blipFill rotWithShape="0">
                          <a:blip r:embed="rId17"/>
                          <a:stretch>
                            <a:fillRect t="-174074" r="-906796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lnB>
                          <a:noFill/>
                        </a:lnB>
                        <a:blipFill rotWithShape="0">
                          <a:blip r:embed="rId17"/>
                          <a:stretch>
                            <a:fillRect l="-99038" t="-174074" r="-798077" b="-6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0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1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2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3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4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5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6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400" dirty="0" smtClean="0"/>
                            <a:t>7</a:t>
                          </a:r>
                          <a:endParaRPr lang="ru-RU" sz="14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564601"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7968208" y="1600200"/>
                <a:ext cx="4050147" cy="959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⁡{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−1,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−1,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8208" y="1600200"/>
                <a:ext cx="4050147" cy="95923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5976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Разрежённая таблица</a:t>
            </a:r>
          </a:p>
        </p:txBody>
      </p:sp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9B8CF439-9EC6-4999-B7FE-4FD2AC863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549703"/>
              </p:ext>
            </p:extLst>
          </p:nvPr>
        </p:nvGraphicFramePr>
        <p:xfrm>
          <a:off x="130213" y="2461747"/>
          <a:ext cx="799308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8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81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81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81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81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81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812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812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57644"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 (=2</a:t>
                      </a:r>
                      <a:r>
                        <a:rPr lang="en-US" sz="1200" b="0" baseline="300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ru-RU" sz="1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644"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 (=2</a:t>
                      </a:r>
                      <a:r>
                        <a:rPr lang="en-US" sz="1200" b="0" baseline="30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ru-RU" sz="1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744"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 (=2</a:t>
                      </a:r>
                      <a:r>
                        <a:rPr lang="en-US" sz="1200" b="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ru-RU" sz="1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644"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3 (=2</a:t>
                      </a:r>
                      <a:r>
                        <a:rPr lang="en-US" sz="1200" b="0" baseline="30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ru-RU" sz="1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FE72A79-A4A2-4C1E-9CD9-3FC62385AAC9}"/>
              </a:ext>
            </a:extLst>
          </p:cNvPr>
          <p:cNvSpPr txBox="1"/>
          <p:nvPr/>
        </p:nvSpPr>
        <p:spPr>
          <a:xfrm>
            <a:off x="136824" y="1344731"/>
            <a:ext cx="2736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Предположим, что</a:t>
            </a:r>
            <a:endParaRPr lang="ru-BY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4A1AFA-AF9B-440F-BDEF-1A49827A7CD5}"/>
                  </a:ext>
                </a:extLst>
              </p:cNvPr>
              <p:cNvSpPr txBox="1"/>
              <p:nvPr/>
            </p:nvSpPr>
            <p:spPr>
              <a:xfrm>
                <a:off x="479375" y="4869160"/>
                <a:ext cx="11295047" cy="8336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ru-R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ru-RU" sz="2400" dirty="0"/>
                          <m:t>1</m:t>
                        </m:r>
                      </m:e>
                    </m:d>
                  </m:oMath>
                </a14:m>
                <a:r>
                  <a:rPr lang="ru-RU" sz="2400" dirty="0"/>
                  <a:t>+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ru-RU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ru-RU" sz="2400" dirty="0"/>
                          <m:t>−1</m:t>
                        </m:r>
                      </m:e>
                    </m:d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+⋯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ru-RU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ru-RU" sz="2400" dirty="0"/>
                          <m:t>−</m:t>
                        </m:r>
                        <m:r>
                          <a:rPr lang="ru-RU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−1)−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&lt;4∙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ru-RU" sz="2400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ru-RU" sz="2400" dirty="0"/>
                          <m:t>1</m:t>
                        </m:r>
                      </m:e>
                    </m:d>
                  </m:oMath>
                </a14:m>
                <a:r>
                  <a:rPr lang="ru-RU" sz="2400" dirty="0"/>
                  <a:t>+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ru-RU" sz="2400" dirty="0"/>
                          <m:t>−1</m:t>
                        </m:r>
                      </m:e>
                    </m:d>
                    <m:r>
                      <a:rPr lang="ru-RU" sz="2400" i="1" dirty="0">
                        <a:latin typeface="Cambria Math" panose="02040503050406030204" pitchFamily="18" charset="0"/>
                      </a:rPr>
                      <m:t>+⋯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ru-RU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ru-RU" sz="2400" dirty="0"/>
                          <m:t>−</m:t>
                        </m:r>
                        <m:r>
                          <a:rPr lang="ru-RU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400">
                        <a:latin typeface="Cambria Math" panose="02040503050406030204" pitchFamily="18" charset="0"/>
                      </a:rPr>
                      <m:t>−1)−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sz="24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ru-R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d>
                          <m:dPr>
                            <m:begChr m:val="⌈"/>
                            <m:endChr m:val="⌉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func>
                  </m:oMath>
                </a14:m>
                <a:r>
                  <a:rPr lang="ru-RU" sz="2400" dirty="0"/>
                  <a:t>                                                                                         </a:t>
                </a:r>
                <a:endParaRPr lang="ru-BY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4A1AFA-AF9B-440F-BDEF-1A49827A7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75" y="4869160"/>
                <a:ext cx="11295047" cy="833690"/>
              </a:xfrm>
              <a:prstGeom prst="rect">
                <a:avLst/>
              </a:prstGeom>
              <a:blipFill>
                <a:blip r:embed="rId2"/>
                <a:stretch>
                  <a:fillRect t="-8029" b="-1897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CBD8E5E-8BDF-4748-85A7-C8B4D667B709}"/>
                  </a:ext>
                </a:extLst>
              </p:cNvPr>
              <p:cNvSpPr txBox="1"/>
              <p:nvPr/>
            </p:nvSpPr>
            <p:spPr>
              <a:xfrm>
                <a:off x="2667139" y="1363173"/>
                <a:ext cx="2304255" cy="468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BY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CBD8E5E-8BDF-4748-85A7-C8B4D667B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139" y="1363173"/>
                <a:ext cx="2304255" cy="468205"/>
              </a:xfrm>
              <a:prstGeom prst="rect">
                <a:avLst/>
              </a:prstGeom>
              <a:blipFill>
                <a:blip r:embed="rId3"/>
                <a:stretch>
                  <a:fillRect l="-794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DC853AA5-1DD6-4CEF-A625-A5E124E14CCE}"/>
              </a:ext>
            </a:extLst>
          </p:cNvPr>
          <p:cNvSpPr txBox="1"/>
          <p:nvPr/>
        </p:nvSpPr>
        <p:spPr>
          <a:xfrm>
            <a:off x="238080" y="4118473"/>
            <a:ext cx="5857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Оценим число «лишних» ячеек в таблице.</a:t>
            </a:r>
            <a:r>
              <a:rPr lang="en-US" sz="2400" dirty="0"/>
              <a:t> </a:t>
            </a:r>
            <a:endParaRPr lang="ru-BY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203B739-F89C-4FDF-9665-3186B15832A8}"/>
                  </a:ext>
                </a:extLst>
              </p:cNvPr>
              <p:cNvSpPr txBox="1"/>
              <p:nvPr/>
            </p:nvSpPr>
            <p:spPr>
              <a:xfrm>
                <a:off x="166072" y="1801787"/>
                <a:ext cx="796384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2400" smtClean="0">
                        <a:latin typeface="Cambria Math" panose="02040503050406030204" pitchFamily="18" charset="0"/>
                      </a:rPr>
                      <m:t>Р</m:t>
                    </m:r>
                    <m:r>
                      <a:rPr lang="ru-RU" sz="2400" b="0" i="0" smtClean="0">
                        <a:latin typeface="Cambria Math" panose="02040503050406030204" pitchFamily="18" charset="0"/>
                      </a:rPr>
                      <m:t>азреженная таблица занимает </m:t>
                    </m:r>
                    <m:r>
                      <m:rPr>
                        <m:sty m:val="p"/>
                      </m:rPr>
                      <a:rPr lang="en-US" sz="240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</m:t>
                            </m:r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ru-RU" sz="2400" dirty="0"/>
                  <a:t> ячеек памяти</a:t>
                </a:r>
                <a:r>
                  <a:rPr lang="en-US" sz="2400" dirty="0"/>
                  <a:t>.</a:t>
                </a:r>
                <a:endParaRPr lang="ru-BY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203B739-F89C-4FDF-9665-3186B1583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072" y="1801787"/>
                <a:ext cx="7963841" cy="830997"/>
              </a:xfrm>
              <a:prstGeom prst="rect">
                <a:avLst/>
              </a:prstGeom>
              <a:blipFill>
                <a:blip r:embed="rId4"/>
                <a:stretch>
                  <a:fillRect l="-1148" t="-5882" b="-16176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7529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Ответ на запрос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816996" y="1628800"/>
                <a:ext cx="10981708" cy="4525963"/>
              </a:xfrm>
            </p:spPr>
            <p:txBody>
              <a:bodyPr/>
              <a:lstStyle/>
              <a:p>
                <a:r>
                  <a:rPr lang="ru-RU" dirty="0"/>
                  <a:t>Нужно найти минимум 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algn="just"/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— </a:t>
                </a:r>
                <a:r>
                  <a:rPr lang="ru-RU" dirty="0"/>
                  <a:t>максимальная степень</a:t>
                </a:r>
                <a:r>
                  <a:rPr lang="en-US" dirty="0"/>
                  <a:t> </a:t>
                </a:r>
                <a:r>
                  <a:rPr lang="ru-RU" dirty="0"/>
                  <a:t>такая,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ru-RU" dirty="0"/>
                  <a:t> не превосходит длины интервала: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endParaRPr lang="en-US" b="0" dirty="0"/>
              </a:p>
              <a:p>
                <a:pPr algn="just"/>
                <a:r>
                  <a:rPr lang="ru-RU" dirty="0"/>
                  <a:t>Интервал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покрывается не более чем двумя перекрывающимися интервалами длины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ru-RU" dirty="0"/>
                  <a:t> (начало первого интервала фиксируется на левой границе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ru-RU" dirty="0"/>
                  <a:t>, а второго – на правой границе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)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16996" y="1628800"/>
                <a:ext cx="10981708" cy="4525963"/>
              </a:xfrm>
              <a:blipFill>
                <a:blip r:embed="rId2"/>
                <a:stretch>
                  <a:fillRect l="-999" t="-1211" r="-1166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авая фигурная скобка 4"/>
          <p:cNvSpPr/>
          <p:nvPr/>
        </p:nvSpPr>
        <p:spPr>
          <a:xfrm rot="5400000">
            <a:off x="2486204" y="4643742"/>
            <a:ext cx="234815" cy="1800200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авая фигурная скобка 8"/>
          <p:cNvSpPr/>
          <p:nvPr/>
        </p:nvSpPr>
        <p:spPr>
          <a:xfrm rot="16200000">
            <a:off x="2927648" y="4345864"/>
            <a:ext cx="216024" cy="1800200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1127448" y="5390787"/>
            <a:ext cx="432048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794055" y="4770395"/>
                <a:ext cx="4832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55" y="4770395"/>
                <a:ext cx="48320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362006" y="5684425"/>
                <a:ext cx="4832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006" y="5684425"/>
                <a:ext cx="48320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868441" y="5348883"/>
                <a:ext cx="3516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8441" y="5348883"/>
                <a:ext cx="35163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489303" y="4990707"/>
                <a:ext cx="3170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303" y="4990707"/>
                <a:ext cx="31701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61458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629973"/>
              </p:ext>
            </p:extLst>
          </p:nvPr>
        </p:nvGraphicFramePr>
        <p:xfrm>
          <a:off x="1199456" y="3140968"/>
          <a:ext cx="67687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Прямая соединительная линия 6"/>
          <p:cNvCxnSpPr/>
          <p:nvPr/>
        </p:nvCxnSpPr>
        <p:spPr>
          <a:xfrm>
            <a:off x="2544540" y="3573016"/>
            <a:ext cx="707144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2898112" y="3068960"/>
            <a:ext cx="677608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2349258"/>
              </p:ext>
            </p:extLst>
          </p:nvPr>
        </p:nvGraphicFramePr>
        <p:xfrm>
          <a:off x="1205072" y="4186542"/>
          <a:ext cx="67687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Прямая соединительная линия 11"/>
          <p:cNvCxnSpPr/>
          <p:nvPr/>
        </p:nvCxnSpPr>
        <p:spPr>
          <a:xfrm>
            <a:off x="4250556" y="4607321"/>
            <a:ext cx="1341388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Таблица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707500"/>
              </p:ext>
            </p:extLst>
          </p:nvPr>
        </p:nvGraphicFramePr>
        <p:xfrm>
          <a:off x="1199456" y="5288508"/>
          <a:ext cx="67687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3843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Прямая соединительная линия 16"/>
          <p:cNvCxnSpPr/>
          <p:nvPr/>
        </p:nvCxnSpPr>
        <p:spPr>
          <a:xfrm>
            <a:off x="2558882" y="5703197"/>
            <a:ext cx="2750646" cy="11437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3575720" y="5229200"/>
            <a:ext cx="269049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8184232" y="3167809"/>
                <a:ext cx="11364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4232" y="3167809"/>
                <a:ext cx="1136401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8184231" y="4194717"/>
                <a:ext cx="11364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4231" y="4194717"/>
                <a:ext cx="1136401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8184231" y="5286039"/>
                <a:ext cx="12646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=11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4231" y="5286039"/>
                <a:ext cx="1264642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Прямоугольник 13"/>
              <p:cNvSpPr/>
              <p:nvPr/>
            </p:nvSpPr>
            <p:spPr>
              <a:xfrm>
                <a:off x="3848044" y="1763613"/>
                <a:ext cx="411997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⁡{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4" name="Прямоугольник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8044" y="1763613"/>
                <a:ext cx="4119972" cy="461665"/>
              </a:xfrm>
              <a:prstGeom prst="rect">
                <a:avLst/>
              </a:prstGeom>
              <a:blipFill>
                <a:blip r:embed="rId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671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Ответ на запрос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/>
                  <a:t>Ответ на запрос минимума  на полуинтервале можно вычислить по формуле: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p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ru-RU" i="1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 algn="just">
                  <a:buNone/>
                </a:pPr>
                <a:r>
                  <a:rPr lang="ru-RU" dirty="0"/>
                  <a:t>Формула является корректной, так как бинарная операция минимума обладает свойствами </a:t>
                </a:r>
                <a:r>
                  <a:rPr lang="ru-RU" b="1" dirty="0"/>
                  <a:t>ассоциативности, коммутативности и идемпотентность</a:t>
                </a:r>
                <a:r>
                  <a:rPr lang="ru-RU" dirty="0"/>
                  <a:t>. 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110" t="-1348" r="-1110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авая фигурная скобка 4"/>
          <p:cNvSpPr/>
          <p:nvPr/>
        </p:nvSpPr>
        <p:spPr>
          <a:xfrm rot="5400000">
            <a:off x="5590248" y="3331553"/>
            <a:ext cx="234815" cy="1800200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авая фигурная скобка 8"/>
          <p:cNvSpPr/>
          <p:nvPr/>
        </p:nvSpPr>
        <p:spPr>
          <a:xfrm rot="16200000">
            <a:off x="6031692" y="3033675"/>
            <a:ext cx="216024" cy="1800200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4231492" y="4078598"/>
            <a:ext cx="432048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898099" y="3458206"/>
                <a:ext cx="4832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099" y="3458206"/>
                <a:ext cx="483209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466050" y="4372236"/>
                <a:ext cx="4832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050" y="4372236"/>
                <a:ext cx="483209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972485" y="4036694"/>
                <a:ext cx="3516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2485" y="4036694"/>
                <a:ext cx="351635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593347" y="3678518"/>
                <a:ext cx="3170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3347" y="3678518"/>
                <a:ext cx="317010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53775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Свойства бинарного отношения минимума 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79376" y="1556792"/>
            <a:ext cx="11017224" cy="4824536"/>
          </a:xfrm>
        </p:spPr>
        <p:txBody>
          <a:bodyPr/>
          <a:lstStyle/>
          <a:p>
            <a:pPr marL="914400" lvl="1" indent="-514350">
              <a:buFont typeface="+mj-lt"/>
              <a:buAutoNum type="arabicPeriod"/>
            </a:pPr>
            <a:r>
              <a:rPr lang="ru-RU" b="1" dirty="0"/>
              <a:t>Ассоциативность</a:t>
            </a:r>
            <a:r>
              <a:rPr lang="ru-RU" dirty="0"/>
              <a:t>  (выполнять операции можно в произвольном порядке, т.е. допускается любой порядок расстановки скобок):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 startAt="2"/>
            </a:pPr>
            <a:r>
              <a:rPr lang="ru-RU" b="1" dirty="0"/>
              <a:t>Коммутативность</a:t>
            </a:r>
            <a:r>
              <a:rPr lang="ru-RU" dirty="0"/>
              <a:t> (можно располагать элементы в произвольном порядке, переставляя их):</a:t>
            </a:r>
            <a:endParaRPr lang="en-US" dirty="0"/>
          </a:p>
          <a:p>
            <a:pPr marL="514350" indent="-514350">
              <a:buFont typeface="+mj-lt"/>
              <a:buAutoNum type="arabicPeriod" startAt="2"/>
            </a:pPr>
            <a:endParaRPr lang="ru-RU" dirty="0"/>
          </a:p>
          <a:p>
            <a:pPr marL="914400" lvl="1" indent="-514350">
              <a:buFont typeface="+mj-lt"/>
              <a:buAutoNum type="arabicPeriod" startAt="3"/>
            </a:pPr>
            <a:r>
              <a:rPr lang="ru-RU" b="1" dirty="0"/>
              <a:t>Идемпотентность </a:t>
            </a:r>
            <a:r>
              <a:rPr lang="ru-RU" dirty="0"/>
              <a:t>(благодаря этому свойству мы сможем работать на пересекающихся отрезках):</a:t>
            </a:r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468503"/>
              </p:ext>
            </p:extLst>
          </p:nvPr>
        </p:nvGraphicFramePr>
        <p:xfrm>
          <a:off x="4387788" y="2438028"/>
          <a:ext cx="3200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00400" imgH="520560" progId="Equation.DSMT4">
                  <p:embed/>
                </p:oleObj>
              </mc:Choice>
              <mc:Fallback>
                <p:oleObj name="Equation" r:id="rId2" imgW="3200400" imgH="520560" progId="Equation.DSMT4">
                  <p:embed/>
                  <p:pic>
                    <p:nvPicPr>
                      <p:cNvPr id="4" name="Объект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387788" y="2438028"/>
                        <a:ext cx="32004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4724320"/>
              </p:ext>
            </p:extLst>
          </p:nvPr>
        </p:nvGraphicFramePr>
        <p:xfrm>
          <a:off x="4933059" y="3674864"/>
          <a:ext cx="1727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26920" imgH="330120" progId="Equation.DSMT4">
                  <p:embed/>
                </p:oleObj>
              </mc:Choice>
              <mc:Fallback>
                <p:oleObj name="Equation" r:id="rId4" imgW="1726920" imgH="330120" progId="Equation.DSMT4">
                  <p:embed/>
                  <p:pic>
                    <p:nvPicPr>
                      <p:cNvPr id="5" name="Объект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33059" y="3674864"/>
                        <a:ext cx="17272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1481092"/>
              </p:ext>
            </p:extLst>
          </p:nvPr>
        </p:nvGraphicFramePr>
        <p:xfrm>
          <a:off x="5148959" y="5589240"/>
          <a:ext cx="1295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95280" imgH="241200" progId="Equation.DSMT4">
                  <p:embed/>
                </p:oleObj>
              </mc:Choice>
              <mc:Fallback>
                <p:oleObj name="Equation" r:id="rId6" imgW="1295280" imgH="241200" progId="Equation.DSMT4">
                  <p:embed/>
                  <p:pic>
                    <p:nvPicPr>
                      <p:cNvPr id="6" name="Объект 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148959" y="5589240"/>
                        <a:ext cx="12954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8773512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Свойства бинарного отношения минимума 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729524"/>
              </p:ext>
            </p:extLst>
          </p:nvPr>
        </p:nvGraphicFramePr>
        <p:xfrm>
          <a:off x="1980501" y="2223561"/>
          <a:ext cx="4257450" cy="43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68858"/>
              </p:ext>
            </p:extLst>
          </p:nvPr>
        </p:nvGraphicFramePr>
        <p:xfrm>
          <a:off x="4827289" y="2323996"/>
          <a:ext cx="4743170" cy="43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7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43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43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43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43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43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43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Левая фигурная скобка 10"/>
          <p:cNvSpPr/>
          <p:nvPr/>
        </p:nvSpPr>
        <p:spPr>
          <a:xfrm rot="16200000">
            <a:off x="6625772" y="1006054"/>
            <a:ext cx="659034" cy="4255999"/>
          </a:xfrm>
          <a:prstGeom prst="leftBrace">
            <a:avLst/>
          </a:prstGeom>
          <a:ln w="19050"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Левая фигурная скобка 11"/>
          <p:cNvSpPr/>
          <p:nvPr/>
        </p:nvSpPr>
        <p:spPr>
          <a:xfrm rot="5400000">
            <a:off x="3869243" y="-136963"/>
            <a:ext cx="486630" cy="4250788"/>
          </a:xfrm>
          <a:prstGeom prst="leftBrace">
            <a:avLst/>
          </a:prstGeom>
          <a:ln w="19050">
            <a:solidFill>
              <a:srgbClr val="0A0A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9160806" y="2705150"/>
                <a:ext cx="3018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ru-RU" b="1" i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0806" y="2705150"/>
                <a:ext cx="30186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Объект 21"/>
              <p:cNvSpPr txBox="1"/>
              <p:nvPr/>
            </p:nvSpPr>
            <p:spPr>
              <a:xfrm>
                <a:off x="451498" y="3322207"/>
                <a:ext cx="11789890" cy="432048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BY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sSub>
                            <m:sSubPr>
                              <m:ctrlP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∘…∘</m:t>
                          </m:r>
                          <m:sSub>
                            <m:sSubPr>
                              <m:ctrlP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sub>
                          </m:sSub>
                          <m: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sSub>
                            <m:sSubPr>
                              <m:ctrlP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  <m: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sSub>
                            <m:sSubPr>
                              <m:ctrlP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ru-BY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d>
                        <m:dPr>
                          <m:ctrlP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sub>
                          </m:sSub>
                          <m: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sSub>
                            <m:sSubPr>
                              <m:ctrlP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  <m: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sSub>
                            <m:sSubPr>
                              <m:ctrlP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sSub>
                            <m:sSubPr>
                              <m:ctrlP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∘…</m:t>
                          </m:r>
                          <m:r>
                            <a:rPr lang="ru-BY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sSub>
                            <m:sSubPr>
                              <m:ctrlP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BY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ru-RU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ru-RU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ru-RU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ассоциативность</m:t>
                      </m:r>
                      <m:r>
                        <a:rPr 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ru-BY" sz="2000" dirty="0"/>
              </a:p>
            </p:txBody>
          </p:sp>
        </mc:Choice>
        <mc:Fallback>
          <p:sp>
            <p:nvSpPr>
              <p:cNvPr id="22" name="Объект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498" y="3322207"/>
                <a:ext cx="11789890" cy="432048"/>
              </a:xfrm>
              <a:prstGeom prst="rect">
                <a:avLst/>
              </a:prstGeom>
              <a:blipFill>
                <a:blip r:embed="rId3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673882" y="2254216"/>
                <a:ext cx="385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RU" i="1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3882" y="2254216"/>
                <a:ext cx="38568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ABC374D-0E15-4FC9-91ED-387570E2FFE9}"/>
                  </a:ext>
                </a:extLst>
              </p:cNvPr>
              <p:cNvSpPr txBox="1"/>
              <p:nvPr/>
            </p:nvSpPr>
            <p:spPr>
              <a:xfrm>
                <a:off x="551384" y="1307090"/>
                <a:ext cx="1080119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/>
                  <a:t>Например, покажем, что </a:t>
                </a:r>
                <a:r>
                  <a:rPr lang="ru-RU" b="1" dirty="0"/>
                  <a:t>минимум</a:t>
                </a:r>
                <a:r>
                  <a:rPr lang="ru-RU" dirty="0"/>
                  <a:t> на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nor/>
                          </m:rPr>
                          <a:rPr lang="ru-RU" b="1" dirty="0"/>
                          <m:t>минимум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{</m:t>
                        </m:r>
                        <m:r>
                          <m:rPr>
                            <m:nor/>
                          </m:rPr>
                          <a:rPr lang="ru-RU" b="1" dirty="0"/>
                          <m:t>минимум</m:t>
                        </m:r>
                        <m:r>
                          <m:rPr>
                            <m:nor/>
                          </m:rPr>
                          <a:rPr lang="ru-RU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ru-RU" dirty="0"/>
                          <m:t>на </m:t>
                        </m:r>
                        <m:d>
                          <m:dPr>
                            <m:begChr m:val="[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ru-RU" b="1" dirty="0"/>
                          <m:t>минимум</m:t>
                        </m:r>
                        <m:r>
                          <m:rPr>
                            <m:nor/>
                          </m:rPr>
                          <a:rPr lang="ru-RU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ru-RU" dirty="0"/>
                          <m:t>на </m:t>
                        </m:r>
                        <m:d>
                          <m:dPr>
                            <m:begChr m:val="[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−3,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ABC374D-0E15-4FC9-91ED-387570E2FF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84" y="1307090"/>
                <a:ext cx="10801199" cy="369332"/>
              </a:xfrm>
              <a:prstGeom prst="rect">
                <a:avLst/>
              </a:prstGeom>
              <a:blipFill>
                <a:blip r:embed="rId5"/>
                <a:stretch>
                  <a:fillRect l="-451" t="-8197" b="-24590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CB13015-69F9-4A50-91F8-FCE5A4EDECD4}"/>
                  </a:ext>
                </a:extLst>
              </p:cNvPr>
              <p:cNvSpPr txBox="1"/>
              <p:nvPr/>
            </p:nvSpPr>
            <p:spPr>
              <a:xfrm>
                <a:off x="2015193" y="2665197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CB13015-69F9-4A50-91F8-FCE5A4EDE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5193" y="2665197"/>
                <a:ext cx="32252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371D2C8-E25B-4C5B-A189-4D3A1C2B179D}"/>
                  </a:ext>
                </a:extLst>
              </p:cNvPr>
              <p:cNvSpPr txBox="1"/>
              <p:nvPr/>
            </p:nvSpPr>
            <p:spPr>
              <a:xfrm>
                <a:off x="6267073" y="2735928"/>
                <a:ext cx="4001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371D2C8-E25B-4C5B-A189-4D3A1C2B1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7073" y="2735928"/>
                <a:ext cx="400100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8DC4AC-9A05-4CE1-AC7B-013DFBBEE109}"/>
                  </a:ext>
                </a:extLst>
              </p:cNvPr>
              <p:cNvSpPr txBox="1"/>
              <p:nvPr/>
            </p:nvSpPr>
            <p:spPr>
              <a:xfrm>
                <a:off x="5604322" y="2735928"/>
                <a:ext cx="8091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8DC4AC-9A05-4CE1-AC7B-013DFBBEE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4322" y="2735928"/>
                <a:ext cx="809188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21C907F-6362-4CC0-BE29-9AA2B1394E5B}"/>
                  </a:ext>
                </a:extLst>
              </p:cNvPr>
              <p:cNvSpPr txBox="1"/>
              <p:nvPr/>
            </p:nvSpPr>
            <p:spPr>
              <a:xfrm>
                <a:off x="5636570" y="1915662"/>
                <a:ext cx="70987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21C907F-6362-4CC0-BE29-9AA2B1394E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6570" y="1915662"/>
                <a:ext cx="709873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8D26B10-019F-4404-A6A3-C0257217C06B}"/>
                  </a:ext>
                </a:extLst>
              </p:cNvPr>
              <p:cNvSpPr txBox="1"/>
              <p:nvPr/>
            </p:nvSpPr>
            <p:spPr>
              <a:xfrm>
                <a:off x="4663151" y="2735928"/>
                <a:ext cx="88330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8D26B10-019F-4404-A6A3-C0257217C0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151" y="2735928"/>
                <a:ext cx="883303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B6F5B1-A829-DE8F-D5BA-70C0937AD350}"/>
                  </a:ext>
                </a:extLst>
              </p:cNvPr>
              <p:cNvSpPr txBox="1"/>
              <p:nvPr/>
            </p:nvSpPr>
            <p:spPr>
              <a:xfrm>
                <a:off x="250443" y="5409524"/>
                <a:ext cx="60960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BY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ru-BY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sSub>
                        <m:sSubPr>
                          <m:ctrlP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ru-BY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∘…</m:t>
                      </m:r>
                      <m:sSub>
                        <m:sSubPr>
                          <m:ctrlPr>
                            <a:rPr lang="ru-BY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BY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BY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u-BY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sub>
                      </m:sSub>
                      <m:r>
                        <a:rPr lang="ru-BY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sSub>
                        <m:sSubPr>
                          <m:ctrlPr>
                            <a:rPr lang="ru-BY" sz="2000" i="1" smtClean="0">
                              <a:solidFill>
                                <a:srgbClr val="154E9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BY" sz="2000" i="1">
                              <a:solidFill>
                                <a:srgbClr val="154E9D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BY" sz="2000" i="1">
                              <a:solidFill>
                                <a:srgbClr val="154E9D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u-BY" sz="2000" i="1">
                              <a:solidFill>
                                <a:srgbClr val="154E9D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sSub>
                        <m:sSubPr>
                          <m:ctrlPr>
                            <a:rPr lang="ru-BY" sz="20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BY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ru-BY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BY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u-BY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ru-BY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sSub>
                        <m:sSubPr>
                          <m:ctrlP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BY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∘…∘</m:t>
                      </m:r>
                      <m:sSub>
                        <m:sSubPr>
                          <m:ctrlP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BY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ru-BY" sz="2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B6F5B1-A829-DE8F-D5BA-70C0937AD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443" y="5409524"/>
                <a:ext cx="6096000" cy="400110"/>
              </a:xfrm>
              <a:prstGeom prst="rect">
                <a:avLst/>
              </a:prstGeom>
              <a:blipFill>
                <a:blip r:embed="rId11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A6A4E4-4A83-A463-5E39-4A0A1BD4FE6A}"/>
                  </a:ext>
                </a:extLst>
              </p:cNvPr>
              <p:cNvSpPr txBox="1"/>
              <p:nvPr/>
            </p:nvSpPr>
            <p:spPr>
              <a:xfrm>
                <a:off x="250443" y="3783028"/>
                <a:ext cx="1094521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BY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∘…∘</m:t>
                    </m:r>
                    <m:sSub>
                      <m:sSub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</m:sub>
                    </m:sSub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</m:sub>
                    </m:sSub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∘…∘</m:t>
                    </m:r>
                    <m:sSub>
                      <m:sSub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ru-RU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коммутативность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ru-BY" sz="2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A6A4E4-4A83-A463-5E39-4A0A1BD4F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443" y="3783028"/>
                <a:ext cx="10945216" cy="400110"/>
              </a:xfrm>
              <a:prstGeom prst="rect">
                <a:avLst/>
              </a:prstGeom>
              <a:blipFill>
                <a:blip r:embed="rId12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66A2D92-C8BE-CF64-5F3F-36A4FDE839DC}"/>
                  </a:ext>
                </a:extLst>
              </p:cNvPr>
              <p:cNvSpPr txBox="1"/>
              <p:nvPr/>
            </p:nvSpPr>
            <p:spPr>
              <a:xfrm>
                <a:off x="250443" y="4166774"/>
                <a:ext cx="1092723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BY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∘…∘</m:t>
                    </m:r>
                    <m:sSub>
                      <m:sSubPr>
                        <m:ctrlPr>
                          <a:rPr lang="ru-BY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ru-BY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ru-BY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BY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ru-BY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ru-BY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ru-BY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ru-BY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BY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ru-BY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ru-BY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ru-BY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BY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ru-BY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ru-BY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ru-BY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ru-BY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BY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ru-BY" sz="2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ru-BY" sz="2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ru-BY" sz="2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BY" sz="2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ru-BY" sz="20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ru-BY" sz="2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ru-BY" sz="2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ru-BY" sz="2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BY" sz="2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∘…∘</m:t>
                    </m:r>
                    <m:sSub>
                      <m:sSub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ru-RU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ассоциативность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ru-BY" sz="20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66A2D92-C8BE-CF64-5F3F-36A4FDE83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443" y="4166774"/>
                <a:ext cx="10927231" cy="400110"/>
              </a:xfrm>
              <a:prstGeom prst="rect">
                <a:avLst/>
              </a:prstGeom>
              <a:blipFill>
                <a:blip r:embed="rId13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449F598-A10B-807F-D052-77CDC813C070}"/>
              </a:ext>
            </a:extLst>
          </p:cNvPr>
          <p:cNvSpPr/>
          <p:nvPr/>
        </p:nvSpPr>
        <p:spPr>
          <a:xfrm>
            <a:off x="2134962" y="4247284"/>
            <a:ext cx="1338230" cy="3444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3831074-BBA9-88E1-CAF1-698DF35A7471}"/>
              </a:ext>
            </a:extLst>
          </p:cNvPr>
          <p:cNvSpPr/>
          <p:nvPr/>
        </p:nvSpPr>
        <p:spPr>
          <a:xfrm>
            <a:off x="3664521" y="4197552"/>
            <a:ext cx="1338230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7F62D1B-672E-77A0-0DD9-E5198EABC2DD}"/>
              </a:ext>
            </a:extLst>
          </p:cNvPr>
          <p:cNvSpPr/>
          <p:nvPr/>
        </p:nvSpPr>
        <p:spPr>
          <a:xfrm>
            <a:off x="5128893" y="4182163"/>
            <a:ext cx="1338230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>
              <a:ln>
                <a:solidFill>
                  <a:srgbClr val="FF0000"/>
                </a:solidFill>
              </a:ln>
              <a:noFill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72DB2F5-A78E-14EA-F0D6-C4E1582B0D97}"/>
                  </a:ext>
                </a:extLst>
              </p:cNvPr>
              <p:cNvSpPr txBox="1"/>
              <p:nvPr/>
            </p:nvSpPr>
            <p:spPr>
              <a:xfrm>
                <a:off x="250443" y="4763271"/>
                <a:ext cx="112479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BY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∘…∘</m:t>
                    </m:r>
                    <m:d>
                      <m:d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BY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BY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ru-BY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ru-BY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ru-BY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ru-BY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sSub>
                          <m:sSubPr>
                            <m:ctrlPr>
                              <a:rPr lang="ru-BY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BY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ru-BY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ru-BY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ru-BY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d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d>
                      <m:d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BY" sz="2000" b="1" i="1" smtClean="0">
                                <a:solidFill>
                                  <a:srgbClr val="154E9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BY" sz="2000" b="1" i="1">
                                <a:solidFill>
                                  <a:srgbClr val="154E9D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ru-BY" sz="2000" b="1" i="1">
                                <a:solidFill>
                                  <a:srgbClr val="154E9D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ru-BY" sz="2000" b="1" i="1">
                                <a:solidFill>
                                  <a:srgbClr val="154E9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ru-BY" sz="2000" b="1" i="1">
                                <a:solidFill>
                                  <a:srgbClr val="154E9D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ru-BY" sz="2000" b="1" i="1">
                            <a:solidFill>
                              <a:srgbClr val="154E9D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sSub>
                          <m:sSubPr>
                            <m:ctrlPr>
                              <a:rPr lang="ru-BY" sz="2000" b="1" i="1">
                                <a:solidFill>
                                  <a:srgbClr val="154E9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BY" sz="2000" b="1" i="1">
                                <a:solidFill>
                                  <a:srgbClr val="154E9D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ru-BY" sz="2000" b="1" i="1">
                                <a:solidFill>
                                  <a:srgbClr val="154E9D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ru-BY" sz="2000" b="1" i="1">
                                <a:solidFill>
                                  <a:srgbClr val="154E9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ru-BY" sz="2000" b="1" i="1">
                                <a:solidFill>
                                  <a:srgbClr val="154E9D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d>
                      <m:d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BY" sz="2000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BY" sz="20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ru-BY" sz="20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ru-BY" sz="20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ru-BY" sz="20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ru-BY" sz="2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sSub>
                          <m:sSubPr>
                            <m:ctrlPr>
                              <a:rPr lang="ru-BY" sz="20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BY" sz="20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ru-BY" sz="20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ru-BY" sz="20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ru-BY" sz="20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ru-BY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∘…∘</m:t>
                    </m:r>
                    <m:sSub>
                      <m:sSubPr>
                        <m:ctrlP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BY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ru-RU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идемпотентность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ru-BY" sz="20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72DB2F5-A78E-14EA-F0D6-C4E1582B0D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443" y="4763271"/>
                <a:ext cx="11247952" cy="400110"/>
              </a:xfrm>
              <a:prstGeom prst="rect">
                <a:avLst/>
              </a:prstGeom>
              <a:blipFill>
                <a:blip r:embed="rId1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5424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7" grpId="0"/>
      <p:bldP spid="13" grpId="0"/>
      <p:bldP spid="15" grpId="0"/>
      <p:bldP spid="3" grpId="0" animBg="1"/>
      <p:bldP spid="4" grpId="0" animBg="1"/>
      <p:bldP spid="5" grpId="0" animBg="1"/>
      <p:bldP spid="1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27848" y="251472"/>
            <a:ext cx="7022571" cy="954360"/>
          </a:xfrm>
        </p:spPr>
        <p:txBody>
          <a:bodyPr>
            <a:normAutofit/>
          </a:bodyPr>
          <a:lstStyle/>
          <a:p>
            <a:r>
              <a:rPr lang="ru-RU" dirty="0"/>
              <a:t>Пример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Таблица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800758"/>
                  </p:ext>
                </p:extLst>
              </p:nvPr>
            </p:nvGraphicFramePr>
            <p:xfrm>
              <a:off x="335361" y="1540272"/>
              <a:ext cx="7992891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8809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8809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8809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8809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88809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88809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888099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888099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888099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</a:tblGrid>
                  <a:tr h="231757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       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a14:m>
                          <a:endParaRPr lang="ru-R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31757">
                    <a:tc>
                      <a:txBody>
                        <a:bodyPr/>
                        <a:lstStyle/>
                        <a:p>
                          <a:endParaRPr lang="ru-R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Таблица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800758"/>
                  </p:ext>
                </p:extLst>
              </p:nvPr>
            </p:nvGraphicFramePr>
            <p:xfrm>
              <a:off x="335361" y="1540272"/>
              <a:ext cx="7992891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8809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8809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8809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8809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88809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88809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888099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888099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888099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ru-BY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639" r="-800000" b="-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ru-R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ru-RU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25" name="Таблица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248327"/>
              </p:ext>
            </p:extLst>
          </p:nvPr>
        </p:nvGraphicFramePr>
        <p:xfrm>
          <a:off x="335161" y="2132856"/>
          <a:ext cx="799308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19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81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81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81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81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81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812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812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57644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 (=2</a:t>
                      </a:r>
                      <a:r>
                        <a:rPr lang="en-US" sz="1200" b="0" baseline="300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ru-RU" sz="1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644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 (=2</a:t>
                      </a:r>
                      <a:r>
                        <a:rPr lang="en-US" sz="1200" b="0" baseline="30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ru-RU" sz="1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744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 (=2</a:t>
                      </a:r>
                      <a:r>
                        <a:rPr lang="en-US" sz="1200" b="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ru-RU" sz="1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644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 (=2</a:t>
                      </a:r>
                      <a:r>
                        <a:rPr lang="en-US" sz="1200" b="0" baseline="30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ru-RU" sz="1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74760" y="1205832"/>
                <a:ext cx="164019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smtClean="0">
                          <a:latin typeface="Cambria Math" panose="02040503050406030204" pitchFamily="18" charset="0"/>
                        </a:rPr>
                        <m:t>𝐅𝐢𝐧𝐝𝐌𝐢𝐧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60" y="1205832"/>
                <a:ext cx="1640193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189019" y="3849859"/>
                <a:ext cx="873816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⁡{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6−1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}=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019" y="3849859"/>
                <a:ext cx="8738161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Прямоугольник 12"/>
              <p:cNvSpPr/>
              <p:nvPr/>
            </p:nvSpPr>
            <p:spPr>
              <a:xfrm>
                <a:off x="295266" y="5520219"/>
                <a:ext cx="8566063" cy="4130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smtClean="0">
                        <a:latin typeface="Cambria Math" panose="02040503050406030204" pitchFamily="18" charset="0"/>
                      </a:rPr>
                      <m:t>𝐅𝐢𝐧𝐝𝐌𝐢𝐧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1,6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i="1" dirty="0"/>
                  <a:t>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2,   1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2,   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i="1" dirty="0"/>
                  <a:t>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=1</a:t>
                </a:r>
                <a:endParaRPr lang="ru-RU" dirty="0"/>
              </a:p>
            </p:txBody>
          </p:sp>
        </mc:Choice>
        <mc:Fallback xmlns="">
          <p:sp>
            <p:nvSpPr>
              <p:cNvPr id="13" name="Прямоугольник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266" y="5520219"/>
                <a:ext cx="8566063" cy="413062"/>
              </a:xfrm>
              <a:prstGeom prst="rect">
                <a:avLst/>
              </a:prstGeom>
              <a:blipFill>
                <a:blip r:embed="rId13"/>
                <a:stretch>
                  <a:fillRect t="-2985" b="-19403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9" name="Таблица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862889"/>
              </p:ext>
            </p:extLst>
          </p:nvPr>
        </p:nvGraphicFramePr>
        <p:xfrm>
          <a:off x="727057" y="4647812"/>
          <a:ext cx="8127999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      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40"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Правая фигурная скобка 14"/>
          <p:cNvSpPr/>
          <p:nvPr/>
        </p:nvSpPr>
        <p:spPr>
          <a:xfrm rot="5400000">
            <a:off x="4125174" y="3409414"/>
            <a:ext cx="413061" cy="36004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авая фигурная скобка 29"/>
          <p:cNvSpPr/>
          <p:nvPr/>
        </p:nvSpPr>
        <p:spPr>
          <a:xfrm rot="16200000">
            <a:off x="5042982" y="2658686"/>
            <a:ext cx="377849" cy="3600401"/>
          </a:xfrm>
          <a:prstGeom prst="rightBrace">
            <a:avLst>
              <a:gd name="adj1" fmla="val 8333"/>
              <a:gd name="adj2" fmla="val 50498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2D3B305-95A0-476B-ADC2-DCA81748319D}"/>
                  </a:ext>
                </a:extLst>
              </p:cNvPr>
              <p:cNvSpPr txBox="1"/>
              <p:nvPr/>
            </p:nvSpPr>
            <p:spPr>
              <a:xfrm>
                <a:off x="8925988" y="2204059"/>
                <a:ext cx="3230151" cy="3865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2D3B305-95A0-476B-ADC2-DCA817483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5988" y="2204059"/>
                <a:ext cx="3230151" cy="386581"/>
              </a:xfrm>
              <a:prstGeom prst="rect">
                <a:avLst/>
              </a:prstGeom>
              <a:blipFill>
                <a:blip r:embed="rId14"/>
                <a:stretch>
                  <a:fillRect r="-377" b="-1269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Правая фигурная скобка 10">
            <a:extLst>
              <a:ext uri="{FF2B5EF4-FFF2-40B4-BE49-F238E27FC236}">
                <a16:creationId xmlns:a16="http://schemas.microsoft.com/office/drawing/2014/main" id="{75824FDC-5AF4-4A26-8F20-C07BA76A80A3}"/>
              </a:ext>
            </a:extLst>
          </p:cNvPr>
          <p:cNvSpPr/>
          <p:nvPr/>
        </p:nvSpPr>
        <p:spPr>
          <a:xfrm rot="16200000">
            <a:off x="4214823" y="-799749"/>
            <a:ext cx="247189" cy="440571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1E4E81-931E-4604-91B4-2263D5A851E2}"/>
              </a:ext>
            </a:extLst>
          </p:cNvPr>
          <p:cNvSpPr txBox="1"/>
          <p:nvPr/>
        </p:nvSpPr>
        <p:spPr>
          <a:xfrm>
            <a:off x="2150658" y="2876159"/>
            <a:ext cx="272934" cy="369332"/>
          </a:xfrm>
          <a:prstGeom prst="rect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</a:t>
            </a:r>
            <a:endParaRPr lang="ru-BY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2E257E-D51A-46C3-8231-6797EA3F02E3}"/>
              </a:ext>
            </a:extLst>
          </p:cNvPr>
          <p:cNvSpPr txBox="1"/>
          <p:nvPr/>
        </p:nvSpPr>
        <p:spPr>
          <a:xfrm>
            <a:off x="3071664" y="2856943"/>
            <a:ext cx="301686" cy="369332"/>
          </a:xfrm>
          <a:prstGeom prst="rect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</a:t>
            </a:r>
            <a:endParaRPr lang="ru-BY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0045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5" grpId="0" animBg="1"/>
      <p:bldP spid="30" grpId="0" animBg="1"/>
      <p:bldP spid="17" grpId="0"/>
      <p:bldP spid="4" grpId="0" animBg="1"/>
      <p:bldP spid="1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Упражнение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ru-RU" dirty="0"/>
                  <a:t>Дано целое число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).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ru-RU" dirty="0"/>
                  <a:t>Найти </a:t>
                </a:r>
                <a:r>
                  <a:rPr lang="ru-RU" b="1" dirty="0"/>
                  <a:t>наибольшее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b="1" dirty="0"/>
                  <a:t> </a:t>
                </a:r>
                <a:r>
                  <a:rPr lang="ru-RU" b="1" dirty="0"/>
                  <a:t>такое,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ru-RU" dirty="0"/>
                  <a:t>, за константное время</a:t>
                </a:r>
                <a:r>
                  <a:rPr lang="en-US" dirty="0"/>
                  <a:t> (</a:t>
                </a:r>
                <a:r>
                  <a:rPr lang="ru-RU" dirty="0"/>
                  <a:t>для этого можно сделать </a:t>
                </a:r>
                <a:r>
                  <a:rPr lang="ru-RU" dirty="0" err="1"/>
                  <a:t>предподсчёт</a:t>
                </a:r>
                <a:r>
                  <a:rPr lang="ru-RU" dirty="0"/>
                  <a:t>).</a:t>
                </a:r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  <a:p>
                <a:r>
                  <a:rPr lang="ru-RU" dirty="0"/>
                  <a:t>Подходы</a:t>
                </a:r>
              </a:p>
              <a:p>
                <a:pPr lvl="1"/>
                <a:r>
                  <a:rPr lang="ru-RU" dirty="0"/>
                  <a:t>Формула</a:t>
                </a:r>
              </a:p>
              <a:p>
                <a:pPr lvl="1"/>
                <a:r>
                  <a:rPr lang="ru-RU" dirty="0"/>
                  <a:t>Динамическое программирование</a:t>
                </a:r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999" t="-1348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295054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Таблица 5">
            <a:extLst>
              <a:ext uri="{FF2B5EF4-FFF2-40B4-BE49-F238E27FC236}">
                <a16:creationId xmlns:a16="http://schemas.microsoft.com/office/drawing/2014/main" id="{84EE6FB6-ACFF-4AAA-B037-EE10D0D141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8183163"/>
              </p:ext>
            </p:extLst>
          </p:nvPr>
        </p:nvGraphicFramePr>
        <p:xfrm>
          <a:off x="336306" y="1820058"/>
          <a:ext cx="11736352" cy="941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761">
                  <a:extLst>
                    <a:ext uri="{9D8B030D-6E8A-4147-A177-3AD203B41FA5}">
                      <a16:colId xmlns:a16="http://schemas.microsoft.com/office/drawing/2014/main" val="3549571864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35068117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4150670927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2682428257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1917142618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554475852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1035468405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515178017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1511791145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1142625487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109619193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3486428177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3413299279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4157974817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2301684908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1065606901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3721125703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2975902392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2347479315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2607618108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3653324547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4283477693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2072497813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160081728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2167043487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4145152741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1830543562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2763657919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3952788936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1990842581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39088915"/>
                    </a:ext>
                  </a:extLst>
                </a:gridCol>
                <a:gridCol w="366761">
                  <a:extLst>
                    <a:ext uri="{9D8B030D-6E8A-4147-A177-3AD203B41FA5}">
                      <a16:colId xmlns:a16="http://schemas.microsoft.com/office/drawing/2014/main" val="1009808440"/>
                    </a:ext>
                  </a:extLst>
                </a:gridCol>
              </a:tblGrid>
              <a:tr h="456814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31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ru-BY" sz="14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060282"/>
                  </a:ext>
                </a:extLst>
              </a:tr>
              <a:tr h="484833">
                <a:tc>
                  <a:txBody>
                    <a:bodyPr/>
                    <a:lstStyle/>
                    <a:p>
                      <a:endParaRPr lang="ru-BY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BY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BY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BY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BY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BY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BY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BY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BY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BY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BY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BY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BY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BY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BY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BY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20222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F2D776-FA8F-40D1-A8DA-7B43305999B0}"/>
                  </a:ext>
                </a:extLst>
              </p:cNvPr>
              <p:cNvSpPr txBox="1"/>
              <p:nvPr/>
            </p:nvSpPr>
            <p:spPr>
              <a:xfrm>
                <a:off x="0" y="1786007"/>
                <a:ext cx="3116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F2D776-FA8F-40D1-A8DA-7B4330599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86007"/>
                <a:ext cx="31169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8E5B90B-D658-426A-850B-B77B7D52364A}"/>
                  </a:ext>
                </a:extLst>
              </p:cNvPr>
              <p:cNvSpPr txBox="1"/>
              <p:nvPr/>
            </p:nvSpPr>
            <p:spPr>
              <a:xfrm>
                <a:off x="0" y="2132751"/>
                <a:ext cx="3116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8E5B90B-D658-426A-850B-B77B7D523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132751"/>
                <a:ext cx="311696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2C1C10-369E-4C17-9F80-A9E205E35192}"/>
                  </a:ext>
                </a:extLst>
              </p:cNvPr>
              <p:cNvSpPr txBox="1"/>
              <p:nvPr/>
            </p:nvSpPr>
            <p:spPr>
              <a:xfrm>
                <a:off x="-12621" y="4148107"/>
                <a:ext cx="3116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2C1C10-369E-4C17-9F80-A9E205E35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621" y="4148107"/>
                <a:ext cx="31169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2E41F62-CA91-4D4A-AC15-3E024DB29847}"/>
                  </a:ext>
                </a:extLst>
              </p:cNvPr>
              <p:cNvSpPr txBox="1"/>
              <p:nvPr/>
            </p:nvSpPr>
            <p:spPr>
              <a:xfrm>
                <a:off x="-6311" y="4503985"/>
                <a:ext cx="3116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2E41F62-CA91-4D4A-AC15-3E024DB29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311" y="4503985"/>
                <a:ext cx="311696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Таблица 5">
            <a:extLst>
              <a:ext uri="{FF2B5EF4-FFF2-40B4-BE49-F238E27FC236}">
                <a16:creationId xmlns:a16="http://schemas.microsoft.com/office/drawing/2014/main" id="{C7783948-8365-4E3F-9841-9D74D45AC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503979"/>
              </p:ext>
            </p:extLst>
          </p:nvPr>
        </p:nvGraphicFramePr>
        <p:xfrm>
          <a:off x="263344" y="4213966"/>
          <a:ext cx="11665312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541">
                  <a:extLst>
                    <a:ext uri="{9D8B030D-6E8A-4147-A177-3AD203B41FA5}">
                      <a16:colId xmlns:a16="http://schemas.microsoft.com/office/drawing/2014/main" val="3549571864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35068117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4150670927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2682428257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1917142618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554475852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1035468405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515178017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1511791145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1142625487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109619193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3486428177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3413299279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4157974817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2301684908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1065606901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3721125703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2975902392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2347479315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2607618108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3653324547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4283477693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2072497813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160081728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2167043487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4145152741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1830543562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2763657919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3952788936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1990842581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39088915"/>
                    </a:ext>
                  </a:extLst>
                </a:gridCol>
                <a:gridCol w="364541">
                  <a:extLst>
                    <a:ext uri="{9D8B030D-6E8A-4147-A177-3AD203B41FA5}">
                      <a16:colId xmlns:a16="http://schemas.microsoft.com/office/drawing/2014/main" val="1009808440"/>
                    </a:ext>
                  </a:extLst>
                </a:gridCol>
              </a:tblGrid>
              <a:tr h="271539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31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ru-BY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060282"/>
                  </a:ext>
                </a:extLst>
              </a:tr>
              <a:tr h="34543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BY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ru-BY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ru-BY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BY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ru-BY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ru-BY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ru-BY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BY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ru-BY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  <a:endParaRPr kumimoji="0" lang="ru-B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BY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022208"/>
                  </a:ext>
                </a:extLst>
              </a:tr>
            </a:tbl>
          </a:graphicData>
        </a:graphic>
      </p:graphicFrame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500F4D50-7A69-E280-1735-BC24AAC01A94}"/>
              </a:ext>
            </a:extLst>
          </p:cNvPr>
          <p:cNvCxnSpPr/>
          <p:nvPr/>
        </p:nvCxnSpPr>
        <p:spPr>
          <a:xfrm>
            <a:off x="767424" y="5071124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5C0876A3-16BE-4A6E-CFDE-6F38EEEAF66A}"/>
              </a:ext>
            </a:extLst>
          </p:cNvPr>
          <p:cNvCxnSpPr>
            <a:cxnSpLocks/>
          </p:cNvCxnSpPr>
          <p:nvPr/>
        </p:nvCxnSpPr>
        <p:spPr>
          <a:xfrm>
            <a:off x="1487504" y="5055738"/>
            <a:ext cx="10801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4AF7D01E-FAB5-BC90-505D-02F407845840}"/>
              </a:ext>
            </a:extLst>
          </p:cNvPr>
          <p:cNvCxnSpPr/>
          <p:nvPr/>
        </p:nvCxnSpPr>
        <p:spPr>
          <a:xfrm>
            <a:off x="2999672" y="5055738"/>
            <a:ext cx="25922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32470047-B0D8-8FE6-B483-0AD0C81E35A0}"/>
              </a:ext>
            </a:extLst>
          </p:cNvPr>
          <p:cNvCxnSpPr>
            <a:cxnSpLocks/>
          </p:cNvCxnSpPr>
          <p:nvPr/>
        </p:nvCxnSpPr>
        <p:spPr>
          <a:xfrm flipV="1">
            <a:off x="5879992" y="5055738"/>
            <a:ext cx="5472608" cy="15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E3A23B0-1D80-7530-A50D-0FE2D2B7EE0D}"/>
                  </a:ext>
                </a:extLst>
              </p:cNvPr>
              <p:cNvSpPr txBox="1"/>
              <p:nvPr/>
            </p:nvSpPr>
            <p:spPr>
              <a:xfrm>
                <a:off x="52443" y="1373477"/>
                <a:ext cx="1714671" cy="3851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BY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nor/>
                            </m:rPr>
                            <a:rPr lang="ru-BY" sz="2400" dirty="0"/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ru-BY" sz="24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E3A23B0-1D80-7530-A50D-0FE2D2B7E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43" y="1373477"/>
                <a:ext cx="1714671" cy="385105"/>
              </a:xfrm>
              <a:prstGeom prst="rect">
                <a:avLst/>
              </a:prstGeom>
              <a:blipFill>
                <a:blip r:embed="rId6"/>
                <a:stretch>
                  <a:fillRect t="-4762" b="-7937"/>
                </a:stretch>
              </a:blipFill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AAD10256-D12D-D48A-BB54-98966F0CF13D}"/>
              </a:ext>
            </a:extLst>
          </p:cNvPr>
          <p:cNvSpPr txBox="1"/>
          <p:nvPr/>
        </p:nvSpPr>
        <p:spPr>
          <a:xfrm>
            <a:off x="1426642" y="2387926"/>
            <a:ext cx="288033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E482FC-B53C-A94F-C969-C2CBE42C45E3}"/>
              </a:ext>
            </a:extLst>
          </p:cNvPr>
          <p:cNvSpPr txBox="1"/>
          <p:nvPr/>
        </p:nvSpPr>
        <p:spPr>
          <a:xfrm>
            <a:off x="337653" y="2392373"/>
            <a:ext cx="288033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D3D17C-44F6-261A-8013-BC7C695BB05E}"/>
              </a:ext>
            </a:extLst>
          </p:cNvPr>
          <p:cNvSpPr txBox="1"/>
          <p:nvPr/>
        </p:nvSpPr>
        <p:spPr>
          <a:xfrm>
            <a:off x="695415" y="2386439"/>
            <a:ext cx="288033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590BF6-34AB-2CA3-D924-CD6E4BEEE02E}"/>
              </a:ext>
            </a:extLst>
          </p:cNvPr>
          <p:cNvSpPr txBox="1"/>
          <p:nvPr/>
        </p:nvSpPr>
        <p:spPr>
          <a:xfrm>
            <a:off x="2904973" y="2386439"/>
            <a:ext cx="288033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CA6B3-DA9B-A6E0-40E9-8B6587947456}"/>
              </a:ext>
            </a:extLst>
          </p:cNvPr>
          <p:cNvSpPr txBox="1"/>
          <p:nvPr/>
        </p:nvSpPr>
        <p:spPr>
          <a:xfrm>
            <a:off x="5835642" y="2386439"/>
            <a:ext cx="288033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AAD379-0012-AE11-0148-54A628794CF6}"/>
              </a:ext>
            </a:extLst>
          </p:cNvPr>
          <p:cNvSpPr txBox="1"/>
          <p:nvPr/>
        </p:nvSpPr>
        <p:spPr>
          <a:xfrm>
            <a:off x="11710330" y="2386439"/>
            <a:ext cx="288033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18802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2" grpId="0" animBg="1"/>
      <p:bldP spid="3" grpId="0" animBg="1"/>
      <p:bldP spid="5" grpId="0" animBg="1"/>
      <p:bldP spid="13" grpId="0" animBg="1"/>
      <p:bldP spid="15" grpId="0" animBg="1"/>
      <p:bldP spid="17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Упражнение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ru-RU" dirty="0"/>
                  <a:t>Задана полоска из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клеток, клетки, некоторые клетки покрашены в чёрный цвет, остальные в белый</a:t>
                </a:r>
                <a:endParaRPr lang="en-US" dirty="0"/>
              </a:p>
              <a:p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Нужно уметь выполнять две операции: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Invert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—</a:t>
                </a:r>
                <a:r>
                  <a:rPr lang="ru-RU" dirty="0"/>
                  <a:t> на интервале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изменить цвет</a:t>
                </a:r>
                <a:r>
                  <a:rPr lang="en-US" dirty="0"/>
                  <a:t> </a:t>
                </a:r>
                <a:r>
                  <a:rPr lang="ru-RU" dirty="0"/>
                  <a:t>на противоположный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GetColor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dirty="0"/>
                  <a:t> — </a:t>
                </a:r>
                <a:r>
                  <a:rPr lang="ru-RU" dirty="0"/>
                  <a:t>получить цвет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-</a:t>
                </a:r>
                <a:r>
                  <a:rPr lang="ru-RU" dirty="0"/>
                  <a:t>й клетки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0">
                <a:blip r:embed="rId2"/>
                <a:stretch>
                  <a:fillRect l="-999" t="-1348" r="-8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92870"/>
              </p:ext>
            </p:extLst>
          </p:nvPr>
        </p:nvGraphicFramePr>
        <p:xfrm>
          <a:off x="2013755" y="2852936"/>
          <a:ext cx="8128000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37096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Общие задачи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271464" y="2761129"/>
            <a:ext cx="10369152" cy="7848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44E9D"/>
                </a:solidFill>
                <a:effectLst/>
                <a:latin typeface="SFMono-Regular"/>
                <a:hlinkClick r:id="rId2"/>
              </a:rPr>
              <a:t>0.2 Задача о сумме (реализация структур для интервальных запросов - сумма на отрезке)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72011" y="1916832"/>
            <a:ext cx="18229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/>
              <a:t>iRunner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62036976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971764" y="2791907"/>
            <a:ext cx="6660740" cy="7232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4400" dirty="0">
                <a:solidFill>
                  <a:srgbClr val="144E9D"/>
                </a:solidFill>
                <a:latin typeface="SFMono-Regular"/>
              </a:rPr>
              <a:t>Спасибо за внимание!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105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14755</TotalTime>
  <Words>5762</Words>
  <Application>Microsoft Office PowerPoint</Application>
  <PresentationFormat>Широкоэкранный</PresentationFormat>
  <Paragraphs>2187</Paragraphs>
  <Slides>63</Slides>
  <Notes>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63</vt:i4>
      </vt:variant>
    </vt:vector>
  </HeadingPairs>
  <TitlesOfParts>
    <vt:vector size="71" baseType="lpstr">
      <vt:lpstr>Arial</vt:lpstr>
      <vt:lpstr>Calibri</vt:lpstr>
      <vt:lpstr>Cambria Math</vt:lpstr>
      <vt:lpstr>Consolas</vt:lpstr>
      <vt:lpstr>SFMono-Regular</vt:lpstr>
      <vt:lpstr>Wingdings</vt:lpstr>
      <vt:lpstr>Тема Office</vt:lpstr>
      <vt:lpstr>Equation</vt:lpstr>
      <vt:lpstr>Структуры данных для выполнения интервальных запросов</vt:lpstr>
      <vt:lpstr>Постановка задачи</vt:lpstr>
      <vt:lpstr>Терминология</vt:lpstr>
      <vt:lpstr>Классификация задач</vt:lpstr>
      <vt:lpstr>Классификация задач</vt:lpstr>
      <vt:lpstr>Постановка задачи</vt:lpstr>
      <vt:lpstr>Постановка задачи</vt:lpstr>
      <vt:lpstr>Задача RSQ</vt:lpstr>
      <vt:lpstr>Задача RSQ. Обычный массив</vt:lpstr>
      <vt:lpstr>Задача RSQ. Префиксные суммы</vt:lpstr>
      <vt:lpstr>Задача RSQ.  Префиксные суммы</vt:lpstr>
      <vt:lpstr>Задача RSQ. Префиксные суммы</vt:lpstr>
      <vt:lpstr>Задача RSQ. Префиксные суммы</vt:lpstr>
      <vt:lpstr>Оценки</vt:lpstr>
      <vt:lpstr>Промежуточный вариант</vt:lpstr>
      <vt:lpstr>RSQ. Блоки</vt:lpstr>
      <vt:lpstr>RSQ. Блоки</vt:lpstr>
      <vt:lpstr>Выполнение операций</vt:lpstr>
      <vt:lpstr>Выполнение операций</vt:lpstr>
      <vt:lpstr>Выполнение операций</vt:lpstr>
      <vt:lpstr>Выполнение операций</vt:lpstr>
      <vt:lpstr>Оптимальный размер блока</vt:lpstr>
      <vt:lpstr>Пример реализации</vt:lpstr>
      <vt:lpstr>Оценки</vt:lpstr>
      <vt:lpstr>Дерево отрезков</vt:lpstr>
      <vt:lpstr>Пример дерева отрезков для задачи RSQ</vt:lpstr>
      <vt:lpstr>Дерево отрезков. Число вершин</vt:lpstr>
      <vt:lpstr>Дерево отрезков. Хранение</vt:lpstr>
      <vt:lpstr>Дерево отрезков. Хранение</vt:lpstr>
      <vt:lpstr>Дерево отрезков. Хранение</vt:lpstr>
      <vt:lpstr>Дерево отрезков. Хранение</vt:lpstr>
      <vt:lpstr>Дерево отрезков. Построение</vt:lpstr>
      <vt:lpstr>Дерево отрезков. Построение</vt:lpstr>
      <vt:lpstr>Дерево отрезков. Модификация</vt:lpstr>
      <vt:lpstr>Дерево отрезков. Модификация</vt:lpstr>
      <vt:lpstr>Дерево отрезков. Сумма</vt:lpstr>
      <vt:lpstr>Дерево отрезков.  Сумма. Пример</vt:lpstr>
      <vt:lpstr>Оценка времени работы</vt:lpstr>
      <vt:lpstr>Оценка времени работы</vt:lpstr>
      <vt:lpstr>Доработки</vt:lpstr>
      <vt:lpstr>Оценка времени работы</vt:lpstr>
      <vt:lpstr>Оценки</vt:lpstr>
      <vt:lpstr>Статическая задача RMQ</vt:lpstr>
      <vt:lpstr>Статическая задача RMQ</vt:lpstr>
      <vt:lpstr>Статическая задача RMQ</vt:lpstr>
      <vt:lpstr>Презентация PowerPoint</vt:lpstr>
      <vt:lpstr>Презентация PowerPoint</vt:lpstr>
      <vt:lpstr>Статическая задача RMQ</vt:lpstr>
      <vt:lpstr>Разрежённая таблица</vt:lpstr>
      <vt:lpstr>Разрежённая таблица</vt:lpstr>
      <vt:lpstr>Sparse table. Пример</vt:lpstr>
      <vt:lpstr>Разрежённая таблица</vt:lpstr>
      <vt:lpstr>Ответ на запрос</vt:lpstr>
      <vt:lpstr>Презентация PowerPoint</vt:lpstr>
      <vt:lpstr>Ответ на запрос</vt:lpstr>
      <vt:lpstr>Свойства бинарного отношения минимума </vt:lpstr>
      <vt:lpstr>Свойства бинарного отношения минимума </vt:lpstr>
      <vt:lpstr>Пример</vt:lpstr>
      <vt:lpstr>Упражнение 1</vt:lpstr>
      <vt:lpstr>Презентация PowerPoint</vt:lpstr>
      <vt:lpstr>Упражнение 2</vt:lpstr>
      <vt:lpstr>Общие задачи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</dc:creator>
  <cp:lastModifiedBy>Victor Demianov</cp:lastModifiedBy>
  <cp:revision>610</cp:revision>
  <dcterms:created xsi:type="dcterms:W3CDTF">2015-06-29T09:09:44Z</dcterms:created>
  <dcterms:modified xsi:type="dcterms:W3CDTF">2024-03-17T13:43:06Z</dcterms:modified>
</cp:coreProperties>
</file>